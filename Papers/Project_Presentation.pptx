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407" autoAdjust="0"/>
  </p:normalViewPr>
  <p:slideViewPr>
    <p:cSldViewPr snapToGrid="0">
      <p:cViewPr varScale="1">
        <p:scale>
          <a:sx n="101" d="100"/>
          <a:sy n="101" d="100"/>
        </p:scale>
        <p:origin x="954" y="108"/>
      </p:cViewPr>
      <p:guideLst/>
    </p:cSldViewPr>
  </p:slideViewPr>
  <p:notesTextViewPr>
    <p:cViewPr>
      <p:scale>
        <a:sx n="1" d="1"/>
        <a:sy n="1" d="1"/>
      </p:scale>
      <p:origin x="0" y="-2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Weighted prevalence</c:v>
          </c:tx>
          <c:spPr>
            <a:solidFill>
              <a:srgbClr val="0F766E"/>
            </a:solidFill>
          </c:spPr>
          <c:invertIfNegative val="1"/>
          <c:dLbls>
            <c:dLbl>
              <c:idx val="0"/>
              <c:layout/>
              <c:tx>
                <c:rich>
                  <a:bodyPr/>
                  <a:lstStyle/>
                  <a:p>
                    <a:r>
                      <a:rPr lang="en-US" sz="900" b="1">
                        <a:solidFill>
                          <a:srgbClr val="102A43"/>
                        </a:solidFill>
                        <a:latin typeface="Arial"/>
                        <a:ea typeface="Arial"/>
                        <a:cs typeface="Arial"/>
                      </a:rPr>
                      <a:t>57.2%</a:t>
                    </a:r>
                  </a:p>
                </c:rich>
              </c:tx>
              <c:spP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7E5A-4166-ABE8-1130128F86D9}"/>
                </c:ext>
              </c:extLst>
            </c:dLbl>
            <c:dLbl>
              <c:idx val="1"/>
              <c:layout/>
              <c:tx>
                <c:rich>
                  <a:bodyPr/>
                  <a:lstStyle/>
                  <a:p>
                    <a:r>
                      <a:rPr lang="en-US" sz="900" b="1">
                        <a:solidFill>
                          <a:srgbClr val="102A43"/>
                        </a:solidFill>
                        <a:latin typeface="Arial"/>
                        <a:ea typeface="Arial"/>
                        <a:cs typeface="Arial"/>
                      </a:rPr>
                      <a:t>4.0%</a:t>
                    </a:r>
                  </a:p>
                </c:rich>
              </c:tx>
              <c:spP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7E5A-4166-ABE8-1130128F86D9}"/>
                </c:ext>
              </c:extLst>
            </c:dLbl>
            <c:dLbl>
              <c:idx val="2"/>
              <c:layout/>
              <c:tx>
                <c:rich>
                  <a:bodyPr/>
                  <a:lstStyle/>
                  <a:p>
                    <a:r>
                      <a:rPr lang="en-US" sz="900" b="1">
                        <a:solidFill>
                          <a:srgbClr val="102A43"/>
                        </a:solidFill>
                        <a:latin typeface="Arial"/>
                        <a:ea typeface="Arial"/>
                        <a:cs typeface="Arial"/>
                      </a:rPr>
                      <a:t>28.7%</a:t>
                    </a:r>
                  </a:p>
                </c:rich>
              </c:tx>
              <c:spP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7E5A-4166-ABE8-1130128F86D9}"/>
                </c:ext>
              </c:extLst>
            </c:dLbl>
            <c:dLbl>
              <c:idx val="3"/>
              <c:layout/>
              <c:tx>
                <c:rich>
                  <a:bodyPr/>
                  <a:lstStyle/>
                  <a:p>
                    <a:r>
                      <a:rPr lang="en-US" sz="900" b="1">
                        <a:solidFill>
                          <a:srgbClr val="102A43"/>
                        </a:solidFill>
                        <a:latin typeface="Arial"/>
                        <a:ea typeface="Arial"/>
                        <a:cs typeface="Arial"/>
                      </a:rPr>
                      <a:t>7.9%</a:t>
                    </a:r>
                  </a:p>
                </c:rich>
              </c:tx>
              <c:spP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7E5A-4166-ABE8-1130128F86D9}"/>
                </c:ext>
              </c:extLst>
            </c:dLbl>
            <c:dLbl>
              <c:idx val="4"/>
              <c:layout/>
              <c:tx>
                <c:rich>
                  <a:bodyPr/>
                  <a:lstStyle/>
                  <a:p>
                    <a:r>
                      <a:rPr lang="en-US" sz="900" b="1">
                        <a:solidFill>
                          <a:srgbClr val="102A43"/>
                        </a:solidFill>
                        <a:latin typeface="Arial"/>
                        <a:ea typeface="Arial"/>
                        <a:cs typeface="Arial"/>
                      </a:rPr>
                      <a:t>22.4%</a:t>
                    </a:r>
                  </a:p>
                </c:rich>
              </c:tx>
              <c:spP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7E5A-4166-ABE8-1130128F86D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Data'!$A$2:$A$6</c:f>
              <c:strCache>
                <c:ptCount val="5"/>
                <c:pt idx="0">
                  <c:v>Facility</c:v>
                </c:pt>
                <c:pt idx="1">
                  <c:v>Neonatal</c:v>
                </c:pt>
                <c:pt idx="2">
                  <c:v>Stunted</c:v>
                </c:pt>
                <c:pt idx="3">
                  <c:v>Severe</c:v>
                </c:pt>
                <c:pt idx="4">
                  <c:v>Underweight</c:v>
                </c:pt>
              </c:strCache>
            </c:strRef>
          </c:cat>
          <c:val>
            <c:numRef>
              <c:f>'Chart Data'!$B$2:$B$6</c:f>
              <c:numCache>
                <c:formatCode>General</c:formatCode>
                <c:ptCount val="5"/>
                <c:pt idx="0">
                  <c:v>57.2</c:v>
                </c:pt>
                <c:pt idx="1">
                  <c:v>4</c:v>
                </c:pt>
                <c:pt idx="2">
                  <c:v>28.7</c:v>
                </c:pt>
                <c:pt idx="3">
                  <c:v>7.9</c:v>
                </c:pt>
                <c:pt idx="4">
                  <c:v>22.4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7E5A-4166-ABE8-1130128F86D9}"/>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D9E2EC"/>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825">
                <a:solidFill>
                  <a:srgbClr val="52606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E2EC"/>
            </a:solidFill>
            <a:prstDash val="solid"/>
          </a:ln>
        </c:spPr>
        <c:txPr>
          <a:bodyPr anchorCtr="1"/>
          <a:lstStyle/>
          <a:p>
            <a:pPr>
              <a:defRPr sz="900">
                <a:solidFill>
                  <a:srgbClr val="52606D"/>
                </a:solidFill>
                <a:latin typeface="Arial"/>
                <a:ea typeface="Arial"/>
                <a:cs typeface="Arial"/>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smtClean="0"/>
              <a:t>Bangladesh </a:t>
            </a:r>
            <a:r>
              <a:rPr dirty="0"/>
              <a:t>has cut maternal and child mortality sharply over three decades, but the burden that remains is neither small nor evenly shared. Four percent of live births still end in neonatal death, more than a quarter of young children are stunted, </a:t>
            </a:r>
            <a:r>
              <a:rPr lang="en-US" dirty="0" err="1" smtClean="0"/>
              <a:t>severly</a:t>
            </a:r>
            <a:r>
              <a:rPr lang="en-US" dirty="0" smtClean="0"/>
              <a:t> stunned and underweight</a:t>
            </a:r>
            <a:r>
              <a:rPr dirty="0" smtClean="0"/>
              <a:t>. </a:t>
            </a:r>
            <a:r>
              <a:rPr lang="en-US" dirty="0" smtClean="0"/>
              <a:t>To answer</a:t>
            </a:r>
            <a:r>
              <a:rPr lang="en-US" baseline="0" dirty="0" smtClean="0"/>
              <a:t> </a:t>
            </a:r>
            <a:r>
              <a:rPr dirty="0" smtClean="0"/>
              <a:t>how </a:t>
            </a:r>
            <a:r>
              <a:rPr dirty="0"/>
              <a:t>far can that information alone carry an early risk-screening </a:t>
            </a:r>
            <a:r>
              <a:rPr dirty="0" smtClean="0"/>
              <a:t>syste</a:t>
            </a:r>
            <a:r>
              <a:rPr lang="en-US" dirty="0" smtClean="0"/>
              <a:t>m,</a:t>
            </a:r>
            <a:r>
              <a:rPr dirty="0" smtClean="0"/>
              <a:t> we </a:t>
            </a:r>
            <a:r>
              <a:rPr dirty="0"/>
              <a:t>pooled the Bangladesh DHS rounds of 2017-18 and 2022 and predicted five outcomes: facility delivery, neonatal death, stunting, severe stunting and underweight</a:t>
            </a:r>
            <a:r>
              <a:rPr dirty="0" smtClean="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Farhan: Our main contribution is the full evidence chain, not a single accuracy number.</a:t>
            </a:r>
          </a:p>
          <a:p>
            <a:r>
              <a:rPr dirty="0"/>
              <a:t>Most published DHS studies stop at one outcome, one survey round and one accuracy figure, and some report near-perfect discrimination. One recent Bangladesh study reports ninety-nine point eight percent AUROC for under-five mortality. A meta-analysis of eleven DHS studies puts realistic pooled accuracy for stunting at about sixty-nine percent. That gap is what shaped our design.</a:t>
            </a:r>
          </a:p>
          <a:p>
            <a:r>
              <a:rPr dirty="0"/>
              <a:t>So, first we define the population correctly. Second, we protect the outcome from leakage. Third, we describe the population using survey design and exploratory analysis. Fourth, we benchmark the models and stress-test them with thresholds, calibration, temporal validation and subgroup analysis. Finally, we convert the separate predictions into a phased cascade.</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Farhan: We did not keep every raw cohort simply to make the project look larger. The final registry uses four cohorts. The birth cohort supports neonatal death, recent births support facility delivery, measured children support the three anthropometry outcomes, and the mother cohort supports one-row-per-woman equity and geography analysis. Pregnancy, illness and immunization cohorts were removed because their corresponding targets were no longer part of the final panel. This keeps the denominator, feature groups and evaluation aligned.</a:t>
            </a:r>
          </a:p>
          <a:p>
            <a:endParaRPr dirty="0"/>
          </a:p>
          <a:p>
            <a:r>
              <a:rPr dirty="0"/>
              <a:t>Source: notebook cells 11, 23, 27, 29 and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Farhan: This figure makes the denominator problem visible. The notebook shows all pooled records, then the birth cohort, then the recent maternity module, and finally measured children.</a:t>
            </a:r>
          </a:p>
          <a:p>
            <a:r>
              <a:t>These universes are nested, but they are not the same, and the drop is steep. A child who was never measured cannot be treated as a non-stunted child. We therefore construct each cohort using valid universe membership, and use the correct denominator for prevalence, for modelling and for evaluation.</a:t>
            </a:r>
          </a:p>
          <a:p>
            <a:endParaRPr/>
          </a:p>
          <a:p>
            <a:r>
              <a:t>Source: notebook cells 12-16.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Farhan: Preprocessing is target-specific. We first select the correct universe, features and label. Then we use two paths. The dense path imputes missing values, adds missingness indicators, scales long-tailed variables and encodes categorical variables. The native path keeps numeric missingness for XGBoost and LightGBM, because those models can learn where missing values should go. The split is grouped by mother ID, so one mother never appears in both training and testing.</a:t>
            </a:r>
          </a:p>
          <a:p>
            <a:endParaRPr/>
          </a:p>
          <a:p>
            <a:r>
              <a:t>Source: notebook cells 134-138.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Farhan: Leakage auditing is one of the most important parts of the project. We blocked post-outcome variables, same-moment symptoms, definitional variables, arithmetic identities, and </a:t>
            </a:r>
            <a:r>
              <a:rPr dirty="0" err="1"/>
              <a:t>missingness</a:t>
            </a:r>
            <a:r>
              <a:rPr dirty="0"/>
              <a:t> patterns that only occur after the outcome.</a:t>
            </a:r>
          </a:p>
          <a:p>
            <a:r>
              <a:rPr dirty="0"/>
              <a:t>The effect is dramatic. For neonatal death, keeping the fertility identity produced an AUC of 0.967. Keeping a survivor-only age field produced 0.987. The audited model was 0.742 in this check, and our final notebook reports 0.773 for the best leakage-audited result.</a:t>
            </a:r>
          </a:p>
          <a:p>
            <a:r>
              <a:rPr dirty="0"/>
              <a:t>That large drop is not a failure. It is the difference between a real early-risk estimate and a label proxy, and it is the most likely explanation for the ninety-nine percent figures we mentioned earlier.</a:t>
            </a:r>
          </a:p>
          <a:p>
            <a:endParaRPr dirty="0"/>
          </a:p>
          <a:p>
            <a:r>
              <a:rPr dirty="0"/>
              <a:t>Source: notebook cells 25, 34, 134 and 137.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Farhan: Before modelling, we describe the population with the survey design. The weighted prevalence is 57.2 percent for facility delivery, 4 percent for neonatal death, 28.7 percent for stunting, 7.9 percent for severe stunting and 22.4 percent for underweight. The estimator uses sampling weights and Taylor linearization across clusters within strata. The mean design effect is about 2.2, which means naive confidence intervals would be too narrow. This separates two roles: survey weighting describes Bangladesh, while grouped machine learning evaluates a deployable ranking.</a:t>
            </a:r>
          </a:p>
          <a:p>
            <a:endParaRPr/>
          </a:p>
          <a:p>
            <a:r>
              <a:t>Source: notebook cells 64, 67, 72, 76 and 93.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Farhan: The EDA also checked data quality. Missingness is not random because many DHS modules are structurally absent for ineligible respondents. We keep that distinction and use missing indicators where appropriate. We checked birth-weight digit heaping, age heaping, height-for-age cutoffs and implausible values. Finally, correlation matrices and VIF checks helped us see redundancy among features. These checks reduce the risk that the model learns a coding artifact or a duplicated measurement.</a:t>
            </a:r>
          </a:p>
          <a:p>
            <a:endParaRPr/>
          </a:p>
          <a:p>
            <a:r>
              <a:t>Source: notebook cells 86, 110 to 121.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Farhan: We chose models to span different strengths. Logistic regression gives an interpretable reference. Random Forest represents bagging. </a:t>
            </a:r>
            <a:r>
              <a:rPr dirty="0" err="1"/>
              <a:t>XGBoost</a:t>
            </a:r>
            <a:r>
              <a:rPr dirty="0"/>
              <a:t>, </a:t>
            </a:r>
            <a:r>
              <a:rPr dirty="0" err="1"/>
              <a:t>LightGBM</a:t>
            </a:r>
            <a:r>
              <a:rPr dirty="0"/>
              <a:t> and </a:t>
            </a:r>
            <a:r>
              <a:rPr dirty="0" err="1"/>
              <a:t>CatBoost</a:t>
            </a:r>
            <a:r>
              <a:rPr dirty="0"/>
              <a:t> represent the main tabular boosting families. </a:t>
            </a:r>
            <a:r>
              <a:rPr dirty="0" err="1"/>
              <a:t>RealMLP</a:t>
            </a:r>
            <a:r>
              <a:rPr dirty="0"/>
              <a:t> and </a:t>
            </a:r>
            <a:r>
              <a:rPr dirty="0" err="1"/>
              <a:t>TabM</a:t>
            </a:r>
            <a:r>
              <a:rPr dirty="0"/>
              <a:t> provide modern deep tabular baselines.</a:t>
            </a:r>
          </a:p>
          <a:p>
            <a:r>
              <a:rPr dirty="0"/>
              <a:t>TabPFN-3, a transformer </a:t>
            </a:r>
            <a:r>
              <a:rPr dirty="0" err="1"/>
              <a:t>pretrained</a:t>
            </a:r>
            <a:r>
              <a:rPr dirty="0"/>
              <a:t> on synthetic tabular tasks, was measured separately with the same grouped split and a ten-thousand-row cap. It stayed within seven thousandths of the incumbent on four of the five targets. So a model family with a completely different inductive bias reproduces the same performance envelope, which suggests the information in the survey, rather than the architecture, sets the ceiling.</a:t>
            </a:r>
          </a:p>
          <a:p>
            <a:endParaRPr dirty="0"/>
          </a:p>
          <a:p>
            <a:r>
              <a:rPr dirty="0"/>
              <a:t>Source: notebook cells 129 and 141 to 166.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Farhan: The winning model depends on the outcome. Facility delivery reaches ROC-AUC 0.845 and PR-AUC 0.878. Neonatal death reaches ROC-AUC 0.773 but PR-AUC only 0.209, because the outcome is rare. </a:t>
            </a:r>
            <a:r>
              <a:rPr dirty="0" err="1"/>
              <a:t>CatBoost</a:t>
            </a:r>
            <a:r>
              <a:rPr dirty="0"/>
              <a:t> wins stunting at about 0.707, the ensemble wins severe stunting at 0.700, and </a:t>
            </a:r>
            <a:r>
              <a:rPr dirty="0" err="1"/>
              <a:t>TabM</a:t>
            </a:r>
            <a:r>
              <a:rPr dirty="0"/>
              <a:t> wins underweight at about 0.688.</a:t>
            </a:r>
          </a:p>
          <a:p>
            <a:r>
              <a:rPr dirty="0"/>
              <a:t>We avoid a single leaderboard, because the gaps are small and the outcome </a:t>
            </a:r>
            <a:r>
              <a:rPr dirty="0" err="1"/>
              <a:t>prevalences</a:t>
            </a:r>
            <a:r>
              <a:rPr dirty="0"/>
              <a:t> are very different.</a:t>
            </a:r>
          </a:p>
          <a:p>
            <a:r>
              <a:rPr dirty="0"/>
              <a:t>It is worth saying plainly what these numbers mean. Our stunting result sits almost exactly on the pooled envelope that the DHS meta-analysis reports. We are not claiming to beat the literature. We are showing what the literature actually supports, once leakage is removed and the split is grouped by mother.</a:t>
            </a:r>
          </a:p>
          <a:p>
            <a:endParaRPr dirty="0"/>
          </a:p>
          <a:p>
            <a:r>
              <a:rPr dirty="0"/>
              <a:t>Source: notebook cells 170 to 181. Values follow the notebook conclusion and outcome-specific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Farhan: The two curve families answer different questions. </a:t>
            </a:r>
            <a:r>
              <a:rPr dirty="0"/>
              <a:t>ROC-AUC measures ranking, but it can look respectable for a rare outcome because there are so many true negatives. Precision-recall curves compare performance against the outcome prevalence, so they are more honest for neonatal death and severe stunting.</a:t>
            </a:r>
          </a:p>
          <a:p>
            <a:r>
              <a:rPr dirty="0"/>
              <a:t>We also tried post-hoc </a:t>
            </a:r>
            <a:r>
              <a:rPr dirty="0" err="1"/>
              <a:t>ensembling</a:t>
            </a:r>
            <a:r>
              <a:rPr dirty="0"/>
              <a:t>. Models were blended by greedy forward selection on a nested validation split, never on the test set. The gains were small, about two thousandths on three targets, and slightly negative on two. We keep the ensemble because it improves stability across refits, not because it creates a new performance level.</a:t>
            </a:r>
          </a:p>
          <a:p>
            <a:r>
              <a:rPr dirty="0"/>
              <a:t>I will now hand over to </a:t>
            </a:r>
            <a:r>
              <a:rPr dirty="0" err="1"/>
              <a:t>Sakib</a:t>
            </a:r>
            <a:r>
              <a:rPr dirty="0"/>
              <a:t> for the operating thresholds and the rest of the validation.</a:t>
            </a:r>
          </a:p>
          <a:p>
            <a:endParaRPr dirty="0"/>
          </a:p>
          <a:p>
            <a:r>
              <a:rPr dirty="0"/>
              <a:t>Source: notebook cells 167 to 174 and 182 to 184.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The next step is to turn ranking into action. A probability of 0.5 is not automatically the correct cut-off. We define the cost of a missed case and the cost of a false alarm. Missing neonatal death is weighted ten times more heavily, while the other adverse outcomes use five times. Facility delivery uses a symmetric cost because a flag means counselling, not harm. We also cap the flag rate at thirty percent so the rule remains operational. This gives the thresholds shown here. For model reporting, we use ROC-AUC and PR-AUC for ranking, recall and precision for screening, and calibration measures for probability quality.</a:t>
            </a:r>
          </a:p>
          <a:p>
            <a:endParaRPr/>
          </a:p>
          <a:p>
            <a:r>
              <a:t>Source: notebook cells 185 to 190.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Calibration checks whether a predicted probability behaves like a probability. We tried isotonic regression or Platt scaling depending on the number of positive cases, and we kept a calibrator only if both the Brier score and calibration-in-the-large improved. Three of five calibrators were rejected, so the raw scores remain downstream for those outcomes. Decision curves ask a different question: is the model better than treating everyone or treating no one at the thresholds that matter? Four outcomes showed useful ranges. Severe stunting had negative net benefit at its selected threshold, so it should not be used as a standalone screen.</a:t>
            </a:r>
          </a:p>
          <a:p>
            <a:endParaRPr/>
          </a:p>
          <a:p>
            <a:r>
              <a:t>Source: notebook cells 191 to 203.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We used four hundred bootstrap resamples to show uncertainty around the headline numbers. Severe stunting has only 179 test positives, so its interval is much wider than the interval for facility delivery. This makes small leaderboard differences difficult to interpret. We also performed temporal validation by training on BDHS 2017–18 and testing on BDHS 2022. The nutrition rankings lost only a few thousandths of AUC, but the absolute probabilities drifted. For neonatal death, the predicted-to-observed ratio was 5.90. So transport may be reasonable for ranking, but recalibration is required before using probabilities or thresholds in a new round.</a:t>
            </a:r>
          </a:p>
          <a:p>
            <a:endParaRPr/>
          </a:p>
          <a:p>
            <a:r>
              <a:t>Source: notebook cells 204 to 209.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The equity analysis separates two ideas. The model can rank people within each wealth group with fairly stable discrimination. But recall at one global threshold can be very different. For stunting, the recall ranges from 0.685 in the poorest group to 0.121 in the richest. For facility delivery the direction reverses, because a high facility-delivery probability is a favourable sign. These gaps are created by the outcome gradient and the global cut-off. A responsible deployment should report subgroup recall, consider stratified thresholds, and clearly state the policy goal.</a:t>
            </a:r>
          </a:p>
          <a:p>
            <a:endParaRPr/>
          </a:p>
          <a:p>
            <a:r>
              <a:t>Source: notebook cells 210 to 212.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We used two explainability views. Permutation importance shuffles a raw feature on the held-out set and measures how much PR-AUC falls. This tells us what the model relies on to generalise. SHAP adds direction: a point to the right pushes predicted risk up, and a point to the left pushes it down. Height and weight features are prominent for nutrition outcomes, while social and maternity variables matter for facility delivery. We also use the leakage audit as a safety check: blocked fertility-accounting variables should not reappear as top neonatal predictors.</a:t>
            </a:r>
          </a:p>
          <a:p>
            <a:endParaRPr/>
          </a:p>
          <a:p>
            <a:r>
              <a:t>Source: notebook cells 213 to 218.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We also tested two broader learning views. The survival model expands births into time intervals and handles censoring, so a child observed alive at thirty months is not incorrectly treated as a five-year survivor. The hazard is highest in the first month, then falls. We also trained a multi-task model for stunting, severe stunting and underweight. The shared model gained about 0.010 over its no-sharing ablation, but it was still below the best single-task model. This tells us that shared biology exists, but a shared representation does not automatically outperform specialised models.</a:t>
            </a:r>
          </a:p>
          <a:p>
            <a:endParaRPr/>
          </a:p>
          <a:p>
            <a:r>
              <a:t>Source: notebook cells 219 to 224.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The unsupervised section asks whether the labels are hiding natural groups. We use five thousand rows and thirty-two numeric features without outcome labels. PCA explains only 36.6 percent of the variance in two components. DBSCAN marks 84.3 percent as noise, and KMeans selects k equals two with a weak silhouette of 0.183. The clusters mainly recover a socioeconomic axis: one group is younger, better educated and wealthier. This confirms the EDA gradient, but the boundary is soft. We therefore use unsupervised methods for pattern discovery and anomaly flags, not as a replacement for supervised targets.</a:t>
            </a:r>
          </a:p>
          <a:p>
            <a:endParaRPr/>
          </a:p>
          <a:p>
            <a:r>
              <a:t>Source: notebook cells 225 to 241.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The final architecture combines the models in clinical phase order. Delivery uses facility delivery, the newborn phase uses neonatal death, and the child phase uses the three nutrition outcomes. The cascade uses calibrated probabilities where calibration passed its guard, cost-optimal thresholds, a composite risk index and an anomaly check. Facility delivery is not treated as an adverse escalation signal because a high probability is favourable. We tested the assessment panel on synthetic profiles created within the observed feature range, and we also ran a sanity check on real records. The output is a triage band and the factors that drove it, not an automated diagnosis.</a:t>
            </a:r>
          </a:p>
          <a:p>
            <a:endParaRPr/>
          </a:p>
          <a:p>
            <a:r>
              <a:t>Source: notebook cells 242 to 248 and 253 to 284.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Sakib: To conclude, this project shows that a trustworthy health-prediction study needs more than a model. The denominator must be correct, leakage must be removed, and the survey design must be respected.</a:t>
            </a:r>
          </a:p>
          <a:p>
            <a:r>
              <a:t>The models provide moderate risk ranking, but uncertainty and temporal drift limit how the probabilities should be used, and subgroup threshold gaps make equity reporting essential. Our cascade therefore acts as a cautious triage interface. It reports calibrated or raw risk according to the validation guard, checks anomalies, and shows the drivers for human review.</a:t>
            </a:r>
          </a:p>
          <a:p>
            <a:r>
              <a:t>Farhan: And briefly, what we would do next. The clearest gaps are recalibration on a current survey round, facility-level supply variables the survey does not capture, and a prospective test of whether risk-ranked triage actually changes outcomes.</a:t>
            </a:r>
          </a:p>
          <a:p>
            <a:r>
              <a:t>Thank you for listening. We are happy to take your questions.</a:t>
            </a:r>
          </a:p>
          <a:p>
            <a:endParaRPr/>
          </a:p>
          <a:p>
            <a:r>
              <a:t>Source: notebook cells 248, 251, 253 and 284; Conference_paper.tex.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BA19E4F-59D6-43D6-A277-9616442D8361}"/>
              </a:ext>
            </a:extLst>
          </p:cNvPr>
          <p:cNvSpPr>
            <a:spLocks noGrp="1"/>
          </p:cNvSpPr>
          <p:nvPr/>
        </p:nvSpPr>
        <p:spPr>
          <a:xfrm>
            <a:off x="0" y="0"/>
            <a:ext cx="7239000" cy="6858000"/>
          </a:xfrm>
          <a:prstGeom prst="rect">
            <a:avLst/>
          </a:prstGeom>
          <a:solidFill>
            <a:srgbClr val="102A43"/>
          </a:solidFill>
          <a:ln w="0">
            <a:noFill/>
            <a:prstDash val="solid"/>
          </a:ln>
        </p:spPr>
      </p:sp>
      <p:sp>
        <p:nvSpPr>
          <p:cNvPr id="2" name="Rectangle 1">
            <a:extLst>
              <a:ext uri="{FF2B5EF4-FFF2-40B4-BE49-F238E27FC236}">
                <a16:creationId xmlns:a16="http://schemas.microsoft.com/office/drawing/2014/main" id="{8BC84DE1-1419-4614-A272-F414F9B62236}"/>
              </a:ext>
            </a:extLst>
          </p:cNvPr>
          <p:cNvSpPr>
            <a:spLocks noGrp="1"/>
          </p:cNvSpPr>
          <p:nvPr/>
        </p:nvSpPr>
        <p:spPr>
          <a:xfrm>
            <a:off x="7239000" y="0"/>
            <a:ext cx="4953000" cy="6858000"/>
          </a:xfrm>
          <a:prstGeom prst="rect">
            <a:avLst/>
          </a:prstGeom>
          <a:solidFill>
            <a:srgbClr val="0F766E"/>
          </a:solidFill>
          <a:ln w="0">
            <a:noFill/>
            <a:prstDash val="solid"/>
          </a:ln>
        </p:spPr>
      </p:sp>
      <p:sp>
        <p:nvSpPr>
          <p:cNvPr id="4" name="Straight Connector 3">
            <a:extLst>
              <a:ext uri="{FF2B5EF4-FFF2-40B4-BE49-F238E27FC236}">
                <a16:creationId xmlns:a16="http://schemas.microsoft.com/office/drawing/2014/main" id="{5AC2CB46-F488-4D1C-8426-C8942624E4C6}"/>
              </a:ext>
            </a:extLst>
          </p:cNvPr>
          <p:cNvSpPr>
            <a:spLocks noGrp="1"/>
          </p:cNvSpPr>
          <p:nvPr/>
        </p:nvSpPr>
        <p:spPr>
          <a:xfrm>
            <a:off x="7871073" y="6394683"/>
            <a:ext cx="3905250" cy="0"/>
          </a:xfrm>
          <a:prstGeom prst="line">
            <a:avLst/>
          </a:prstGeom>
          <a:noFill/>
          <a:ln w="19050">
            <a:solidFill>
              <a:srgbClr val="FFFFFF"/>
            </a:solidFill>
            <a:prstDash val="solid"/>
          </a:ln>
        </p:spPr>
      </p:sp>
      <p:sp>
        <p:nvSpPr>
          <p:cNvPr id="5" name="Rectangle 4">
            <a:extLst>
              <a:ext uri="{FF2B5EF4-FFF2-40B4-BE49-F238E27FC236}">
                <a16:creationId xmlns:a16="http://schemas.microsoft.com/office/drawing/2014/main" id="{9F62E148-B6C6-42D7-8CBF-D20FDAC6F285}"/>
              </a:ext>
            </a:extLst>
          </p:cNvPr>
          <p:cNvSpPr>
            <a:spLocks noGrp="1"/>
          </p:cNvSpPr>
          <p:nvPr/>
        </p:nvSpPr>
        <p:spPr>
          <a:xfrm>
            <a:off x="685800" y="762000"/>
            <a:ext cx="5905500" cy="228600"/>
          </a:xfrm>
          <a:prstGeom prst="rect">
            <a:avLst/>
          </a:prstGeom>
          <a:noFill/>
          <a:ln w="0">
            <a:noFill/>
          </a:ln>
        </p:spPr>
        <p:txBody>
          <a:bodyPr lIns="0" tIns="0" rIns="0" bIns="0" anchor="t">
            <a:normAutofit/>
          </a:bodyPr>
          <a:lstStyle/>
          <a:p>
            <a:pPr algn="l">
              <a:lnSpc>
                <a:spcPct val="108000"/>
              </a:lnSpc>
              <a:buNone/>
              <a:defRPr sz="975" b="1" i="0">
                <a:solidFill>
                  <a:srgbClr val="8FE3D9"/>
                </a:solidFill>
                <a:latin typeface="Arial"/>
                <a:ea typeface="Arial"/>
                <a:cs typeface="Arial"/>
              </a:defRPr>
            </a:pPr>
            <a:r>
              <a:rPr sz="975" b="1" i="0" dirty="0" smtClean="0">
                <a:solidFill>
                  <a:srgbClr val="8FE3D9"/>
                </a:solidFill>
                <a:latin typeface="Arial"/>
                <a:ea typeface="Arial"/>
                <a:cs typeface="Arial"/>
              </a:rPr>
              <a:t>CONFERENCE </a:t>
            </a:r>
            <a:r>
              <a:rPr sz="975" b="1" i="0" dirty="0">
                <a:solidFill>
                  <a:srgbClr val="8FE3D9"/>
                </a:solidFill>
                <a:latin typeface="Arial"/>
                <a:ea typeface="Arial"/>
                <a:cs typeface="Arial"/>
              </a:rPr>
              <a:t>VIDEO PRESENTATION</a:t>
            </a:r>
          </a:p>
        </p:txBody>
      </p:sp>
      <p:sp>
        <p:nvSpPr>
          <p:cNvPr id="6" name="Rectangle 5">
            <a:extLst>
              <a:ext uri="{FF2B5EF4-FFF2-40B4-BE49-F238E27FC236}">
                <a16:creationId xmlns:a16="http://schemas.microsoft.com/office/drawing/2014/main" id="{B73C4393-061D-4B3D-82D8-2E61224CA45E}"/>
              </a:ext>
            </a:extLst>
          </p:cNvPr>
          <p:cNvSpPr>
            <a:spLocks noGrp="1"/>
          </p:cNvSpPr>
          <p:nvPr/>
        </p:nvSpPr>
        <p:spPr>
          <a:xfrm>
            <a:off x="685800" y="1200150"/>
            <a:ext cx="5114925" cy="1419225"/>
          </a:xfrm>
          <a:prstGeom prst="rect">
            <a:avLst/>
          </a:prstGeom>
          <a:noFill/>
          <a:ln w="0">
            <a:noFill/>
          </a:ln>
        </p:spPr>
        <p:txBody>
          <a:bodyPr lIns="0" tIns="0" rIns="0" bIns="0" anchor="t">
            <a:normAutofit/>
          </a:bodyPr>
          <a:lstStyle/>
          <a:p>
            <a:pPr algn="l">
              <a:lnSpc>
                <a:spcPct val="98000"/>
              </a:lnSpc>
              <a:buNone/>
              <a:defRPr sz="2925" b="1" i="0">
                <a:solidFill>
                  <a:srgbClr val="FFFFFF"/>
                </a:solidFill>
                <a:latin typeface="Arial"/>
                <a:ea typeface="Arial"/>
                <a:cs typeface="Arial"/>
              </a:defRPr>
            </a:pPr>
            <a:r>
              <a:rPr sz="3200" b="1" i="0" dirty="0">
                <a:solidFill>
                  <a:srgbClr val="FFFFFF"/>
                </a:solidFill>
                <a:latin typeface="Bahnschrift" panose="020B0502040204020203" pitchFamily="34" charset="0"/>
                <a:ea typeface="Arial"/>
                <a:cs typeface="Arial"/>
              </a:rPr>
              <a:t>Predicting </a:t>
            </a:r>
            <a:r>
              <a:rPr lang="en-US" sz="3200" b="1" i="0" dirty="0" smtClean="0">
                <a:solidFill>
                  <a:srgbClr val="FFFFFF"/>
                </a:solidFill>
                <a:latin typeface="Bahnschrift" panose="020B0502040204020203" pitchFamily="34" charset="0"/>
                <a:ea typeface="Arial"/>
                <a:cs typeface="Arial"/>
              </a:rPr>
              <a:t>M</a:t>
            </a:r>
            <a:r>
              <a:rPr sz="3200" b="1" i="0" dirty="0" smtClean="0">
                <a:solidFill>
                  <a:srgbClr val="FFFFFF"/>
                </a:solidFill>
                <a:latin typeface="Bahnschrift" panose="020B0502040204020203" pitchFamily="34" charset="0"/>
                <a:ea typeface="Arial"/>
                <a:cs typeface="Arial"/>
              </a:rPr>
              <a:t>aternal </a:t>
            </a:r>
            <a:r>
              <a:rPr sz="3200" b="1" i="0" dirty="0">
                <a:solidFill>
                  <a:srgbClr val="FFFFFF"/>
                </a:solidFill>
                <a:latin typeface="Bahnschrift" panose="020B0502040204020203" pitchFamily="34" charset="0"/>
                <a:ea typeface="Arial"/>
                <a:cs typeface="Arial"/>
              </a:rPr>
              <a:t>and </a:t>
            </a:r>
            <a:r>
              <a:rPr lang="en-US" sz="3200" b="1" i="0" dirty="0" smtClean="0">
                <a:solidFill>
                  <a:srgbClr val="FFFFFF"/>
                </a:solidFill>
                <a:latin typeface="Bahnschrift" panose="020B0502040204020203" pitchFamily="34" charset="0"/>
                <a:ea typeface="Arial"/>
                <a:cs typeface="Arial"/>
              </a:rPr>
              <a:t>C</a:t>
            </a:r>
            <a:r>
              <a:rPr sz="3200" b="1" i="0" dirty="0" smtClean="0">
                <a:solidFill>
                  <a:srgbClr val="FFFFFF"/>
                </a:solidFill>
                <a:latin typeface="Bahnschrift" panose="020B0502040204020203" pitchFamily="34" charset="0"/>
                <a:ea typeface="Arial"/>
                <a:cs typeface="Arial"/>
              </a:rPr>
              <a:t>hild </a:t>
            </a:r>
            <a:r>
              <a:rPr sz="3200" b="1" i="0" dirty="0">
                <a:solidFill>
                  <a:srgbClr val="FFFFFF"/>
                </a:solidFill>
                <a:latin typeface="Bahnschrift" panose="020B0502040204020203" pitchFamily="34" charset="0"/>
                <a:ea typeface="Arial"/>
                <a:cs typeface="Arial"/>
              </a:rPr>
              <a:t>health </a:t>
            </a:r>
            <a:r>
              <a:rPr sz="3200" b="1" i="0" dirty="0" smtClean="0">
                <a:solidFill>
                  <a:srgbClr val="FFFFFF"/>
                </a:solidFill>
                <a:latin typeface="Bahnschrift" panose="020B0502040204020203" pitchFamily="34" charset="0"/>
                <a:ea typeface="Arial"/>
                <a:cs typeface="Arial"/>
              </a:rPr>
              <a:t>outcomes</a:t>
            </a:r>
            <a:endParaRPr sz="3200" b="1" i="0" dirty="0">
              <a:solidFill>
                <a:srgbClr val="FFFFFF"/>
              </a:solidFill>
              <a:latin typeface="Bahnschrift" panose="020B0502040204020203" pitchFamily="34" charset="0"/>
              <a:ea typeface="Arial"/>
              <a:cs typeface="Arial"/>
            </a:endParaRPr>
          </a:p>
        </p:txBody>
      </p:sp>
      <p:sp>
        <p:nvSpPr>
          <p:cNvPr id="8" name="Rectangle 7">
            <a:extLst>
              <a:ext uri="{FF2B5EF4-FFF2-40B4-BE49-F238E27FC236}">
                <a16:creationId xmlns:a16="http://schemas.microsoft.com/office/drawing/2014/main" id="{D351926E-F035-4616-BB8C-A285E41A55F3}"/>
              </a:ext>
            </a:extLst>
          </p:cNvPr>
          <p:cNvSpPr>
            <a:spLocks noGrp="1"/>
          </p:cNvSpPr>
          <p:nvPr/>
        </p:nvSpPr>
        <p:spPr>
          <a:xfrm>
            <a:off x="685800" y="4846097"/>
            <a:ext cx="3149353" cy="771987"/>
          </a:xfrm>
          <a:prstGeom prst="rect">
            <a:avLst/>
          </a:prstGeom>
          <a:noFill/>
          <a:ln w="0">
            <a:noFill/>
          </a:ln>
        </p:spPr>
        <p:txBody>
          <a:bodyPr lIns="0" tIns="0" rIns="0" bIns="0" anchor="t">
            <a:normAutofit/>
          </a:bodyPr>
          <a:lstStyle/>
          <a:p>
            <a:pPr algn="l">
              <a:lnSpc>
                <a:spcPct val="108000"/>
              </a:lnSpc>
              <a:buNone/>
              <a:defRPr sz="1350" b="1" i="0">
                <a:solidFill>
                  <a:srgbClr val="FFFFFF"/>
                </a:solidFill>
                <a:latin typeface="Arial"/>
                <a:ea typeface="Arial"/>
                <a:cs typeface="Arial"/>
              </a:defRPr>
            </a:pPr>
            <a:r>
              <a:rPr sz="1350" b="1" i="0" dirty="0">
                <a:solidFill>
                  <a:srgbClr val="FFFFFF"/>
                </a:solidFill>
                <a:latin typeface="Arial"/>
                <a:ea typeface="Arial"/>
                <a:cs typeface="Arial"/>
              </a:rPr>
              <a:t>MD </a:t>
            </a:r>
            <a:r>
              <a:rPr sz="1350" b="1" i="0" dirty="0" smtClean="0">
                <a:solidFill>
                  <a:srgbClr val="FFFFFF"/>
                </a:solidFill>
                <a:latin typeface="Arial"/>
                <a:ea typeface="Arial"/>
                <a:cs typeface="Arial"/>
              </a:rPr>
              <a:t>Farhan</a:t>
            </a:r>
            <a:r>
              <a:rPr lang="en-US" sz="1350" b="1" i="0" dirty="0" smtClean="0">
                <a:solidFill>
                  <a:srgbClr val="FFFFFF"/>
                </a:solidFill>
                <a:latin typeface="Arial"/>
                <a:ea typeface="Arial"/>
                <a:cs typeface="Arial"/>
              </a:rPr>
              <a:t>		</a:t>
            </a:r>
            <a:r>
              <a:rPr sz="1350" b="1" i="0" dirty="0" smtClean="0">
                <a:solidFill>
                  <a:srgbClr val="FFFFFF"/>
                </a:solidFill>
                <a:latin typeface="Arial"/>
                <a:ea typeface="Arial"/>
                <a:cs typeface="Arial"/>
              </a:rPr>
              <a:t>SM </a:t>
            </a:r>
            <a:r>
              <a:rPr sz="1350" b="1" i="0" dirty="0" err="1" smtClean="0">
                <a:solidFill>
                  <a:srgbClr val="FFFFFF"/>
                </a:solidFill>
                <a:latin typeface="Arial"/>
                <a:ea typeface="Arial"/>
                <a:cs typeface="Arial"/>
              </a:rPr>
              <a:t>Sakib</a:t>
            </a:r>
            <a:endParaRPr lang="en-US" sz="1350" b="1" i="0" dirty="0" smtClean="0">
              <a:solidFill>
                <a:srgbClr val="FFFFFF"/>
              </a:solidFill>
              <a:latin typeface="Arial"/>
              <a:ea typeface="Arial"/>
              <a:cs typeface="Arial"/>
            </a:endParaRPr>
          </a:p>
          <a:p>
            <a:pPr algn="l">
              <a:lnSpc>
                <a:spcPct val="108000"/>
              </a:lnSpc>
              <a:buNone/>
              <a:defRPr sz="1350" b="1" i="0">
                <a:solidFill>
                  <a:srgbClr val="FFFFFF"/>
                </a:solidFill>
                <a:latin typeface="Arial"/>
                <a:ea typeface="Arial"/>
                <a:cs typeface="Arial"/>
              </a:defRPr>
            </a:pPr>
            <a:r>
              <a:rPr lang="en-US" sz="1350" b="1" dirty="0" smtClean="0">
                <a:solidFill>
                  <a:srgbClr val="FFFFFF"/>
                </a:solidFill>
                <a:latin typeface="Arial"/>
                <a:ea typeface="Arial"/>
                <a:cs typeface="Arial"/>
              </a:rPr>
              <a:t>22301430		22301431</a:t>
            </a:r>
          </a:p>
          <a:p>
            <a:pPr algn="l">
              <a:lnSpc>
                <a:spcPct val="108000"/>
              </a:lnSpc>
              <a:buNone/>
              <a:defRPr sz="1350" b="1" i="0">
                <a:solidFill>
                  <a:srgbClr val="FFFFFF"/>
                </a:solidFill>
                <a:latin typeface="Arial"/>
                <a:ea typeface="Arial"/>
                <a:cs typeface="Arial"/>
              </a:defRPr>
            </a:pPr>
            <a:r>
              <a:rPr lang="en-US" sz="1350" b="1" i="0" dirty="0" smtClean="0">
                <a:solidFill>
                  <a:srgbClr val="FFFFFF"/>
                </a:solidFill>
                <a:latin typeface="Arial"/>
                <a:ea typeface="Arial"/>
                <a:cs typeface="Arial"/>
              </a:rPr>
              <a:t>Section: </a:t>
            </a:r>
            <a:r>
              <a:rPr lang="en-US" sz="1350" b="1" i="0" dirty="0" smtClean="0">
                <a:solidFill>
                  <a:srgbClr val="FFFFFF"/>
                </a:solidFill>
                <a:latin typeface="Arial"/>
                <a:ea typeface="Arial"/>
                <a:cs typeface="Arial"/>
              </a:rPr>
              <a:t>2		Group: 13</a:t>
            </a:r>
            <a:endParaRPr sz="1350" b="1" i="0" dirty="0">
              <a:solidFill>
                <a:srgbClr val="FFFFFF"/>
              </a:solidFill>
              <a:latin typeface="Arial"/>
              <a:ea typeface="Arial"/>
              <a:cs typeface="Arial"/>
            </a:endParaRPr>
          </a:p>
        </p:txBody>
      </p:sp>
      <p:sp>
        <p:nvSpPr>
          <p:cNvPr id="9" name="Rectangle 8">
            <a:extLst>
              <a:ext uri="{FF2B5EF4-FFF2-40B4-BE49-F238E27FC236}">
                <a16:creationId xmlns:a16="http://schemas.microsoft.com/office/drawing/2014/main" id="{F377676E-1057-4BE0-8CE9-C7AC4174CC44}"/>
              </a:ext>
            </a:extLst>
          </p:cNvPr>
          <p:cNvSpPr>
            <a:spLocks noGrp="1"/>
          </p:cNvSpPr>
          <p:nvPr/>
        </p:nvSpPr>
        <p:spPr>
          <a:xfrm>
            <a:off x="685800" y="5618085"/>
            <a:ext cx="4000500" cy="266700"/>
          </a:xfrm>
          <a:prstGeom prst="rect">
            <a:avLst/>
          </a:prstGeom>
          <a:noFill/>
          <a:ln w="0">
            <a:noFill/>
          </a:ln>
        </p:spPr>
        <p:txBody>
          <a:bodyPr lIns="0" tIns="0" rIns="0" bIns="0" anchor="t">
            <a:normAutofit/>
          </a:bodyPr>
          <a:lstStyle/>
          <a:p>
            <a:pPr algn="l">
              <a:lnSpc>
                <a:spcPct val="108000"/>
              </a:lnSpc>
              <a:buNone/>
              <a:defRPr sz="1125" b="0" i="0">
                <a:solidFill>
                  <a:srgbClr val="D9E2EC"/>
                </a:solidFill>
                <a:latin typeface="Arial"/>
                <a:ea typeface="Arial"/>
                <a:cs typeface="Arial"/>
              </a:defRPr>
            </a:pPr>
            <a:r>
              <a:rPr sz="1125" b="0" i="0" dirty="0">
                <a:solidFill>
                  <a:srgbClr val="D9E2EC"/>
                </a:solidFill>
                <a:latin typeface="Arial"/>
                <a:ea typeface="Arial"/>
                <a:cs typeface="Arial"/>
              </a:rPr>
              <a:t>BRAC University, Dhaka</a:t>
            </a:r>
          </a:p>
        </p:txBody>
      </p:sp>
      <p:sp>
        <p:nvSpPr>
          <p:cNvPr id="10" name="Rectangle 9">
            <a:extLst>
              <a:ext uri="{FF2B5EF4-FFF2-40B4-BE49-F238E27FC236}">
                <a16:creationId xmlns:a16="http://schemas.microsoft.com/office/drawing/2014/main" id="{AD111370-5034-4802-9358-9D41917063BB}"/>
              </a:ext>
            </a:extLst>
          </p:cNvPr>
          <p:cNvSpPr>
            <a:spLocks noGrp="1"/>
          </p:cNvSpPr>
          <p:nvPr/>
        </p:nvSpPr>
        <p:spPr>
          <a:xfrm>
            <a:off x="10953750" y="342900"/>
            <a:ext cx="552450" cy="304800"/>
          </a:xfrm>
          <a:prstGeom prst="rect">
            <a:avLst/>
          </a:prstGeom>
          <a:noFill/>
          <a:ln w="0">
            <a:noFill/>
          </a:ln>
        </p:spPr>
        <p:txBody>
          <a:bodyPr lIns="0" tIns="0" rIns="0" bIns="0" anchor="t">
            <a:normAutofit/>
          </a:bodyPr>
          <a:lstStyle/>
          <a:p>
            <a:pPr algn="r">
              <a:lnSpc>
                <a:spcPct val="108000"/>
              </a:lnSpc>
              <a:buNone/>
              <a:defRPr sz="1200" b="1" i="0">
                <a:solidFill>
                  <a:srgbClr val="D9F0ED"/>
                </a:solidFill>
                <a:latin typeface="Arial"/>
                <a:ea typeface="Arial"/>
                <a:cs typeface="Arial"/>
              </a:defRPr>
            </a:pPr>
            <a:r>
              <a:rPr sz="1200" b="1" i="0">
                <a:solidFill>
                  <a:srgbClr val="D9F0ED"/>
                </a:solidFill>
                <a:latin typeface="Arial"/>
                <a:ea typeface="Arial"/>
                <a:cs typeface="Arial"/>
              </a:rPr>
              <a:t>20</a:t>
            </a:r>
          </a:p>
        </p:txBody>
      </p:sp>
      <p:pic>
        <p:nvPicPr>
          <p:cNvPr id="1026" name="Picture 2" descr="669,500+ Mom And Baby Stock Photos and Royalty-Free Pictures ..."/>
          <p:cNvPicPr>
            <a:picLocks noChangeAspect="1" noChangeArrowheads="1"/>
          </p:cNvPicPr>
          <p:nvPr/>
        </p:nvPicPr>
        <p:blipFill rotWithShape="1">
          <a:blip r:embed="rId3">
            <a:extLst>
              <a:ext uri="{28A0092B-C50C-407E-A947-70E740481C1C}">
                <a14:useLocalDpi xmlns:a14="http://schemas.microsoft.com/office/drawing/2010/main" val="0"/>
              </a:ext>
            </a:extLst>
          </a:blip>
          <a:srcRect l="21048" r="14579"/>
          <a:stretch/>
        </p:blipFill>
        <p:spPr bwMode="auto">
          <a:xfrm>
            <a:off x="7239000" y="852487"/>
            <a:ext cx="4975769" cy="515302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539819" y="3127289"/>
            <a:ext cx="5422831" cy="461665"/>
          </a:xfrm>
          <a:prstGeom prst="rect">
            <a:avLst/>
          </a:prstGeom>
          <a:noFill/>
        </p:spPr>
        <p:txBody>
          <a:bodyPr wrap="none" rtlCol="0">
            <a:spAutoFit/>
          </a:bodyPr>
          <a:lstStyle/>
          <a:p>
            <a:r>
              <a:rPr lang="en-US" sz="1200" dirty="0">
                <a:solidFill>
                  <a:schemeClr val="bg1"/>
                </a:solidFill>
                <a:latin typeface="Arial" panose="020B0604020202020204" pitchFamily="34" charset="0"/>
                <a:cs typeface="Arial" panose="020B0604020202020204" pitchFamily="34" charset="0"/>
              </a:rPr>
              <a:t>Bangladesh DHS data to predict maternal and child health risks and </a:t>
            </a:r>
            <a:endParaRPr lang="en-US" sz="1200" dirty="0" smtClean="0">
              <a:solidFill>
                <a:schemeClr val="bg1"/>
              </a:solidFill>
              <a:latin typeface="Arial" panose="020B0604020202020204" pitchFamily="34" charset="0"/>
              <a:cs typeface="Arial" panose="020B0604020202020204" pitchFamily="34" charset="0"/>
            </a:endParaRPr>
          </a:p>
          <a:p>
            <a:r>
              <a:rPr lang="en-US" sz="1200" dirty="0" smtClean="0">
                <a:solidFill>
                  <a:schemeClr val="bg1"/>
                </a:solidFill>
                <a:latin typeface="Arial" panose="020B0604020202020204" pitchFamily="34" charset="0"/>
                <a:cs typeface="Arial" panose="020B0604020202020204" pitchFamily="34" charset="0"/>
              </a:rPr>
              <a:t>carefully </a:t>
            </a:r>
            <a:r>
              <a:rPr lang="en-US" sz="1200" dirty="0">
                <a:solidFill>
                  <a:schemeClr val="bg1"/>
                </a:solidFill>
                <a:latin typeface="Arial" panose="020B0604020202020204" pitchFamily="34" charset="0"/>
                <a:cs typeface="Arial" panose="020B0604020202020204" pitchFamily="34" charset="0"/>
              </a:rPr>
              <a:t>tests whether the predictions are reliable, fair, and useful in practice.</a:t>
            </a:r>
          </a:p>
        </p:txBody>
      </p:sp>
    </p:spTree>
    <p:extLst>
      <p:ext uri="{BB962C8B-B14F-4D97-AF65-F5344CB8AC3E}">
        <p14:creationId xmlns:p14="http://schemas.microsoft.com/office/powerpoint/2010/main" val="18670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EF6C3F8-E3D6-40BA-B7AB-3D1C61E931EA}"/>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PROJECT CONTRIBUTION</a:t>
            </a:r>
          </a:p>
        </p:txBody>
      </p:sp>
      <p:sp>
        <p:nvSpPr>
          <p:cNvPr id="2" name="Rectangle 1">
            <a:extLst>
              <a:ext uri="{FF2B5EF4-FFF2-40B4-BE49-F238E27FC236}">
                <a16:creationId xmlns:a16="http://schemas.microsoft.com/office/drawing/2014/main" id="{2E5B5B16-C137-4A0C-B4D9-F7C507202CEF}"/>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dirty="0">
                <a:solidFill>
                  <a:srgbClr val="102A43"/>
                </a:solidFill>
                <a:latin typeface="Arial"/>
                <a:ea typeface="Arial"/>
                <a:cs typeface="Arial"/>
              </a:rPr>
              <a:t>The project </a:t>
            </a:r>
            <a:r>
              <a:rPr sz="2475" b="1" i="0" dirty="0" smtClean="0">
                <a:solidFill>
                  <a:srgbClr val="102A43"/>
                </a:solidFill>
                <a:latin typeface="Arial"/>
                <a:ea typeface="Arial"/>
                <a:cs typeface="Arial"/>
              </a:rPr>
              <a:t>chain</a:t>
            </a:r>
            <a:endParaRPr sz="2475" b="1" i="0" dirty="0">
              <a:solidFill>
                <a:srgbClr val="102A43"/>
              </a:solidFill>
              <a:latin typeface="Arial"/>
              <a:ea typeface="Arial"/>
              <a:cs typeface="Arial"/>
            </a:endParaRPr>
          </a:p>
        </p:txBody>
      </p:sp>
      <p:sp>
        <p:nvSpPr>
          <p:cNvPr id="3" name="Rectangle 2">
            <a:extLst>
              <a:ext uri="{FF2B5EF4-FFF2-40B4-BE49-F238E27FC236}">
                <a16:creationId xmlns:a16="http://schemas.microsoft.com/office/drawing/2014/main" id="{A0C1529C-E5E8-440F-BF40-FCE5F2EB5D0C}"/>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02</a:t>
            </a:r>
          </a:p>
        </p:txBody>
      </p:sp>
      <p:sp>
        <p:nvSpPr>
          <p:cNvPr id="4" name="Straight Connector 3">
            <a:extLst>
              <a:ext uri="{FF2B5EF4-FFF2-40B4-BE49-F238E27FC236}">
                <a16:creationId xmlns:a16="http://schemas.microsoft.com/office/drawing/2014/main" id="{1CE68E51-77D2-4EA2-8A60-FF0FFDE522BE}"/>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ectangle 4">
            <a:extLst>
              <a:ext uri="{FF2B5EF4-FFF2-40B4-BE49-F238E27FC236}">
                <a16:creationId xmlns:a16="http://schemas.microsoft.com/office/drawing/2014/main" id="{FE90DDE8-D7EA-4674-B920-2C15BB2BF273}"/>
              </a:ext>
            </a:extLst>
          </p:cNvPr>
          <p:cNvSpPr>
            <a:spLocks noGrp="1"/>
          </p:cNvSpPr>
          <p:nvPr/>
        </p:nvSpPr>
        <p:spPr>
          <a:xfrm>
            <a:off x="685800" y="1428750"/>
            <a:ext cx="10001250" cy="323850"/>
          </a:xfrm>
          <a:prstGeom prst="rect">
            <a:avLst/>
          </a:prstGeom>
          <a:noFill/>
          <a:ln w="0">
            <a:noFill/>
          </a:ln>
        </p:spPr>
        <p:txBody>
          <a:bodyPr lIns="0" tIns="0" rIns="0" bIns="0" anchor="t">
            <a:normAutofit/>
          </a:bodyPr>
          <a:lstStyle/>
          <a:p>
            <a:pPr algn="l">
              <a:lnSpc>
                <a:spcPct val="108000"/>
              </a:lnSpc>
              <a:buNone/>
              <a:defRPr sz="1500" b="0" i="0">
                <a:solidFill>
                  <a:srgbClr val="52606D"/>
                </a:solidFill>
                <a:latin typeface="Arial"/>
                <a:ea typeface="Arial"/>
                <a:cs typeface="Arial"/>
              </a:defRPr>
            </a:pPr>
            <a:r>
              <a:rPr sz="1500" b="0" i="0" dirty="0">
                <a:solidFill>
                  <a:srgbClr val="52606D"/>
                </a:solidFill>
                <a:latin typeface="Arial"/>
                <a:ea typeface="Arial"/>
                <a:cs typeface="Arial"/>
              </a:rPr>
              <a:t>Each stage answers a different question before the final risk score is allowed to speak.</a:t>
            </a:r>
          </a:p>
        </p:txBody>
      </p:sp>
      <p:sp>
        <p:nvSpPr>
          <p:cNvPr id="6" name="Rounded Rectangle 5">
            <a:extLst>
              <a:ext uri="{FF2B5EF4-FFF2-40B4-BE49-F238E27FC236}">
                <a16:creationId xmlns:a16="http://schemas.microsoft.com/office/drawing/2014/main" id="{A6698AA6-D05F-43A3-9A77-866803B5DB47}"/>
              </a:ext>
            </a:extLst>
          </p:cNvPr>
          <p:cNvSpPr>
            <a:spLocks noGrp="1"/>
          </p:cNvSpPr>
          <p:nvPr/>
        </p:nvSpPr>
        <p:spPr>
          <a:xfrm>
            <a:off x="685800" y="2000250"/>
            <a:ext cx="571500" cy="514350"/>
          </a:xfrm>
          <a:prstGeom prst="roundRect">
            <a:avLst>
              <a:gd name="adj" fmla="val 22222"/>
            </a:avLst>
          </a:prstGeom>
          <a:solidFill>
            <a:srgbClr val="163A5F"/>
          </a:solidFill>
          <a:ln w="0">
            <a:noFill/>
            <a:prstDash val="solid"/>
          </a:ln>
        </p:spPr>
      </p:sp>
      <p:sp>
        <p:nvSpPr>
          <p:cNvPr id="7" name="Rectangle 6">
            <a:extLst>
              <a:ext uri="{FF2B5EF4-FFF2-40B4-BE49-F238E27FC236}">
                <a16:creationId xmlns:a16="http://schemas.microsoft.com/office/drawing/2014/main" id="{A82FA284-CDD6-4BD8-AA34-9229261B48AD}"/>
              </a:ext>
            </a:extLst>
          </p:cNvPr>
          <p:cNvSpPr>
            <a:spLocks noGrp="1"/>
          </p:cNvSpPr>
          <p:nvPr/>
        </p:nvSpPr>
        <p:spPr>
          <a:xfrm>
            <a:off x="685800" y="2095500"/>
            <a:ext cx="571500" cy="304800"/>
          </a:xfrm>
          <a:prstGeom prst="rect">
            <a:avLst/>
          </a:prstGeom>
          <a:noFill/>
          <a:ln w="0">
            <a:noFill/>
          </a:ln>
        </p:spPr>
        <p:txBody>
          <a:bodyPr lIns="0" tIns="0" rIns="0" bIns="0" anchor="t">
            <a:normAutofit/>
          </a:bodyPr>
          <a:lstStyle/>
          <a:p>
            <a:pPr algn="ctr">
              <a:lnSpc>
                <a:spcPct val="108000"/>
              </a:lnSpc>
              <a:buNone/>
              <a:defRPr sz="1650" b="1" i="0">
                <a:solidFill>
                  <a:srgbClr val="FFFFFF"/>
                </a:solidFill>
                <a:latin typeface="Arial"/>
                <a:ea typeface="Arial"/>
                <a:cs typeface="Arial"/>
              </a:defRPr>
            </a:pPr>
            <a:r>
              <a:rPr sz="1650" b="1" i="0">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6025FD44-E14F-45A2-90E4-FFCAFD3F145D}"/>
              </a:ext>
            </a:extLst>
          </p:cNvPr>
          <p:cNvSpPr>
            <a:spLocks noGrp="1"/>
          </p:cNvSpPr>
          <p:nvPr/>
        </p:nvSpPr>
        <p:spPr>
          <a:xfrm>
            <a:off x="1524000" y="2028825"/>
            <a:ext cx="3429000" cy="26670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Define the right population</a:t>
            </a:r>
          </a:p>
        </p:txBody>
      </p:sp>
      <p:sp>
        <p:nvSpPr>
          <p:cNvPr id="9" name="Rectangle 8">
            <a:extLst>
              <a:ext uri="{FF2B5EF4-FFF2-40B4-BE49-F238E27FC236}">
                <a16:creationId xmlns:a16="http://schemas.microsoft.com/office/drawing/2014/main" id="{54149510-C770-42B8-92EE-6330CF1AE1E2}"/>
              </a:ext>
            </a:extLst>
          </p:cNvPr>
          <p:cNvSpPr>
            <a:spLocks noGrp="1"/>
          </p:cNvSpPr>
          <p:nvPr/>
        </p:nvSpPr>
        <p:spPr>
          <a:xfrm>
            <a:off x="5191125" y="2038350"/>
            <a:ext cx="5905500" cy="266700"/>
          </a:xfrm>
          <a:prstGeom prst="rect">
            <a:avLst/>
          </a:prstGeom>
          <a:noFill/>
          <a:ln w="0">
            <a:noFill/>
          </a:ln>
        </p:spPr>
        <p:txBody>
          <a:bodyPr lIns="0" tIns="0" rIns="0" bIns="0" anchor="t">
            <a:normAutofit/>
          </a:bodyPr>
          <a:lstStyle/>
          <a:p>
            <a:pPr algn="l">
              <a:lnSpc>
                <a:spcPct val="108000"/>
              </a:lnSpc>
              <a:buNone/>
              <a:defRPr sz="1350" b="0" i="0">
                <a:solidFill>
                  <a:srgbClr val="52606D"/>
                </a:solidFill>
                <a:latin typeface="Arial"/>
                <a:ea typeface="Arial"/>
                <a:cs typeface="Arial"/>
              </a:defRPr>
            </a:pPr>
            <a:r>
              <a:rPr sz="1350" b="0" i="0">
                <a:solidFill>
                  <a:srgbClr val="52606D"/>
                </a:solidFill>
                <a:latin typeface="Arial"/>
                <a:ea typeface="Arial"/>
                <a:cs typeface="Arial"/>
              </a:rPr>
              <a:t>Shorten seven raw universes to four defensible cohorts.</a:t>
            </a:r>
          </a:p>
        </p:txBody>
      </p:sp>
      <p:sp>
        <p:nvSpPr>
          <p:cNvPr id="10" name="Straight Connector 9">
            <a:extLst>
              <a:ext uri="{FF2B5EF4-FFF2-40B4-BE49-F238E27FC236}">
                <a16:creationId xmlns:a16="http://schemas.microsoft.com/office/drawing/2014/main" id="{BCB9CF09-0D1C-4F42-9D4D-68BDEC77960C}"/>
              </a:ext>
            </a:extLst>
          </p:cNvPr>
          <p:cNvSpPr>
            <a:spLocks noGrp="1"/>
          </p:cNvSpPr>
          <p:nvPr/>
        </p:nvSpPr>
        <p:spPr>
          <a:xfrm>
            <a:off x="1524000" y="2600325"/>
            <a:ext cx="9572625" cy="0"/>
          </a:xfrm>
          <a:prstGeom prst="line">
            <a:avLst/>
          </a:prstGeom>
          <a:noFill/>
          <a:ln w="9525">
            <a:solidFill>
              <a:srgbClr val="D9E2EC"/>
            </a:solidFill>
            <a:prstDash val="solid"/>
          </a:ln>
        </p:spPr>
      </p:sp>
      <p:sp>
        <p:nvSpPr>
          <p:cNvPr id="11" name="Rounded Rectangle 10">
            <a:extLst>
              <a:ext uri="{FF2B5EF4-FFF2-40B4-BE49-F238E27FC236}">
                <a16:creationId xmlns:a16="http://schemas.microsoft.com/office/drawing/2014/main" id="{4F93AFFD-5EAC-4AEE-B434-1AC7C6570644}"/>
              </a:ext>
            </a:extLst>
          </p:cNvPr>
          <p:cNvSpPr>
            <a:spLocks noGrp="1"/>
          </p:cNvSpPr>
          <p:nvPr/>
        </p:nvSpPr>
        <p:spPr>
          <a:xfrm>
            <a:off x="685800" y="2743200"/>
            <a:ext cx="571500" cy="514350"/>
          </a:xfrm>
          <a:prstGeom prst="roundRect">
            <a:avLst>
              <a:gd name="adj" fmla="val 22222"/>
            </a:avLst>
          </a:prstGeom>
          <a:solidFill>
            <a:srgbClr val="163A5F"/>
          </a:solidFill>
          <a:ln w="0">
            <a:noFill/>
            <a:prstDash val="solid"/>
          </a:ln>
        </p:spPr>
      </p:sp>
      <p:sp>
        <p:nvSpPr>
          <p:cNvPr id="12" name="Rectangle 11">
            <a:extLst>
              <a:ext uri="{FF2B5EF4-FFF2-40B4-BE49-F238E27FC236}">
                <a16:creationId xmlns:a16="http://schemas.microsoft.com/office/drawing/2014/main" id="{C3BBA8E9-B00E-4253-99B4-3E4C39C900C2}"/>
              </a:ext>
            </a:extLst>
          </p:cNvPr>
          <p:cNvSpPr>
            <a:spLocks noGrp="1"/>
          </p:cNvSpPr>
          <p:nvPr/>
        </p:nvSpPr>
        <p:spPr>
          <a:xfrm>
            <a:off x="685800" y="2838450"/>
            <a:ext cx="571500" cy="304800"/>
          </a:xfrm>
          <a:prstGeom prst="rect">
            <a:avLst/>
          </a:prstGeom>
          <a:noFill/>
          <a:ln w="0">
            <a:noFill/>
          </a:ln>
        </p:spPr>
        <p:txBody>
          <a:bodyPr lIns="0" tIns="0" rIns="0" bIns="0" anchor="t">
            <a:normAutofit/>
          </a:bodyPr>
          <a:lstStyle/>
          <a:p>
            <a:pPr algn="ctr">
              <a:lnSpc>
                <a:spcPct val="108000"/>
              </a:lnSpc>
              <a:buNone/>
              <a:defRPr sz="1650" b="1" i="0">
                <a:solidFill>
                  <a:srgbClr val="FFFFFF"/>
                </a:solidFill>
                <a:latin typeface="Arial"/>
                <a:ea typeface="Arial"/>
                <a:cs typeface="Arial"/>
              </a:defRPr>
            </a:pPr>
            <a:r>
              <a:rPr sz="1650" b="1" i="0">
                <a:solidFill>
                  <a:srgbClr val="FFFFFF"/>
                </a:solidFill>
                <a:latin typeface="Arial"/>
                <a:ea typeface="Arial"/>
                <a:cs typeface="Arial"/>
              </a:rPr>
              <a:t>2</a:t>
            </a:r>
          </a:p>
        </p:txBody>
      </p:sp>
      <p:sp>
        <p:nvSpPr>
          <p:cNvPr id="13" name="Rectangle 12">
            <a:extLst>
              <a:ext uri="{FF2B5EF4-FFF2-40B4-BE49-F238E27FC236}">
                <a16:creationId xmlns:a16="http://schemas.microsoft.com/office/drawing/2014/main" id="{BB48A94E-BF46-4285-B8A0-4580091423B4}"/>
              </a:ext>
            </a:extLst>
          </p:cNvPr>
          <p:cNvSpPr>
            <a:spLocks noGrp="1"/>
          </p:cNvSpPr>
          <p:nvPr/>
        </p:nvSpPr>
        <p:spPr>
          <a:xfrm>
            <a:off x="1524000" y="2771775"/>
            <a:ext cx="3429000" cy="26670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Protect the label</a:t>
            </a:r>
          </a:p>
        </p:txBody>
      </p:sp>
      <p:sp>
        <p:nvSpPr>
          <p:cNvPr id="14" name="Rectangle 13">
            <a:extLst>
              <a:ext uri="{FF2B5EF4-FFF2-40B4-BE49-F238E27FC236}">
                <a16:creationId xmlns:a16="http://schemas.microsoft.com/office/drawing/2014/main" id="{770FBB50-D966-4913-923D-04E6C282696C}"/>
              </a:ext>
            </a:extLst>
          </p:cNvPr>
          <p:cNvSpPr>
            <a:spLocks noGrp="1"/>
          </p:cNvSpPr>
          <p:nvPr/>
        </p:nvSpPr>
        <p:spPr>
          <a:xfrm>
            <a:off x="5191125" y="2781300"/>
            <a:ext cx="5905500" cy="266700"/>
          </a:xfrm>
          <a:prstGeom prst="rect">
            <a:avLst/>
          </a:prstGeom>
          <a:noFill/>
          <a:ln w="0">
            <a:noFill/>
          </a:ln>
        </p:spPr>
        <p:txBody>
          <a:bodyPr lIns="0" tIns="0" rIns="0" bIns="0" anchor="t">
            <a:normAutofit/>
          </a:bodyPr>
          <a:lstStyle/>
          <a:p>
            <a:pPr algn="l">
              <a:lnSpc>
                <a:spcPct val="108000"/>
              </a:lnSpc>
              <a:buNone/>
              <a:defRPr sz="1350" b="0" i="0">
                <a:solidFill>
                  <a:srgbClr val="52606D"/>
                </a:solidFill>
                <a:latin typeface="Arial"/>
                <a:ea typeface="Arial"/>
                <a:cs typeface="Arial"/>
              </a:defRPr>
            </a:pPr>
            <a:r>
              <a:rPr sz="1350" b="0" i="0">
                <a:solidFill>
                  <a:srgbClr val="52606D"/>
                </a:solidFill>
                <a:latin typeface="Arial"/>
                <a:ea typeface="Arial"/>
                <a:cs typeface="Arial"/>
              </a:rPr>
              <a:t>Remove post-outcome, definitional, arithmetic and missingness leakage.</a:t>
            </a:r>
          </a:p>
        </p:txBody>
      </p:sp>
      <p:sp>
        <p:nvSpPr>
          <p:cNvPr id="15" name="Straight Connector 14">
            <a:extLst>
              <a:ext uri="{FF2B5EF4-FFF2-40B4-BE49-F238E27FC236}">
                <a16:creationId xmlns:a16="http://schemas.microsoft.com/office/drawing/2014/main" id="{7F19EAFA-2504-437B-AD6A-CD8EF7FE1542}"/>
              </a:ext>
            </a:extLst>
          </p:cNvPr>
          <p:cNvSpPr>
            <a:spLocks noGrp="1"/>
          </p:cNvSpPr>
          <p:nvPr/>
        </p:nvSpPr>
        <p:spPr>
          <a:xfrm>
            <a:off x="1524000" y="3343275"/>
            <a:ext cx="9572625" cy="0"/>
          </a:xfrm>
          <a:prstGeom prst="line">
            <a:avLst/>
          </a:prstGeom>
          <a:noFill/>
          <a:ln w="9525">
            <a:solidFill>
              <a:srgbClr val="D9E2EC"/>
            </a:solidFill>
            <a:prstDash val="solid"/>
          </a:ln>
        </p:spPr>
      </p:sp>
      <p:sp>
        <p:nvSpPr>
          <p:cNvPr id="16" name="Rounded Rectangle 15">
            <a:extLst>
              <a:ext uri="{FF2B5EF4-FFF2-40B4-BE49-F238E27FC236}">
                <a16:creationId xmlns:a16="http://schemas.microsoft.com/office/drawing/2014/main" id="{3C8CEADB-AEDE-490D-984E-97BE58D04C90}"/>
              </a:ext>
            </a:extLst>
          </p:cNvPr>
          <p:cNvSpPr>
            <a:spLocks noGrp="1"/>
          </p:cNvSpPr>
          <p:nvPr/>
        </p:nvSpPr>
        <p:spPr>
          <a:xfrm>
            <a:off x="685800" y="3486150"/>
            <a:ext cx="571500" cy="514350"/>
          </a:xfrm>
          <a:prstGeom prst="roundRect">
            <a:avLst>
              <a:gd name="adj" fmla="val 22222"/>
            </a:avLst>
          </a:prstGeom>
          <a:solidFill>
            <a:srgbClr val="163A5F"/>
          </a:solidFill>
          <a:ln w="0">
            <a:noFill/>
            <a:prstDash val="solid"/>
          </a:ln>
        </p:spPr>
      </p:sp>
      <p:sp>
        <p:nvSpPr>
          <p:cNvPr id="17" name="Rectangle 16">
            <a:extLst>
              <a:ext uri="{FF2B5EF4-FFF2-40B4-BE49-F238E27FC236}">
                <a16:creationId xmlns:a16="http://schemas.microsoft.com/office/drawing/2014/main" id="{4517C6E3-4402-4F8A-B136-AFEF0067D0F9}"/>
              </a:ext>
            </a:extLst>
          </p:cNvPr>
          <p:cNvSpPr>
            <a:spLocks noGrp="1"/>
          </p:cNvSpPr>
          <p:nvPr/>
        </p:nvSpPr>
        <p:spPr>
          <a:xfrm>
            <a:off x="685800" y="3581400"/>
            <a:ext cx="571500" cy="304800"/>
          </a:xfrm>
          <a:prstGeom prst="rect">
            <a:avLst/>
          </a:prstGeom>
          <a:noFill/>
          <a:ln w="0">
            <a:noFill/>
          </a:ln>
        </p:spPr>
        <p:txBody>
          <a:bodyPr lIns="0" tIns="0" rIns="0" bIns="0" anchor="t">
            <a:normAutofit/>
          </a:bodyPr>
          <a:lstStyle/>
          <a:p>
            <a:pPr algn="ctr">
              <a:lnSpc>
                <a:spcPct val="108000"/>
              </a:lnSpc>
              <a:buNone/>
              <a:defRPr sz="1650" b="1" i="0">
                <a:solidFill>
                  <a:srgbClr val="FFFFFF"/>
                </a:solidFill>
                <a:latin typeface="Arial"/>
                <a:ea typeface="Arial"/>
                <a:cs typeface="Arial"/>
              </a:defRPr>
            </a:pPr>
            <a:r>
              <a:rPr sz="1650" b="1" i="0">
                <a:solidFill>
                  <a:srgbClr val="FFFFFF"/>
                </a:solidFill>
                <a:latin typeface="Arial"/>
                <a:ea typeface="Arial"/>
                <a:cs typeface="Arial"/>
              </a:rPr>
              <a:t>3</a:t>
            </a:r>
          </a:p>
        </p:txBody>
      </p:sp>
      <p:sp>
        <p:nvSpPr>
          <p:cNvPr id="18" name="Rectangle 17">
            <a:extLst>
              <a:ext uri="{FF2B5EF4-FFF2-40B4-BE49-F238E27FC236}">
                <a16:creationId xmlns:a16="http://schemas.microsoft.com/office/drawing/2014/main" id="{DFE6D65E-B1E5-4352-8DF4-B80BDBB2C3D2}"/>
              </a:ext>
            </a:extLst>
          </p:cNvPr>
          <p:cNvSpPr>
            <a:spLocks noGrp="1"/>
          </p:cNvSpPr>
          <p:nvPr/>
        </p:nvSpPr>
        <p:spPr>
          <a:xfrm>
            <a:off x="1524000" y="3514725"/>
            <a:ext cx="3429000" cy="26670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Measure the population</a:t>
            </a:r>
          </a:p>
        </p:txBody>
      </p:sp>
      <p:sp>
        <p:nvSpPr>
          <p:cNvPr id="19" name="Rectangle 18">
            <a:extLst>
              <a:ext uri="{FF2B5EF4-FFF2-40B4-BE49-F238E27FC236}">
                <a16:creationId xmlns:a16="http://schemas.microsoft.com/office/drawing/2014/main" id="{77AEC945-D583-453B-80B0-547DD681D0CF}"/>
              </a:ext>
            </a:extLst>
          </p:cNvPr>
          <p:cNvSpPr>
            <a:spLocks noGrp="1"/>
          </p:cNvSpPr>
          <p:nvPr/>
        </p:nvSpPr>
        <p:spPr>
          <a:xfrm>
            <a:off x="5191125" y="3524250"/>
            <a:ext cx="5905500" cy="266700"/>
          </a:xfrm>
          <a:prstGeom prst="rect">
            <a:avLst/>
          </a:prstGeom>
          <a:noFill/>
          <a:ln w="0">
            <a:noFill/>
          </a:ln>
        </p:spPr>
        <p:txBody>
          <a:bodyPr lIns="0" tIns="0" rIns="0" bIns="0" anchor="t">
            <a:normAutofit/>
          </a:bodyPr>
          <a:lstStyle/>
          <a:p>
            <a:pPr algn="l">
              <a:lnSpc>
                <a:spcPct val="108000"/>
              </a:lnSpc>
              <a:buNone/>
              <a:defRPr sz="1350" b="0" i="0">
                <a:solidFill>
                  <a:srgbClr val="52606D"/>
                </a:solidFill>
                <a:latin typeface="Arial"/>
                <a:ea typeface="Arial"/>
                <a:cs typeface="Arial"/>
              </a:defRPr>
            </a:pPr>
            <a:r>
              <a:rPr sz="1350" b="0" i="0">
                <a:solidFill>
                  <a:srgbClr val="52606D"/>
                </a:solidFill>
                <a:latin typeface="Arial"/>
                <a:ea typeface="Arial"/>
                <a:cs typeface="Arial"/>
              </a:rPr>
              <a:t>Use survey weights, clusters, strata, EDA and data-quality checks.</a:t>
            </a:r>
          </a:p>
        </p:txBody>
      </p:sp>
      <p:sp>
        <p:nvSpPr>
          <p:cNvPr id="20" name="Straight Connector 19">
            <a:extLst>
              <a:ext uri="{FF2B5EF4-FFF2-40B4-BE49-F238E27FC236}">
                <a16:creationId xmlns:a16="http://schemas.microsoft.com/office/drawing/2014/main" id="{26F14742-41B7-49CD-92BB-969480837416}"/>
              </a:ext>
            </a:extLst>
          </p:cNvPr>
          <p:cNvSpPr>
            <a:spLocks noGrp="1"/>
          </p:cNvSpPr>
          <p:nvPr/>
        </p:nvSpPr>
        <p:spPr>
          <a:xfrm>
            <a:off x="1524000" y="4086225"/>
            <a:ext cx="9572625" cy="0"/>
          </a:xfrm>
          <a:prstGeom prst="line">
            <a:avLst/>
          </a:prstGeom>
          <a:noFill/>
          <a:ln w="9525">
            <a:solidFill>
              <a:srgbClr val="D9E2EC"/>
            </a:solidFill>
            <a:prstDash val="solid"/>
          </a:ln>
        </p:spPr>
      </p:sp>
      <p:sp>
        <p:nvSpPr>
          <p:cNvPr id="21" name="Rounded Rectangle 20">
            <a:extLst>
              <a:ext uri="{FF2B5EF4-FFF2-40B4-BE49-F238E27FC236}">
                <a16:creationId xmlns:a16="http://schemas.microsoft.com/office/drawing/2014/main" id="{8E491FEF-95BC-4FDE-962C-C84A4F8D2448}"/>
              </a:ext>
            </a:extLst>
          </p:cNvPr>
          <p:cNvSpPr>
            <a:spLocks noGrp="1"/>
          </p:cNvSpPr>
          <p:nvPr/>
        </p:nvSpPr>
        <p:spPr>
          <a:xfrm>
            <a:off x="685800" y="4229100"/>
            <a:ext cx="571500" cy="514350"/>
          </a:xfrm>
          <a:prstGeom prst="roundRect">
            <a:avLst>
              <a:gd name="adj" fmla="val 22222"/>
            </a:avLst>
          </a:prstGeom>
          <a:solidFill>
            <a:srgbClr val="163A5F"/>
          </a:solidFill>
          <a:ln w="0">
            <a:noFill/>
            <a:prstDash val="solid"/>
          </a:ln>
        </p:spPr>
      </p:sp>
      <p:sp>
        <p:nvSpPr>
          <p:cNvPr id="22" name="Rectangle 21">
            <a:extLst>
              <a:ext uri="{FF2B5EF4-FFF2-40B4-BE49-F238E27FC236}">
                <a16:creationId xmlns:a16="http://schemas.microsoft.com/office/drawing/2014/main" id="{076194CE-F4A9-48E3-B2B3-4C6208480FD4}"/>
              </a:ext>
            </a:extLst>
          </p:cNvPr>
          <p:cNvSpPr>
            <a:spLocks noGrp="1"/>
          </p:cNvSpPr>
          <p:nvPr/>
        </p:nvSpPr>
        <p:spPr>
          <a:xfrm>
            <a:off x="685800" y="4324350"/>
            <a:ext cx="571500" cy="304800"/>
          </a:xfrm>
          <a:prstGeom prst="rect">
            <a:avLst/>
          </a:prstGeom>
          <a:noFill/>
          <a:ln w="0">
            <a:noFill/>
          </a:ln>
        </p:spPr>
        <p:txBody>
          <a:bodyPr lIns="0" tIns="0" rIns="0" bIns="0" anchor="t">
            <a:normAutofit/>
          </a:bodyPr>
          <a:lstStyle/>
          <a:p>
            <a:pPr algn="ctr">
              <a:lnSpc>
                <a:spcPct val="108000"/>
              </a:lnSpc>
              <a:buNone/>
              <a:defRPr sz="1650" b="1" i="0">
                <a:solidFill>
                  <a:srgbClr val="FFFFFF"/>
                </a:solidFill>
                <a:latin typeface="Arial"/>
                <a:ea typeface="Arial"/>
                <a:cs typeface="Arial"/>
              </a:defRPr>
            </a:pPr>
            <a:r>
              <a:rPr sz="1650" b="1" i="0">
                <a:solidFill>
                  <a:srgbClr val="FFFFFF"/>
                </a:solidFill>
                <a:latin typeface="Arial"/>
                <a:ea typeface="Arial"/>
                <a:cs typeface="Arial"/>
              </a:rPr>
              <a:t>4</a:t>
            </a:r>
          </a:p>
        </p:txBody>
      </p:sp>
      <p:sp>
        <p:nvSpPr>
          <p:cNvPr id="23" name="Rectangle 22">
            <a:extLst>
              <a:ext uri="{FF2B5EF4-FFF2-40B4-BE49-F238E27FC236}">
                <a16:creationId xmlns:a16="http://schemas.microsoft.com/office/drawing/2014/main" id="{10DBF96C-073C-48C8-A553-BB222DD0DBB5}"/>
              </a:ext>
            </a:extLst>
          </p:cNvPr>
          <p:cNvSpPr>
            <a:spLocks noGrp="1"/>
          </p:cNvSpPr>
          <p:nvPr/>
        </p:nvSpPr>
        <p:spPr>
          <a:xfrm>
            <a:off x="1524000" y="4257675"/>
            <a:ext cx="3429000" cy="26670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Benchmark and stress-test</a:t>
            </a:r>
          </a:p>
        </p:txBody>
      </p:sp>
      <p:sp>
        <p:nvSpPr>
          <p:cNvPr id="24" name="Rectangle 23">
            <a:extLst>
              <a:ext uri="{FF2B5EF4-FFF2-40B4-BE49-F238E27FC236}">
                <a16:creationId xmlns:a16="http://schemas.microsoft.com/office/drawing/2014/main" id="{8D60E01B-7DC4-40CD-AD32-AD35DF98FB8B}"/>
              </a:ext>
            </a:extLst>
          </p:cNvPr>
          <p:cNvSpPr>
            <a:spLocks noGrp="1"/>
          </p:cNvSpPr>
          <p:nvPr/>
        </p:nvSpPr>
        <p:spPr>
          <a:xfrm>
            <a:off x="5191125" y="4267200"/>
            <a:ext cx="5905500" cy="266700"/>
          </a:xfrm>
          <a:prstGeom prst="rect">
            <a:avLst/>
          </a:prstGeom>
          <a:noFill/>
          <a:ln w="0">
            <a:noFill/>
          </a:ln>
        </p:spPr>
        <p:txBody>
          <a:bodyPr lIns="0" tIns="0" rIns="0" bIns="0" anchor="t">
            <a:normAutofit/>
          </a:bodyPr>
          <a:lstStyle/>
          <a:p>
            <a:pPr algn="l">
              <a:lnSpc>
                <a:spcPct val="108000"/>
              </a:lnSpc>
              <a:buNone/>
              <a:defRPr sz="1350" b="0" i="0">
                <a:solidFill>
                  <a:srgbClr val="52606D"/>
                </a:solidFill>
                <a:latin typeface="Arial"/>
                <a:ea typeface="Arial"/>
                <a:cs typeface="Arial"/>
              </a:defRPr>
            </a:pPr>
            <a:r>
              <a:rPr sz="1350" b="0" i="0">
                <a:solidFill>
                  <a:srgbClr val="52606D"/>
                </a:solidFill>
                <a:latin typeface="Arial"/>
                <a:ea typeface="Arial"/>
                <a:cs typeface="Arial"/>
              </a:rPr>
              <a:t>Compare models, thresholds, calibration, transport and equity.</a:t>
            </a:r>
          </a:p>
        </p:txBody>
      </p:sp>
      <p:sp>
        <p:nvSpPr>
          <p:cNvPr id="25" name="Straight Connector 24">
            <a:extLst>
              <a:ext uri="{FF2B5EF4-FFF2-40B4-BE49-F238E27FC236}">
                <a16:creationId xmlns:a16="http://schemas.microsoft.com/office/drawing/2014/main" id="{1086B150-41A4-4723-BF46-E3E8437EFE17}"/>
              </a:ext>
            </a:extLst>
          </p:cNvPr>
          <p:cNvSpPr>
            <a:spLocks noGrp="1"/>
          </p:cNvSpPr>
          <p:nvPr/>
        </p:nvSpPr>
        <p:spPr>
          <a:xfrm>
            <a:off x="1524000" y="4829175"/>
            <a:ext cx="9572625" cy="0"/>
          </a:xfrm>
          <a:prstGeom prst="line">
            <a:avLst/>
          </a:prstGeom>
          <a:noFill/>
          <a:ln w="9525">
            <a:solidFill>
              <a:srgbClr val="D9E2EC"/>
            </a:solidFill>
            <a:prstDash val="solid"/>
          </a:ln>
        </p:spPr>
      </p:sp>
      <p:sp>
        <p:nvSpPr>
          <p:cNvPr id="26" name="Rounded Rectangle 25">
            <a:extLst>
              <a:ext uri="{FF2B5EF4-FFF2-40B4-BE49-F238E27FC236}">
                <a16:creationId xmlns:a16="http://schemas.microsoft.com/office/drawing/2014/main" id="{DE6C1764-CA6C-4CC9-98F9-4A80DB33DE2F}"/>
              </a:ext>
            </a:extLst>
          </p:cNvPr>
          <p:cNvSpPr>
            <a:spLocks noGrp="1"/>
          </p:cNvSpPr>
          <p:nvPr/>
        </p:nvSpPr>
        <p:spPr>
          <a:xfrm>
            <a:off x="685800" y="4972050"/>
            <a:ext cx="571500" cy="514350"/>
          </a:xfrm>
          <a:prstGeom prst="roundRect">
            <a:avLst>
              <a:gd name="adj" fmla="val 22222"/>
            </a:avLst>
          </a:prstGeom>
          <a:solidFill>
            <a:srgbClr val="0F766E"/>
          </a:solidFill>
          <a:ln w="0">
            <a:noFill/>
            <a:prstDash val="solid"/>
          </a:ln>
        </p:spPr>
      </p:sp>
      <p:sp>
        <p:nvSpPr>
          <p:cNvPr id="27" name="Rectangle 26">
            <a:extLst>
              <a:ext uri="{FF2B5EF4-FFF2-40B4-BE49-F238E27FC236}">
                <a16:creationId xmlns:a16="http://schemas.microsoft.com/office/drawing/2014/main" id="{46B9A517-B737-4F8D-B0D1-7D738947F4A5}"/>
              </a:ext>
            </a:extLst>
          </p:cNvPr>
          <p:cNvSpPr>
            <a:spLocks noGrp="1"/>
          </p:cNvSpPr>
          <p:nvPr/>
        </p:nvSpPr>
        <p:spPr>
          <a:xfrm>
            <a:off x="685800" y="5067300"/>
            <a:ext cx="571500" cy="304800"/>
          </a:xfrm>
          <a:prstGeom prst="rect">
            <a:avLst/>
          </a:prstGeom>
          <a:noFill/>
          <a:ln w="0">
            <a:noFill/>
          </a:ln>
        </p:spPr>
        <p:txBody>
          <a:bodyPr lIns="0" tIns="0" rIns="0" bIns="0" anchor="t">
            <a:normAutofit/>
          </a:bodyPr>
          <a:lstStyle/>
          <a:p>
            <a:pPr algn="ctr">
              <a:lnSpc>
                <a:spcPct val="108000"/>
              </a:lnSpc>
              <a:buNone/>
              <a:defRPr sz="1650" b="1" i="0">
                <a:solidFill>
                  <a:srgbClr val="FFFFFF"/>
                </a:solidFill>
                <a:latin typeface="Arial"/>
                <a:ea typeface="Arial"/>
                <a:cs typeface="Arial"/>
              </a:defRPr>
            </a:pPr>
            <a:r>
              <a:rPr sz="1650" b="1" i="0">
                <a:solidFill>
                  <a:srgbClr val="FFFFFF"/>
                </a:solidFill>
                <a:latin typeface="Arial"/>
                <a:ea typeface="Arial"/>
                <a:cs typeface="Arial"/>
              </a:rPr>
              <a:t>5</a:t>
            </a:r>
          </a:p>
        </p:txBody>
      </p:sp>
      <p:sp>
        <p:nvSpPr>
          <p:cNvPr id="28" name="Rectangle 27">
            <a:extLst>
              <a:ext uri="{FF2B5EF4-FFF2-40B4-BE49-F238E27FC236}">
                <a16:creationId xmlns:a16="http://schemas.microsoft.com/office/drawing/2014/main" id="{247C0819-F035-4CCF-8E78-06772A98EE6A}"/>
              </a:ext>
            </a:extLst>
          </p:cNvPr>
          <p:cNvSpPr>
            <a:spLocks noGrp="1"/>
          </p:cNvSpPr>
          <p:nvPr/>
        </p:nvSpPr>
        <p:spPr>
          <a:xfrm>
            <a:off x="1524000" y="5000625"/>
            <a:ext cx="3429000" cy="26670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Turn scores into action</a:t>
            </a:r>
          </a:p>
        </p:txBody>
      </p:sp>
      <p:sp>
        <p:nvSpPr>
          <p:cNvPr id="29" name="Rectangle 28">
            <a:extLst>
              <a:ext uri="{FF2B5EF4-FFF2-40B4-BE49-F238E27FC236}">
                <a16:creationId xmlns:a16="http://schemas.microsoft.com/office/drawing/2014/main" id="{0F9A52CC-AD51-46A7-B275-F86E4F3D03E9}"/>
              </a:ext>
            </a:extLst>
          </p:cNvPr>
          <p:cNvSpPr>
            <a:spLocks noGrp="1"/>
          </p:cNvSpPr>
          <p:nvPr/>
        </p:nvSpPr>
        <p:spPr>
          <a:xfrm>
            <a:off x="5191125" y="5010150"/>
            <a:ext cx="5905500" cy="266700"/>
          </a:xfrm>
          <a:prstGeom prst="rect">
            <a:avLst/>
          </a:prstGeom>
          <a:noFill/>
          <a:ln w="0">
            <a:noFill/>
          </a:ln>
        </p:spPr>
        <p:txBody>
          <a:bodyPr lIns="0" tIns="0" rIns="0" bIns="0" anchor="t">
            <a:normAutofit/>
          </a:bodyPr>
          <a:lstStyle/>
          <a:p>
            <a:pPr algn="l">
              <a:lnSpc>
                <a:spcPct val="108000"/>
              </a:lnSpc>
              <a:buNone/>
              <a:defRPr sz="1350" b="0" i="0">
                <a:solidFill>
                  <a:srgbClr val="52606D"/>
                </a:solidFill>
                <a:latin typeface="Arial"/>
                <a:ea typeface="Arial"/>
                <a:cs typeface="Arial"/>
              </a:defRPr>
            </a:pPr>
            <a:r>
              <a:rPr sz="1350" b="0" i="0">
                <a:solidFill>
                  <a:srgbClr val="52606D"/>
                </a:solidFill>
                <a:latin typeface="Arial"/>
                <a:ea typeface="Arial"/>
                <a:cs typeface="Arial"/>
              </a:rPr>
              <a:t>Use uncertainty, anomalies and a phased maternal-child cascade.</a:t>
            </a:r>
          </a:p>
        </p:txBody>
      </p:sp>
      <p:sp>
        <p:nvSpPr>
          <p:cNvPr id="30" name="Rectangle 29">
            <a:extLst>
              <a:ext uri="{FF2B5EF4-FFF2-40B4-BE49-F238E27FC236}">
                <a16:creationId xmlns:a16="http://schemas.microsoft.com/office/drawing/2014/main" id="{F651B8B9-EC2A-4CDC-BD36-C72A5C6ABB12}"/>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1:06</a:t>
            </a:r>
          </a:p>
        </p:txBody>
      </p:sp>
      <p:sp>
        <p:nvSpPr>
          <p:cNvPr id="31" name="Rectangle 30">
            <a:extLst>
              <a:ext uri="{FF2B5EF4-FFF2-40B4-BE49-F238E27FC236}">
                <a16:creationId xmlns:a16="http://schemas.microsoft.com/office/drawing/2014/main" id="{31F6E182-45A8-43E1-ADE3-1FE2DE93B1C8}"/>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11-16, 129-242</a:t>
            </a:r>
          </a:p>
        </p:txBody>
      </p:sp>
      <p:sp>
        <p:nvSpPr>
          <p:cNvPr id="32" name="Rectangle 31">
            <a:extLst>
              <a:ext uri="{FF2B5EF4-FFF2-40B4-BE49-F238E27FC236}">
                <a16:creationId xmlns:a16="http://schemas.microsoft.com/office/drawing/2014/main" id="{9FAF2773-7EDB-4E49-ABFA-EA03266F2406}"/>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031254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7E5D1A-3D75-4B0A-875F-3137E5FC3EE4}"/>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COHORT CONSTRUCTION</a:t>
            </a:r>
          </a:p>
        </p:txBody>
      </p:sp>
      <p:sp>
        <p:nvSpPr>
          <p:cNvPr id="2" name="Rectangle 1">
            <a:extLst>
              <a:ext uri="{FF2B5EF4-FFF2-40B4-BE49-F238E27FC236}">
                <a16:creationId xmlns:a16="http://schemas.microsoft.com/office/drawing/2014/main" id="{841484CC-DED5-4472-AE68-DACD26F93A5A}"/>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Why we shortened the cohorts before modelling</a:t>
            </a:r>
          </a:p>
        </p:txBody>
      </p:sp>
      <p:sp>
        <p:nvSpPr>
          <p:cNvPr id="3" name="Rectangle 2">
            <a:extLst>
              <a:ext uri="{FF2B5EF4-FFF2-40B4-BE49-F238E27FC236}">
                <a16:creationId xmlns:a16="http://schemas.microsoft.com/office/drawing/2014/main" id="{439CC075-0C5A-4D08-98B0-6B49C97A5D2E}"/>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03</a:t>
            </a:r>
          </a:p>
        </p:txBody>
      </p:sp>
      <p:sp>
        <p:nvSpPr>
          <p:cNvPr id="4" name="Straight Connector 3">
            <a:extLst>
              <a:ext uri="{FF2B5EF4-FFF2-40B4-BE49-F238E27FC236}">
                <a16:creationId xmlns:a16="http://schemas.microsoft.com/office/drawing/2014/main" id="{C6C4ACBD-EE29-45FD-88A6-7DBE9B808DC6}"/>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ectangle 4">
            <a:extLst>
              <a:ext uri="{FF2B5EF4-FFF2-40B4-BE49-F238E27FC236}">
                <a16:creationId xmlns:a16="http://schemas.microsoft.com/office/drawing/2014/main" id="{E6BEE4B8-7CB2-46BC-968C-4CB5ED012DCE}"/>
              </a:ext>
            </a:extLst>
          </p:cNvPr>
          <p:cNvSpPr>
            <a:spLocks noGrp="1"/>
          </p:cNvSpPr>
          <p:nvPr/>
        </p:nvSpPr>
        <p:spPr>
          <a:xfrm>
            <a:off x="685800" y="1428750"/>
            <a:ext cx="10287000" cy="400050"/>
          </a:xfrm>
          <a:prstGeom prst="rect">
            <a:avLst/>
          </a:prstGeom>
          <a:noFill/>
          <a:ln w="0">
            <a:noFill/>
          </a:ln>
        </p:spPr>
        <p:txBody>
          <a:bodyPr lIns="0" tIns="0" rIns="0" bIns="0" anchor="t">
            <a:normAutofit fontScale="92177"/>
          </a:bodyPr>
          <a:lstStyle/>
          <a:p>
            <a:pPr algn="l">
              <a:lnSpc>
                <a:spcPct val="108000"/>
              </a:lnSpc>
              <a:buNone/>
              <a:defRPr sz="1500" b="0" i="0">
                <a:solidFill>
                  <a:srgbClr val="52606D"/>
                </a:solidFill>
                <a:latin typeface="Arial"/>
                <a:ea typeface="Arial"/>
                <a:cs typeface="Arial"/>
              </a:defRPr>
            </a:pPr>
            <a:r>
              <a:rPr sz="1500" b="0" i="0">
                <a:solidFill>
                  <a:srgbClr val="52606D"/>
                </a:solidFill>
                <a:latin typeface="Arial"/>
                <a:ea typeface="Arial"/>
                <a:cs typeface="Arial"/>
              </a:rPr>
              <a:t>The complete notebook began with seven possible universes. We retained only the four needed by the final target registry.</a:t>
            </a:r>
          </a:p>
        </p:txBody>
      </p:sp>
      <p:graphicFrame>
        <p:nvGraphicFramePr>
          <p:cNvPr id="24" name="Table 23"/>
          <p:cNvGraphicFramePr/>
          <p:nvPr/>
        </p:nvGraphicFramePr>
        <p:xfrm>
          <a:off x="685800" y="2133600"/>
          <a:ext cx="6858000" cy="2609850"/>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tblGrid>
              <a:tr h="521970">
                <a:tc>
                  <a:txBody>
                    <a:bodyPr/>
                    <a:lstStyle/>
                    <a:p>
                      <a:pPr algn="l"/>
                      <a:r>
                        <a:rPr sz="1050" b="1">
                          <a:solidFill>
                            <a:srgbClr val="FFFFFF"/>
                          </a:solidFill>
                          <a:latin typeface="Arial"/>
                          <a:ea typeface="Arial"/>
                          <a:cs typeface="Arial"/>
                        </a:rPr>
                        <a:t>Retained cohort</a:t>
                      </a:r>
                    </a:p>
                  </a:txBody>
                  <a:tcPr anchor="ctr">
                    <a:solidFill>
                      <a:srgbClr val="102A43"/>
                    </a:solidFill>
                  </a:tcPr>
                </a:tc>
                <a:tc>
                  <a:txBody>
                    <a:bodyPr/>
                    <a:lstStyle/>
                    <a:p>
                      <a:pPr algn="l"/>
                      <a:r>
                        <a:rPr sz="1050" b="1">
                          <a:solidFill>
                            <a:srgbClr val="FFFFFF"/>
                          </a:solidFill>
                          <a:latin typeface="Arial"/>
                          <a:ea typeface="Arial"/>
                          <a:cs typeface="Arial"/>
                        </a:rPr>
                        <a:t>Purpose</a:t>
                      </a:r>
                    </a:p>
                  </a:txBody>
                  <a:tcPr anchor="ctr">
                    <a:solidFill>
                      <a:srgbClr val="102A43"/>
                    </a:solidFill>
                  </a:tcPr>
                </a:tc>
                <a:tc>
                  <a:txBody>
                    <a:bodyPr/>
                    <a:lstStyle/>
                    <a:p>
                      <a:pPr algn="r"/>
                      <a:r>
                        <a:rPr sz="1050" b="1">
                          <a:solidFill>
                            <a:srgbClr val="FFFFFF"/>
                          </a:solidFill>
                          <a:latin typeface="Arial"/>
                          <a:ea typeface="Arial"/>
                          <a:cs typeface="Arial"/>
                        </a:rPr>
                        <a:t>Rows</a:t>
                      </a:r>
                    </a:p>
                  </a:txBody>
                  <a:tcPr anchor="ctr">
                    <a:solidFill>
                      <a:srgbClr val="102A43"/>
                    </a:solidFill>
                  </a:tcPr>
                </a:tc>
                <a:extLst>
                  <a:ext uri="{0D108BD9-81ED-4DB2-BD59-A6C34878D82A}">
                    <a16:rowId xmlns:a16="http://schemas.microsoft.com/office/drawing/2014/main" val="10000"/>
                  </a:ext>
                </a:extLst>
              </a:tr>
              <a:tr h="521970">
                <a:tc>
                  <a:txBody>
                    <a:bodyPr/>
                    <a:lstStyle/>
                    <a:p>
                      <a:pPr algn="l"/>
                      <a:r>
                        <a:rPr sz="1013">
                          <a:solidFill>
                            <a:srgbClr val="142735"/>
                          </a:solidFill>
                          <a:latin typeface="Arial"/>
                          <a:ea typeface="Arial"/>
                          <a:cs typeface="Arial"/>
                        </a:rPr>
                        <a:t>Pregnancy / birth</a:t>
                      </a:r>
                    </a:p>
                  </a:txBody>
                  <a:tcPr anchor="ctr"/>
                </a:tc>
                <a:tc>
                  <a:txBody>
                    <a:bodyPr/>
                    <a:lstStyle/>
                    <a:p>
                      <a:pPr algn="l"/>
                      <a:r>
                        <a:rPr sz="1013">
                          <a:solidFill>
                            <a:srgbClr val="142735"/>
                          </a:solidFill>
                          <a:latin typeface="Arial"/>
                          <a:ea typeface="Arial"/>
                          <a:cs typeface="Arial"/>
                        </a:rPr>
                        <a:t>Neonatal death</a:t>
                      </a:r>
                    </a:p>
                  </a:txBody>
                  <a:tcPr anchor="ctr"/>
                </a:tc>
                <a:tc>
                  <a:txBody>
                    <a:bodyPr/>
                    <a:lstStyle/>
                    <a:p>
                      <a:pPr algn="r"/>
                      <a:r>
                        <a:rPr sz="1013">
                          <a:solidFill>
                            <a:srgbClr val="142735"/>
                          </a:solidFill>
                          <a:latin typeface="Arial"/>
                          <a:ea typeface="Arial"/>
                          <a:cs typeface="Arial"/>
                        </a:rPr>
                        <a:t>112,546</a:t>
                      </a:r>
                    </a:p>
                  </a:txBody>
                  <a:tcPr anchor="ctr"/>
                </a:tc>
                <a:extLst>
                  <a:ext uri="{0D108BD9-81ED-4DB2-BD59-A6C34878D82A}">
                    <a16:rowId xmlns:a16="http://schemas.microsoft.com/office/drawing/2014/main" val="10001"/>
                  </a:ext>
                </a:extLst>
              </a:tr>
              <a:tr h="521970">
                <a:tc>
                  <a:txBody>
                    <a:bodyPr/>
                    <a:lstStyle/>
                    <a:p>
                      <a:pPr algn="l"/>
                      <a:r>
                        <a:rPr sz="1013">
                          <a:solidFill>
                            <a:srgbClr val="142735"/>
                          </a:solidFill>
                          <a:latin typeface="Arial"/>
                          <a:ea typeface="Arial"/>
                          <a:cs typeface="Arial"/>
                        </a:rPr>
                        <a:t>Recent birth</a:t>
                      </a:r>
                    </a:p>
                  </a:txBody>
                  <a:tcPr anchor="ctr"/>
                </a:tc>
                <a:tc>
                  <a:txBody>
                    <a:bodyPr/>
                    <a:lstStyle/>
                    <a:p>
                      <a:pPr algn="l"/>
                      <a:r>
                        <a:rPr sz="1013">
                          <a:solidFill>
                            <a:srgbClr val="142735"/>
                          </a:solidFill>
                          <a:latin typeface="Arial"/>
                          <a:ea typeface="Arial"/>
                          <a:cs typeface="Arial"/>
                        </a:rPr>
                        <a:t>Facility delivery</a:t>
                      </a:r>
                    </a:p>
                  </a:txBody>
                  <a:tcPr anchor="ctr"/>
                </a:tc>
                <a:tc>
                  <a:txBody>
                    <a:bodyPr/>
                    <a:lstStyle/>
                    <a:p>
                      <a:pPr algn="r"/>
                      <a:r>
                        <a:rPr sz="1013">
                          <a:solidFill>
                            <a:srgbClr val="142735"/>
                          </a:solidFill>
                          <a:latin typeface="Arial"/>
                          <a:ea typeface="Arial"/>
                          <a:cs typeface="Arial"/>
                        </a:rPr>
                        <a:t>10,773</a:t>
                      </a:r>
                    </a:p>
                  </a:txBody>
                  <a:tcPr anchor="ctr"/>
                </a:tc>
                <a:extLst>
                  <a:ext uri="{0D108BD9-81ED-4DB2-BD59-A6C34878D82A}">
                    <a16:rowId xmlns:a16="http://schemas.microsoft.com/office/drawing/2014/main" val="10002"/>
                  </a:ext>
                </a:extLst>
              </a:tr>
              <a:tr h="521970">
                <a:tc>
                  <a:txBody>
                    <a:bodyPr/>
                    <a:lstStyle/>
                    <a:p>
                      <a:pPr algn="l"/>
                      <a:r>
                        <a:rPr sz="1013">
                          <a:solidFill>
                            <a:srgbClr val="142735"/>
                          </a:solidFill>
                          <a:latin typeface="Arial"/>
                          <a:ea typeface="Arial"/>
                          <a:cs typeface="Arial"/>
                        </a:rPr>
                        <a:t>Measured child</a:t>
                      </a:r>
                    </a:p>
                  </a:txBody>
                  <a:tcPr anchor="ctr"/>
                </a:tc>
                <a:tc>
                  <a:txBody>
                    <a:bodyPr/>
                    <a:lstStyle/>
                    <a:p>
                      <a:pPr algn="l"/>
                      <a:r>
                        <a:rPr sz="1013">
                          <a:solidFill>
                            <a:srgbClr val="142735"/>
                          </a:solidFill>
                          <a:latin typeface="Arial"/>
                          <a:ea typeface="Arial"/>
                          <a:cs typeface="Arial"/>
                        </a:rPr>
                        <a:t>Stunting outcomes</a:t>
                      </a:r>
                    </a:p>
                  </a:txBody>
                  <a:tcPr anchor="ctr"/>
                </a:tc>
                <a:tc>
                  <a:txBody>
                    <a:bodyPr/>
                    <a:lstStyle/>
                    <a:p>
                      <a:pPr algn="r"/>
                      <a:r>
                        <a:rPr sz="1013">
                          <a:solidFill>
                            <a:srgbClr val="142735"/>
                          </a:solidFill>
                          <a:latin typeface="Arial"/>
                          <a:ea typeface="Arial"/>
                          <a:cs typeface="Arial"/>
                        </a:rPr>
                        <a:t>11,954</a:t>
                      </a:r>
                    </a:p>
                  </a:txBody>
                  <a:tcPr anchor="ctr"/>
                </a:tc>
                <a:extLst>
                  <a:ext uri="{0D108BD9-81ED-4DB2-BD59-A6C34878D82A}">
                    <a16:rowId xmlns:a16="http://schemas.microsoft.com/office/drawing/2014/main" val="10003"/>
                  </a:ext>
                </a:extLst>
              </a:tr>
              <a:tr h="521970">
                <a:tc>
                  <a:txBody>
                    <a:bodyPr/>
                    <a:lstStyle/>
                    <a:p>
                      <a:pPr algn="l"/>
                      <a:r>
                        <a:rPr sz="1013">
                          <a:solidFill>
                            <a:srgbClr val="142735"/>
                          </a:solidFill>
                          <a:latin typeface="Arial"/>
                          <a:ea typeface="Arial"/>
                          <a:cs typeface="Arial"/>
                        </a:rPr>
                        <a:t>Mother</a:t>
                      </a:r>
                    </a:p>
                  </a:txBody>
                  <a:tcPr anchor="ctr"/>
                </a:tc>
                <a:tc>
                  <a:txBody>
                    <a:bodyPr/>
                    <a:lstStyle/>
                    <a:p>
                      <a:pPr algn="l"/>
                      <a:r>
                        <a:rPr sz="1013">
                          <a:solidFill>
                            <a:srgbClr val="142735"/>
                          </a:solidFill>
                          <a:latin typeface="Arial"/>
                          <a:ea typeface="Arial"/>
                          <a:cs typeface="Arial"/>
                        </a:rPr>
                        <a:t>Equity, geography, mother-level features</a:t>
                      </a:r>
                    </a:p>
                  </a:txBody>
                  <a:tcPr anchor="ctr"/>
                </a:tc>
                <a:tc>
                  <a:txBody>
                    <a:bodyPr/>
                    <a:lstStyle/>
                    <a:p>
                      <a:pPr algn="r"/>
                      <a:r>
                        <a:rPr sz="1013">
                          <a:solidFill>
                            <a:srgbClr val="142735"/>
                          </a:solidFill>
                          <a:latin typeface="Arial"/>
                          <a:ea typeface="Arial"/>
                          <a:cs typeface="Arial"/>
                        </a:rPr>
                        <a:t>45,458</a:t>
                      </a:r>
                    </a:p>
                  </a:txBody>
                  <a:tcPr anchor="ctr"/>
                </a:tc>
                <a:extLst>
                  <a:ext uri="{0D108BD9-81ED-4DB2-BD59-A6C34878D82A}">
                    <a16:rowId xmlns:a16="http://schemas.microsoft.com/office/drawing/2014/main" val="10004"/>
                  </a:ext>
                </a:extLst>
              </a:tr>
            </a:tbl>
          </a:graphicData>
        </a:graphic>
      </p:graphicFrame>
      <p:sp>
        <p:nvSpPr>
          <p:cNvPr id="7" name="Rounded Rectangle 6">
            <a:extLst>
              <a:ext uri="{FF2B5EF4-FFF2-40B4-BE49-F238E27FC236}">
                <a16:creationId xmlns:a16="http://schemas.microsoft.com/office/drawing/2014/main" id="{DDE88AB0-0585-4958-AB3A-DFB629DDF6AC}"/>
              </a:ext>
            </a:extLst>
          </p:cNvPr>
          <p:cNvSpPr>
            <a:spLocks noGrp="1"/>
          </p:cNvSpPr>
          <p:nvPr/>
        </p:nvSpPr>
        <p:spPr>
          <a:xfrm>
            <a:off x="8020050" y="2133600"/>
            <a:ext cx="3486150" cy="2609850"/>
          </a:xfrm>
          <a:prstGeom prst="roundRect">
            <a:avLst>
              <a:gd name="adj" fmla="val 5839"/>
            </a:avLst>
          </a:prstGeom>
          <a:solidFill>
            <a:srgbClr val="F9E5E5"/>
          </a:solidFill>
          <a:ln w="0">
            <a:noFill/>
            <a:prstDash val="solid"/>
          </a:ln>
        </p:spPr>
      </p:sp>
      <p:sp>
        <p:nvSpPr>
          <p:cNvPr id="8" name="Rectangle 7">
            <a:extLst>
              <a:ext uri="{FF2B5EF4-FFF2-40B4-BE49-F238E27FC236}">
                <a16:creationId xmlns:a16="http://schemas.microsoft.com/office/drawing/2014/main" id="{ECCE3014-8206-488C-929D-FD70886FA9BC}"/>
              </a:ext>
            </a:extLst>
          </p:cNvPr>
          <p:cNvSpPr>
            <a:spLocks noGrp="1"/>
          </p:cNvSpPr>
          <p:nvPr/>
        </p:nvSpPr>
        <p:spPr>
          <a:xfrm>
            <a:off x="8324850" y="2419350"/>
            <a:ext cx="2857500" cy="26670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Removed from the final panel</a:t>
            </a:r>
          </a:p>
        </p:txBody>
      </p:sp>
      <p:sp>
        <p:nvSpPr>
          <p:cNvPr id="9" name="Rounded Rectangle 8">
            <a:extLst>
              <a:ext uri="{FF2B5EF4-FFF2-40B4-BE49-F238E27FC236}">
                <a16:creationId xmlns:a16="http://schemas.microsoft.com/office/drawing/2014/main" id="{9383C608-5AFF-4EED-B030-C095DFF15F91}"/>
              </a:ext>
            </a:extLst>
          </p:cNvPr>
          <p:cNvSpPr>
            <a:spLocks noGrp="1"/>
          </p:cNvSpPr>
          <p:nvPr/>
        </p:nvSpPr>
        <p:spPr>
          <a:xfrm>
            <a:off x="8324850" y="3038475"/>
            <a:ext cx="76200" cy="76200"/>
          </a:xfrm>
          <a:prstGeom prst="roundRect">
            <a:avLst>
              <a:gd name="adj" fmla="val 50000"/>
            </a:avLst>
          </a:prstGeom>
          <a:solidFill>
            <a:srgbClr val="C75C5C"/>
          </a:solidFill>
          <a:ln w="0">
            <a:noFill/>
            <a:prstDash val="solid"/>
          </a:ln>
        </p:spPr>
      </p:sp>
      <p:sp>
        <p:nvSpPr>
          <p:cNvPr id="10" name="Rectangle 9">
            <a:extLst>
              <a:ext uri="{FF2B5EF4-FFF2-40B4-BE49-F238E27FC236}">
                <a16:creationId xmlns:a16="http://schemas.microsoft.com/office/drawing/2014/main" id="{FEB9F354-7F80-47AA-8A3C-3C8CAB57A22C}"/>
              </a:ext>
            </a:extLst>
          </p:cNvPr>
          <p:cNvSpPr>
            <a:spLocks noGrp="1"/>
          </p:cNvSpPr>
          <p:nvPr/>
        </p:nvSpPr>
        <p:spPr>
          <a:xfrm>
            <a:off x="8553450" y="2971800"/>
            <a:ext cx="2495550" cy="466725"/>
          </a:xfrm>
          <a:prstGeom prst="rect">
            <a:avLst/>
          </a:prstGeom>
          <a:noFill/>
          <a:ln w="0">
            <a:noFill/>
          </a:ln>
        </p:spPr>
        <p:txBody>
          <a:bodyPr lIns="0" tIns="0" rIns="0" bIns="0" anchor="t">
            <a:normAutofit/>
          </a:bodyPr>
          <a:lstStyle/>
          <a:p>
            <a:pPr algn="l">
              <a:lnSpc>
                <a:spcPct val="103000"/>
              </a:lnSpc>
              <a:buNone/>
              <a:defRPr sz="1275" b="0" i="0">
                <a:solidFill>
                  <a:srgbClr val="142735"/>
                </a:solidFill>
                <a:latin typeface="Arial"/>
                <a:ea typeface="Arial"/>
                <a:cs typeface="Arial"/>
              </a:defRPr>
            </a:pPr>
            <a:r>
              <a:rPr sz="1275" b="0" i="0">
                <a:solidFill>
                  <a:srgbClr val="142735"/>
                </a:solidFill>
                <a:latin typeface="Arial"/>
                <a:ea typeface="Arial"/>
                <a:cs typeface="Arial"/>
              </a:rPr>
              <a:t>Pregnancy-only cohort: no final pregnancy target.</a:t>
            </a:r>
          </a:p>
        </p:txBody>
      </p:sp>
      <p:sp>
        <p:nvSpPr>
          <p:cNvPr id="11" name="Rounded Rectangle 10">
            <a:extLst>
              <a:ext uri="{FF2B5EF4-FFF2-40B4-BE49-F238E27FC236}">
                <a16:creationId xmlns:a16="http://schemas.microsoft.com/office/drawing/2014/main" id="{0DB6AA67-8536-488D-BCF3-06403AED62A5}"/>
              </a:ext>
            </a:extLst>
          </p:cNvPr>
          <p:cNvSpPr>
            <a:spLocks noGrp="1"/>
          </p:cNvSpPr>
          <p:nvPr/>
        </p:nvSpPr>
        <p:spPr>
          <a:xfrm>
            <a:off x="8324850" y="3533775"/>
            <a:ext cx="76200" cy="76200"/>
          </a:xfrm>
          <a:prstGeom prst="roundRect">
            <a:avLst>
              <a:gd name="adj" fmla="val 50000"/>
            </a:avLst>
          </a:prstGeom>
          <a:solidFill>
            <a:srgbClr val="C75C5C"/>
          </a:solidFill>
          <a:ln w="0">
            <a:noFill/>
            <a:prstDash val="solid"/>
          </a:ln>
        </p:spPr>
      </p:sp>
      <p:sp>
        <p:nvSpPr>
          <p:cNvPr id="12" name="Rectangle 11">
            <a:extLst>
              <a:ext uri="{FF2B5EF4-FFF2-40B4-BE49-F238E27FC236}">
                <a16:creationId xmlns:a16="http://schemas.microsoft.com/office/drawing/2014/main" id="{FCED894A-3483-4C02-A448-068518AB8521}"/>
              </a:ext>
            </a:extLst>
          </p:cNvPr>
          <p:cNvSpPr>
            <a:spLocks noGrp="1"/>
          </p:cNvSpPr>
          <p:nvPr/>
        </p:nvSpPr>
        <p:spPr>
          <a:xfrm>
            <a:off x="8553450" y="3467100"/>
            <a:ext cx="2495550" cy="466725"/>
          </a:xfrm>
          <a:prstGeom prst="rect">
            <a:avLst/>
          </a:prstGeom>
          <a:noFill/>
          <a:ln w="0">
            <a:noFill/>
          </a:ln>
        </p:spPr>
        <p:txBody>
          <a:bodyPr lIns="0" tIns="0" rIns="0" bIns="0" anchor="t">
            <a:normAutofit/>
          </a:bodyPr>
          <a:lstStyle/>
          <a:p>
            <a:pPr algn="l">
              <a:lnSpc>
                <a:spcPct val="103000"/>
              </a:lnSpc>
              <a:buNone/>
              <a:defRPr sz="1275" b="0" i="0">
                <a:solidFill>
                  <a:srgbClr val="142735"/>
                </a:solidFill>
                <a:latin typeface="Arial"/>
                <a:ea typeface="Arial"/>
                <a:cs typeface="Arial"/>
              </a:defRPr>
            </a:pPr>
            <a:r>
              <a:rPr sz="1275" b="0" i="0">
                <a:solidFill>
                  <a:srgbClr val="142735"/>
                </a:solidFill>
                <a:latin typeface="Arial"/>
                <a:ea typeface="Arial"/>
                <a:cs typeface="Arial"/>
              </a:rPr>
              <a:t>Child-illness cohort: illness targets were not retained.</a:t>
            </a:r>
          </a:p>
        </p:txBody>
      </p:sp>
      <p:sp>
        <p:nvSpPr>
          <p:cNvPr id="13" name="Rounded Rectangle 12">
            <a:extLst>
              <a:ext uri="{FF2B5EF4-FFF2-40B4-BE49-F238E27FC236}">
                <a16:creationId xmlns:a16="http://schemas.microsoft.com/office/drawing/2014/main" id="{A0D1EAF8-FB9B-4A70-B157-7AC2567F0661}"/>
              </a:ext>
            </a:extLst>
          </p:cNvPr>
          <p:cNvSpPr>
            <a:spLocks noGrp="1"/>
          </p:cNvSpPr>
          <p:nvPr/>
        </p:nvSpPr>
        <p:spPr>
          <a:xfrm>
            <a:off x="8324850" y="4029075"/>
            <a:ext cx="76200" cy="76200"/>
          </a:xfrm>
          <a:prstGeom prst="roundRect">
            <a:avLst>
              <a:gd name="adj" fmla="val 50000"/>
            </a:avLst>
          </a:prstGeom>
          <a:solidFill>
            <a:srgbClr val="C75C5C"/>
          </a:solidFill>
          <a:ln w="0">
            <a:noFill/>
            <a:prstDash val="solid"/>
          </a:ln>
        </p:spPr>
      </p:sp>
      <p:sp>
        <p:nvSpPr>
          <p:cNvPr id="14" name="Rectangle 13">
            <a:extLst>
              <a:ext uri="{FF2B5EF4-FFF2-40B4-BE49-F238E27FC236}">
                <a16:creationId xmlns:a16="http://schemas.microsoft.com/office/drawing/2014/main" id="{343EBD4C-6C93-41AD-9752-6339BAFE3F59}"/>
              </a:ext>
            </a:extLst>
          </p:cNvPr>
          <p:cNvSpPr>
            <a:spLocks noGrp="1"/>
          </p:cNvSpPr>
          <p:nvPr/>
        </p:nvSpPr>
        <p:spPr>
          <a:xfrm>
            <a:off x="8553450" y="3962400"/>
            <a:ext cx="2495550" cy="466725"/>
          </a:xfrm>
          <a:prstGeom prst="rect">
            <a:avLst/>
          </a:prstGeom>
          <a:noFill/>
          <a:ln w="0">
            <a:noFill/>
          </a:ln>
        </p:spPr>
        <p:txBody>
          <a:bodyPr lIns="0" tIns="0" rIns="0" bIns="0" anchor="t">
            <a:normAutofit/>
          </a:bodyPr>
          <a:lstStyle/>
          <a:p>
            <a:pPr algn="l">
              <a:lnSpc>
                <a:spcPct val="103000"/>
              </a:lnSpc>
              <a:buNone/>
              <a:defRPr sz="1275" b="0" i="0">
                <a:solidFill>
                  <a:srgbClr val="142735"/>
                </a:solidFill>
                <a:latin typeface="Arial"/>
                <a:ea typeface="Arial"/>
                <a:cs typeface="Arial"/>
              </a:defRPr>
            </a:pPr>
            <a:r>
              <a:rPr sz="1275" b="0" i="0">
                <a:solidFill>
                  <a:srgbClr val="142735"/>
                </a:solidFill>
                <a:latin typeface="Arial"/>
                <a:ea typeface="Arial"/>
                <a:cs typeface="Arial"/>
              </a:rPr>
              <a:t>Immunization cohort: no final immunization target.</a:t>
            </a:r>
          </a:p>
        </p:txBody>
      </p:sp>
      <p:sp>
        <p:nvSpPr>
          <p:cNvPr id="15" name="Rectangle 14">
            <a:extLst>
              <a:ext uri="{FF2B5EF4-FFF2-40B4-BE49-F238E27FC236}">
                <a16:creationId xmlns:a16="http://schemas.microsoft.com/office/drawing/2014/main" id="{265DC833-1A71-4FBB-BB37-D8D8B6413EEB}"/>
              </a:ext>
            </a:extLst>
          </p:cNvPr>
          <p:cNvSpPr>
            <a:spLocks noGrp="1"/>
          </p:cNvSpPr>
          <p:nvPr/>
        </p:nvSpPr>
        <p:spPr>
          <a:xfrm>
            <a:off x="685800" y="5191125"/>
            <a:ext cx="10287000" cy="361950"/>
          </a:xfrm>
          <a:prstGeom prst="rect">
            <a:avLst/>
          </a:prstGeom>
          <a:noFill/>
          <a:ln w="0">
            <a:noFill/>
          </a:ln>
        </p:spPr>
        <p:txBody>
          <a:bodyPr lIns="0" tIns="0" rIns="0" bIns="0" anchor="t">
            <a:normAutofit fontScale="83237" lnSpcReduction="10000"/>
          </a:bodyPr>
          <a:lstStyle/>
          <a:p>
            <a:pPr algn="l">
              <a:lnSpc>
                <a:spcPct val="108000"/>
              </a:lnSpc>
              <a:buNone/>
              <a:defRPr sz="1500" b="1" i="0">
                <a:solidFill>
                  <a:srgbClr val="0F766E"/>
                </a:solidFill>
                <a:latin typeface="Arial"/>
                <a:ea typeface="Arial"/>
                <a:cs typeface="Arial"/>
              </a:defRPr>
            </a:pPr>
            <a:r>
              <a:rPr sz="1500" b="1" i="0">
                <a:solidFill>
                  <a:srgbClr val="0F766E"/>
                </a:solidFill>
                <a:latin typeface="Arial"/>
                <a:ea typeface="Arial"/>
                <a:cs typeface="Arial"/>
              </a:rPr>
              <a:t>Shortening was a scientific decision: every cohort must have a target, a valid denominator and a defensible information time.</a:t>
            </a:r>
          </a:p>
        </p:txBody>
      </p:sp>
      <p:sp>
        <p:nvSpPr>
          <p:cNvPr id="16" name="Rectangle 15">
            <a:extLst>
              <a:ext uri="{FF2B5EF4-FFF2-40B4-BE49-F238E27FC236}">
                <a16:creationId xmlns:a16="http://schemas.microsoft.com/office/drawing/2014/main" id="{3008F774-41FD-4244-88FE-247E9AAC058B}"/>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1:56</a:t>
            </a:r>
          </a:p>
        </p:txBody>
      </p:sp>
      <p:sp>
        <p:nvSpPr>
          <p:cNvPr id="17" name="Rectangle 16">
            <a:extLst>
              <a:ext uri="{FF2B5EF4-FFF2-40B4-BE49-F238E27FC236}">
                <a16:creationId xmlns:a16="http://schemas.microsoft.com/office/drawing/2014/main" id="{D4D0E91A-8C5D-4E18-AA68-F77BCC71DEC1}"/>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11, 23, 27, 29, 32</a:t>
            </a:r>
          </a:p>
        </p:txBody>
      </p:sp>
      <p:sp>
        <p:nvSpPr>
          <p:cNvPr id="18" name="Rectangle 17">
            <a:extLst>
              <a:ext uri="{FF2B5EF4-FFF2-40B4-BE49-F238E27FC236}">
                <a16:creationId xmlns:a16="http://schemas.microsoft.com/office/drawing/2014/main" id="{A6B2BEBE-DCAD-4D2E-887D-04B472AAF330}"/>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610802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4C8562F-21EB-47F0-9184-460CE08DA1BC}"/>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COHORT CONSTRUCTION</a:t>
            </a:r>
          </a:p>
        </p:txBody>
      </p:sp>
      <p:sp>
        <p:nvSpPr>
          <p:cNvPr id="2" name="Rectangle 1">
            <a:extLst>
              <a:ext uri="{FF2B5EF4-FFF2-40B4-BE49-F238E27FC236}">
                <a16:creationId xmlns:a16="http://schemas.microsoft.com/office/drawing/2014/main" id="{C1085EB9-DC98-4E1A-B071-A55D8E62E66E}"/>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The cohorts are nested, not interchangeable</a:t>
            </a:r>
          </a:p>
        </p:txBody>
      </p:sp>
      <p:sp>
        <p:nvSpPr>
          <p:cNvPr id="3" name="Rectangle 2">
            <a:extLst>
              <a:ext uri="{FF2B5EF4-FFF2-40B4-BE49-F238E27FC236}">
                <a16:creationId xmlns:a16="http://schemas.microsoft.com/office/drawing/2014/main" id="{0460B904-7D82-492E-B458-5D327BA4815E}"/>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04</a:t>
            </a:r>
          </a:p>
        </p:txBody>
      </p:sp>
      <p:sp>
        <p:nvSpPr>
          <p:cNvPr id="4" name="Straight Connector 3">
            <a:extLst>
              <a:ext uri="{FF2B5EF4-FFF2-40B4-BE49-F238E27FC236}">
                <a16:creationId xmlns:a16="http://schemas.microsoft.com/office/drawing/2014/main" id="{0B24E7A7-C545-47E1-84DF-6E92DA1A5B05}"/>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4" name="Picture 23"/>
          <p:cNvPicPr>
            <a:picLocks noChangeAspect="1"/>
          </p:cNvPicPr>
          <p:nvPr/>
        </p:nvPicPr>
        <p:blipFill>
          <a:blip r:embed="rId3"/>
          <a:stretch/>
        </p:blipFill>
        <p:spPr>
          <a:xfrm>
            <a:off x="685800" y="1827023"/>
            <a:ext cx="7512526" cy="2354451"/>
          </a:xfrm>
          <a:prstGeom prst="roundRect">
            <a:avLst>
              <a:gd name="adj" fmla="val 2963"/>
            </a:avLst>
          </a:prstGeom>
        </p:spPr>
      </p:pic>
      <p:sp>
        <p:nvSpPr>
          <p:cNvPr id="6" name="Rounded Rectangle 5">
            <a:extLst>
              <a:ext uri="{FF2B5EF4-FFF2-40B4-BE49-F238E27FC236}">
                <a16:creationId xmlns:a16="http://schemas.microsoft.com/office/drawing/2014/main" id="{9714AD27-3D08-4A4C-8FB6-551CC4A42239}"/>
              </a:ext>
            </a:extLst>
          </p:cNvPr>
          <p:cNvSpPr>
            <a:spLocks noGrp="1"/>
          </p:cNvSpPr>
          <p:nvPr/>
        </p:nvSpPr>
        <p:spPr>
          <a:xfrm>
            <a:off x="8343900" y="1600200"/>
            <a:ext cx="3162300" cy="3676650"/>
          </a:xfrm>
          <a:prstGeom prst="roundRect">
            <a:avLst>
              <a:gd name="adj" fmla="val 4819"/>
            </a:avLst>
          </a:prstGeom>
          <a:solidFill>
            <a:srgbClr val="FFFFFF"/>
          </a:solidFill>
          <a:ln w="9525">
            <a:solidFill>
              <a:srgbClr val="D9E2EC"/>
            </a:solidFill>
            <a:prstDash val="solid"/>
          </a:ln>
        </p:spPr>
      </p:sp>
      <p:sp>
        <p:nvSpPr>
          <p:cNvPr id="7" name="Rectangle 6">
            <a:extLst>
              <a:ext uri="{FF2B5EF4-FFF2-40B4-BE49-F238E27FC236}">
                <a16:creationId xmlns:a16="http://schemas.microsoft.com/office/drawing/2014/main" id="{2FEEA95D-E21F-4669-86DF-5598E8E556D4}"/>
              </a:ext>
            </a:extLst>
          </p:cNvPr>
          <p:cNvSpPr>
            <a:spLocks noGrp="1"/>
          </p:cNvSpPr>
          <p:nvPr/>
        </p:nvSpPr>
        <p:spPr>
          <a:xfrm>
            <a:off x="8648700" y="1924050"/>
            <a:ext cx="2476500" cy="266700"/>
          </a:xfrm>
          <a:prstGeom prst="rect">
            <a:avLst/>
          </a:prstGeom>
          <a:noFill/>
          <a:ln w="0">
            <a:noFill/>
          </a:ln>
        </p:spPr>
        <p:txBody>
          <a:bodyPr lIns="0" tIns="0" rIns="0" bIns="0" anchor="t">
            <a:normAutofit/>
          </a:bodyPr>
          <a:lstStyle/>
          <a:p>
            <a:pPr algn="l">
              <a:lnSpc>
                <a:spcPct val="108000"/>
              </a:lnSpc>
              <a:buNone/>
              <a:defRPr sz="1575" b="1" i="0">
                <a:solidFill>
                  <a:srgbClr val="102A43"/>
                </a:solidFill>
                <a:latin typeface="Arial"/>
                <a:ea typeface="Arial"/>
                <a:cs typeface="Arial"/>
              </a:defRPr>
            </a:pPr>
            <a:r>
              <a:rPr sz="1575" b="1" i="0">
                <a:solidFill>
                  <a:srgbClr val="102A43"/>
                </a:solidFill>
                <a:latin typeface="Arial"/>
                <a:ea typeface="Arial"/>
                <a:cs typeface="Arial"/>
              </a:rPr>
              <a:t>Notebook universes</a:t>
            </a:r>
          </a:p>
        </p:txBody>
      </p:sp>
      <p:sp>
        <p:nvSpPr>
          <p:cNvPr id="8" name="Rectangle 7">
            <a:extLst>
              <a:ext uri="{FF2B5EF4-FFF2-40B4-BE49-F238E27FC236}">
                <a16:creationId xmlns:a16="http://schemas.microsoft.com/office/drawing/2014/main" id="{60A29555-C537-416A-9932-668F0DDCFC05}"/>
              </a:ext>
            </a:extLst>
          </p:cNvPr>
          <p:cNvSpPr>
            <a:spLocks noGrp="1"/>
          </p:cNvSpPr>
          <p:nvPr/>
        </p:nvSpPr>
        <p:spPr>
          <a:xfrm>
            <a:off x="8648700" y="2419350"/>
            <a:ext cx="2190750" cy="457200"/>
          </a:xfrm>
          <a:prstGeom prst="rect">
            <a:avLst/>
          </a:prstGeom>
          <a:noFill/>
          <a:ln w="0">
            <a:noFill/>
          </a:ln>
        </p:spPr>
        <p:txBody>
          <a:bodyPr lIns="0" tIns="0" rIns="0" bIns="0" anchor="t">
            <a:normAutofit/>
          </a:bodyPr>
          <a:lstStyle/>
          <a:p>
            <a:pPr algn="l">
              <a:lnSpc>
                <a:spcPct val="96000"/>
              </a:lnSpc>
              <a:buNone/>
              <a:defRPr sz="2625" b="1" i="0">
                <a:solidFill>
                  <a:srgbClr val="102A43"/>
                </a:solidFill>
                <a:latin typeface="Arial"/>
                <a:ea typeface="Arial"/>
                <a:cs typeface="Arial"/>
              </a:defRPr>
            </a:pPr>
            <a:r>
              <a:rPr sz="2625" b="1" i="0">
                <a:solidFill>
                  <a:srgbClr val="102A43"/>
                </a:solidFill>
                <a:latin typeface="Arial"/>
                <a:ea typeface="Arial"/>
                <a:cs typeface="Arial"/>
              </a:rPr>
              <a:t>121,067</a:t>
            </a:r>
          </a:p>
        </p:txBody>
      </p:sp>
      <p:sp>
        <p:nvSpPr>
          <p:cNvPr id="9" name="Rectangle 8">
            <a:extLst>
              <a:ext uri="{FF2B5EF4-FFF2-40B4-BE49-F238E27FC236}">
                <a16:creationId xmlns:a16="http://schemas.microsoft.com/office/drawing/2014/main" id="{B256F33C-82D6-4429-B995-F3ECBE82AB77}"/>
              </a:ext>
            </a:extLst>
          </p:cNvPr>
          <p:cNvSpPr>
            <a:spLocks noGrp="1"/>
          </p:cNvSpPr>
          <p:nvPr/>
        </p:nvSpPr>
        <p:spPr>
          <a:xfrm>
            <a:off x="8648700" y="2905125"/>
            <a:ext cx="2190750" cy="400050"/>
          </a:xfrm>
          <a:prstGeom prst="rect">
            <a:avLst/>
          </a:prstGeom>
          <a:noFill/>
          <a:ln w="0">
            <a:noFill/>
          </a:ln>
        </p:spPr>
        <p:txBody>
          <a:bodyPr lIns="0" tIns="0" rIns="0" bIns="0" anchor="t">
            <a:normAutofit/>
          </a:bodyPr>
          <a:lstStyle/>
          <a:p>
            <a:pPr algn="l">
              <a:lnSpc>
                <a:spcPct val="103000"/>
              </a:lnSpc>
              <a:buNone/>
              <a:defRPr sz="1163" b="0" i="0">
                <a:solidFill>
                  <a:srgbClr val="52606D"/>
                </a:solidFill>
                <a:latin typeface="Arial"/>
                <a:ea typeface="Arial"/>
                <a:cs typeface="Arial"/>
              </a:defRPr>
            </a:pPr>
            <a:r>
              <a:rPr sz="1163" b="0" i="0">
                <a:solidFill>
                  <a:srgbClr val="52606D"/>
                </a:solidFill>
                <a:latin typeface="Arial"/>
                <a:ea typeface="Arial"/>
                <a:cs typeface="Arial"/>
              </a:rPr>
              <a:t>all pregnancies</a:t>
            </a:r>
          </a:p>
        </p:txBody>
      </p:sp>
      <p:sp>
        <p:nvSpPr>
          <p:cNvPr id="10" name="Rectangle 9">
            <a:extLst>
              <a:ext uri="{FF2B5EF4-FFF2-40B4-BE49-F238E27FC236}">
                <a16:creationId xmlns:a16="http://schemas.microsoft.com/office/drawing/2014/main" id="{B2623FA9-A2AF-46CE-9035-4E0C057E46A5}"/>
              </a:ext>
            </a:extLst>
          </p:cNvPr>
          <p:cNvSpPr>
            <a:spLocks noGrp="1"/>
          </p:cNvSpPr>
          <p:nvPr/>
        </p:nvSpPr>
        <p:spPr>
          <a:xfrm>
            <a:off x="8648700" y="3209925"/>
            <a:ext cx="2190750" cy="457200"/>
          </a:xfrm>
          <a:prstGeom prst="rect">
            <a:avLst/>
          </a:prstGeom>
          <a:noFill/>
          <a:ln w="0">
            <a:noFill/>
          </a:ln>
        </p:spPr>
        <p:txBody>
          <a:bodyPr lIns="0" tIns="0" rIns="0" bIns="0" anchor="t">
            <a:normAutofit/>
          </a:bodyPr>
          <a:lstStyle/>
          <a:p>
            <a:pPr algn="l">
              <a:lnSpc>
                <a:spcPct val="96000"/>
              </a:lnSpc>
              <a:buNone/>
              <a:defRPr sz="2625" b="1" i="0">
                <a:solidFill>
                  <a:srgbClr val="0F766E"/>
                </a:solidFill>
                <a:latin typeface="Arial"/>
                <a:ea typeface="Arial"/>
                <a:cs typeface="Arial"/>
              </a:defRPr>
            </a:pPr>
            <a:r>
              <a:rPr sz="2625" b="1" i="0">
                <a:solidFill>
                  <a:srgbClr val="0F766E"/>
                </a:solidFill>
                <a:latin typeface="Arial"/>
                <a:ea typeface="Arial"/>
                <a:cs typeface="Arial"/>
              </a:rPr>
              <a:t>112,546</a:t>
            </a:r>
          </a:p>
        </p:txBody>
      </p:sp>
      <p:sp>
        <p:nvSpPr>
          <p:cNvPr id="11" name="Rectangle 10">
            <a:extLst>
              <a:ext uri="{FF2B5EF4-FFF2-40B4-BE49-F238E27FC236}">
                <a16:creationId xmlns:a16="http://schemas.microsoft.com/office/drawing/2014/main" id="{DE0A5182-1E3C-4325-B832-A36BD657D7AC}"/>
              </a:ext>
            </a:extLst>
          </p:cNvPr>
          <p:cNvSpPr>
            <a:spLocks noGrp="1"/>
          </p:cNvSpPr>
          <p:nvPr/>
        </p:nvSpPr>
        <p:spPr>
          <a:xfrm>
            <a:off x="8648700" y="3695700"/>
            <a:ext cx="2190750" cy="400050"/>
          </a:xfrm>
          <a:prstGeom prst="rect">
            <a:avLst/>
          </a:prstGeom>
          <a:noFill/>
          <a:ln w="0">
            <a:noFill/>
          </a:ln>
        </p:spPr>
        <p:txBody>
          <a:bodyPr lIns="0" tIns="0" rIns="0" bIns="0" anchor="t">
            <a:normAutofit/>
          </a:bodyPr>
          <a:lstStyle/>
          <a:p>
            <a:pPr algn="l">
              <a:lnSpc>
                <a:spcPct val="103000"/>
              </a:lnSpc>
              <a:buNone/>
              <a:defRPr sz="1163" b="0" i="0">
                <a:solidFill>
                  <a:srgbClr val="52606D"/>
                </a:solidFill>
                <a:latin typeface="Arial"/>
                <a:ea typeface="Arial"/>
                <a:cs typeface="Arial"/>
              </a:defRPr>
            </a:pPr>
            <a:r>
              <a:rPr sz="1163" b="0" i="0">
                <a:solidFill>
                  <a:srgbClr val="52606D"/>
                </a:solidFill>
                <a:latin typeface="Arial"/>
                <a:ea typeface="Arial"/>
                <a:cs typeface="Arial"/>
              </a:rPr>
              <a:t>live births in the valid universe</a:t>
            </a:r>
          </a:p>
        </p:txBody>
      </p:sp>
      <p:sp>
        <p:nvSpPr>
          <p:cNvPr id="12" name="Rectangle 11">
            <a:extLst>
              <a:ext uri="{FF2B5EF4-FFF2-40B4-BE49-F238E27FC236}">
                <a16:creationId xmlns:a16="http://schemas.microsoft.com/office/drawing/2014/main" id="{DCD4847F-EBDD-422C-94A7-3F705ED537AC}"/>
              </a:ext>
            </a:extLst>
          </p:cNvPr>
          <p:cNvSpPr>
            <a:spLocks noGrp="1"/>
          </p:cNvSpPr>
          <p:nvPr/>
        </p:nvSpPr>
        <p:spPr>
          <a:xfrm>
            <a:off x="8648700" y="4000500"/>
            <a:ext cx="2190750" cy="457200"/>
          </a:xfrm>
          <a:prstGeom prst="rect">
            <a:avLst/>
          </a:prstGeom>
          <a:noFill/>
          <a:ln w="0">
            <a:noFill/>
          </a:ln>
        </p:spPr>
        <p:txBody>
          <a:bodyPr lIns="0" tIns="0" rIns="0" bIns="0" anchor="t">
            <a:normAutofit/>
          </a:bodyPr>
          <a:lstStyle/>
          <a:p>
            <a:pPr algn="l">
              <a:lnSpc>
                <a:spcPct val="96000"/>
              </a:lnSpc>
              <a:buNone/>
              <a:defRPr sz="2625" b="1" i="0">
                <a:solidFill>
                  <a:srgbClr val="D97706"/>
                </a:solidFill>
                <a:latin typeface="Arial"/>
                <a:ea typeface="Arial"/>
                <a:cs typeface="Arial"/>
              </a:defRPr>
            </a:pPr>
            <a:r>
              <a:rPr sz="2625" b="1" i="0">
                <a:solidFill>
                  <a:srgbClr val="D97706"/>
                </a:solidFill>
                <a:latin typeface="Arial"/>
                <a:ea typeface="Arial"/>
                <a:cs typeface="Arial"/>
              </a:rPr>
              <a:t>10,773</a:t>
            </a:r>
          </a:p>
        </p:txBody>
      </p:sp>
      <p:sp>
        <p:nvSpPr>
          <p:cNvPr id="13" name="Rectangle 12">
            <a:extLst>
              <a:ext uri="{FF2B5EF4-FFF2-40B4-BE49-F238E27FC236}">
                <a16:creationId xmlns:a16="http://schemas.microsoft.com/office/drawing/2014/main" id="{7F8EDB52-4084-4698-9810-101FC246A084}"/>
              </a:ext>
            </a:extLst>
          </p:cNvPr>
          <p:cNvSpPr>
            <a:spLocks noGrp="1"/>
          </p:cNvSpPr>
          <p:nvPr/>
        </p:nvSpPr>
        <p:spPr>
          <a:xfrm>
            <a:off x="8648700" y="4486275"/>
            <a:ext cx="2190750" cy="400050"/>
          </a:xfrm>
          <a:prstGeom prst="rect">
            <a:avLst/>
          </a:prstGeom>
          <a:noFill/>
          <a:ln w="0">
            <a:noFill/>
          </a:ln>
        </p:spPr>
        <p:txBody>
          <a:bodyPr lIns="0" tIns="0" rIns="0" bIns="0" anchor="t">
            <a:normAutofit/>
          </a:bodyPr>
          <a:lstStyle/>
          <a:p>
            <a:pPr algn="l">
              <a:lnSpc>
                <a:spcPct val="103000"/>
              </a:lnSpc>
              <a:buNone/>
              <a:defRPr sz="1163" b="0" i="0">
                <a:solidFill>
                  <a:srgbClr val="52606D"/>
                </a:solidFill>
                <a:latin typeface="Arial"/>
                <a:ea typeface="Arial"/>
                <a:cs typeface="Arial"/>
              </a:defRPr>
            </a:pPr>
            <a:r>
              <a:rPr sz="1163" b="0" i="0">
                <a:solidFill>
                  <a:srgbClr val="52606D"/>
                </a:solidFill>
                <a:latin typeface="Arial"/>
                <a:ea typeface="Arial"/>
                <a:cs typeface="Arial"/>
              </a:rPr>
              <a:t>recent maternity module</a:t>
            </a:r>
          </a:p>
        </p:txBody>
      </p:sp>
      <p:sp>
        <p:nvSpPr>
          <p:cNvPr id="14" name="Rectangle 13">
            <a:extLst>
              <a:ext uri="{FF2B5EF4-FFF2-40B4-BE49-F238E27FC236}">
                <a16:creationId xmlns:a16="http://schemas.microsoft.com/office/drawing/2014/main" id="{72923EA3-90AB-464C-A5D2-E2DD0154B303}"/>
              </a:ext>
            </a:extLst>
          </p:cNvPr>
          <p:cNvSpPr>
            <a:spLocks noGrp="1"/>
          </p:cNvSpPr>
          <p:nvPr/>
        </p:nvSpPr>
        <p:spPr>
          <a:xfrm>
            <a:off x="8648700" y="4791075"/>
            <a:ext cx="2190750" cy="457200"/>
          </a:xfrm>
          <a:prstGeom prst="rect">
            <a:avLst/>
          </a:prstGeom>
          <a:noFill/>
          <a:ln w="0">
            <a:noFill/>
          </a:ln>
        </p:spPr>
        <p:txBody>
          <a:bodyPr lIns="0" tIns="0" rIns="0" bIns="0" anchor="t">
            <a:normAutofit/>
          </a:bodyPr>
          <a:lstStyle/>
          <a:p>
            <a:pPr algn="l">
              <a:lnSpc>
                <a:spcPct val="96000"/>
              </a:lnSpc>
              <a:buNone/>
              <a:defRPr sz="2625" b="1" i="0">
                <a:solidFill>
                  <a:srgbClr val="C75C5C"/>
                </a:solidFill>
                <a:latin typeface="Arial"/>
                <a:ea typeface="Arial"/>
                <a:cs typeface="Arial"/>
              </a:defRPr>
            </a:pPr>
            <a:r>
              <a:rPr sz="2625" b="1" i="0">
                <a:solidFill>
                  <a:srgbClr val="C75C5C"/>
                </a:solidFill>
                <a:latin typeface="Arial"/>
                <a:ea typeface="Arial"/>
                <a:cs typeface="Arial"/>
              </a:rPr>
              <a:t>11,954</a:t>
            </a:r>
          </a:p>
        </p:txBody>
      </p:sp>
      <p:sp>
        <p:nvSpPr>
          <p:cNvPr id="15" name="Rectangle 14">
            <a:extLst>
              <a:ext uri="{FF2B5EF4-FFF2-40B4-BE49-F238E27FC236}">
                <a16:creationId xmlns:a16="http://schemas.microsoft.com/office/drawing/2014/main" id="{C0092895-0627-46D0-8172-3274CEE3F6E4}"/>
              </a:ext>
            </a:extLst>
          </p:cNvPr>
          <p:cNvSpPr>
            <a:spLocks noGrp="1"/>
          </p:cNvSpPr>
          <p:nvPr/>
        </p:nvSpPr>
        <p:spPr>
          <a:xfrm>
            <a:off x="8648700" y="5276850"/>
            <a:ext cx="2190750" cy="400050"/>
          </a:xfrm>
          <a:prstGeom prst="rect">
            <a:avLst/>
          </a:prstGeom>
          <a:noFill/>
          <a:ln w="0">
            <a:noFill/>
          </a:ln>
        </p:spPr>
        <p:txBody>
          <a:bodyPr lIns="0" tIns="0" rIns="0" bIns="0" anchor="t">
            <a:normAutofit/>
          </a:bodyPr>
          <a:lstStyle/>
          <a:p>
            <a:pPr algn="l">
              <a:lnSpc>
                <a:spcPct val="103000"/>
              </a:lnSpc>
              <a:buNone/>
              <a:defRPr sz="1163" b="0" i="0">
                <a:solidFill>
                  <a:srgbClr val="52606D"/>
                </a:solidFill>
                <a:latin typeface="Arial"/>
                <a:ea typeface="Arial"/>
                <a:cs typeface="Arial"/>
              </a:defRPr>
            </a:pPr>
            <a:r>
              <a:rPr sz="1163" b="0" i="0">
                <a:solidFill>
                  <a:srgbClr val="52606D"/>
                </a:solidFill>
                <a:latin typeface="Arial"/>
                <a:ea typeface="Arial"/>
                <a:cs typeface="Arial"/>
              </a:rPr>
              <a:t>measured children</a:t>
            </a:r>
          </a:p>
        </p:txBody>
      </p:sp>
      <p:sp>
        <p:nvSpPr>
          <p:cNvPr id="17" name="Rectangle 16">
            <a:extLst>
              <a:ext uri="{FF2B5EF4-FFF2-40B4-BE49-F238E27FC236}">
                <a16:creationId xmlns:a16="http://schemas.microsoft.com/office/drawing/2014/main" id="{6CF8E00E-882B-44C6-BB3F-0E8E2671D618}"/>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2:32</a:t>
            </a:r>
          </a:p>
        </p:txBody>
      </p:sp>
      <p:sp>
        <p:nvSpPr>
          <p:cNvPr id="18" name="Rectangle 17">
            <a:extLst>
              <a:ext uri="{FF2B5EF4-FFF2-40B4-BE49-F238E27FC236}">
                <a16:creationId xmlns:a16="http://schemas.microsoft.com/office/drawing/2014/main" id="{96ADE112-BA5B-4986-A19D-86CBA4668B0A}"/>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12-16</a:t>
            </a:r>
          </a:p>
        </p:txBody>
      </p:sp>
      <p:sp>
        <p:nvSpPr>
          <p:cNvPr id="19" name="Rectangle 18">
            <a:extLst>
              <a:ext uri="{FF2B5EF4-FFF2-40B4-BE49-F238E27FC236}">
                <a16:creationId xmlns:a16="http://schemas.microsoft.com/office/drawing/2014/main" id="{540137FA-CBAA-4246-BC33-6CBF6CC6D976}"/>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pic>
        <p:nvPicPr>
          <p:cNvPr id="5" name="Picture 4"/>
          <p:cNvPicPr>
            <a:picLocks noChangeAspect="1"/>
          </p:cNvPicPr>
          <p:nvPr/>
        </p:nvPicPr>
        <p:blipFill>
          <a:blip r:embed="rId4"/>
          <a:stretch>
            <a:fillRect/>
          </a:stretch>
        </p:blipFill>
        <p:spPr>
          <a:xfrm>
            <a:off x="685800" y="4598781"/>
            <a:ext cx="1971676" cy="1298987"/>
          </a:xfrm>
          <a:prstGeom prst="rect">
            <a:avLst/>
          </a:prstGeom>
        </p:spPr>
      </p:pic>
    </p:spTree>
    <p:extLst>
      <p:ext uri="{BB962C8B-B14F-4D97-AF65-F5344CB8AC3E}">
        <p14:creationId xmlns:p14="http://schemas.microsoft.com/office/powerpoint/2010/main" val="2145190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5102C63-47F2-41A7-9B96-70290CA1C04C}"/>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PRE-PROCESSING</a:t>
            </a:r>
          </a:p>
        </p:txBody>
      </p:sp>
      <p:sp>
        <p:nvSpPr>
          <p:cNvPr id="2" name="Rectangle 1">
            <a:extLst>
              <a:ext uri="{FF2B5EF4-FFF2-40B4-BE49-F238E27FC236}">
                <a16:creationId xmlns:a16="http://schemas.microsoft.com/office/drawing/2014/main" id="{56A9FF2C-1CE3-40B7-8179-41544FDC11D5}"/>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One target, one feature matrix, and two preprocessing paths</a:t>
            </a:r>
          </a:p>
        </p:txBody>
      </p:sp>
      <p:sp>
        <p:nvSpPr>
          <p:cNvPr id="3" name="Rectangle 2">
            <a:extLst>
              <a:ext uri="{FF2B5EF4-FFF2-40B4-BE49-F238E27FC236}">
                <a16:creationId xmlns:a16="http://schemas.microsoft.com/office/drawing/2014/main" id="{76A6137A-6E1C-4531-8E1C-D45B57015329}"/>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05</a:t>
            </a:r>
          </a:p>
        </p:txBody>
      </p:sp>
      <p:sp>
        <p:nvSpPr>
          <p:cNvPr id="4" name="Straight Connector 3">
            <a:extLst>
              <a:ext uri="{FF2B5EF4-FFF2-40B4-BE49-F238E27FC236}">
                <a16:creationId xmlns:a16="http://schemas.microsoft.com/office/drawing/2014/main" id="{03E69947-123F-46C9-8550-F55897FD7E49}"/>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ectangle 4">
            <a:extLst>
              <a:ext uri="{FF2B5EF4-FFF2-40B4-BE49-F238E27FC236}">
                <a16:creationId xmlns:a16="http://schemas.microsoft.com/office/drawing/2014/main" id="{DA8A9B71-D765-445C-82EF-120212D515F6}"/>
              </a:ext>
            </a:extLst>
          </p:cNvPr>
          <p:cNvSpPr>
            <a:spLocks noGrp="1"/>
          </p:cNvSpPr>
          <p:nvPr/>
        </p:nvSpPr>
        <p:spPr>
          <a:xfrm>
            <a:off x="685800" y="1428750"/>
            <a:ext cx="10096500" cy="323850"/>
          </a:xfrm>
          <a:prstGeom prst="rect">
            <a:avLst/>
          </a:prstGeom>
          <a:noFill/>
          <a:ln w="0">
            <a:noFill/>
          </a:ln>
        </p:spPr>
        <p:txBody>
          <a:bodyPr lIns="0" tIns="0" rIns="0" bIns="0" anchor="t">
            <a:normAutofit/>
          </a:bodyPr>
          <a:lstStyle/>
          <a:p>
            <a:pPr algn="l">
              <a:lnSpc>
                <a:spcPct val="108000"/>
              </a:lnSpc>
              <a:buNone/>
              <a:defRPr sz="1500" b="0" i="0">
                <a:solidFill>
                  <a:srgbClr val="52606D"/>
                </a:solidFill>
                <a:latin typeface="Arial"/>
                <a:ea typeface="Arial"/>
                <a:cs typeface="Arial"/>
              </a:defRPr>
            </a:pPr>
            <a:r>
              <a:rPr sz="1500" b="0" i="0">
                <a:solidFill>
                  <a:srgbClr val="52606D"/>
                </a:solidFill>
                <a:latin typeface="Arial"/>
                <a:ea typeface="Arial"/>
                <a:cs typeface="Arial"/>
              </a:rPr>
              <a:t>The pipeline respects the difference between a model that can learn missingness and a model that cannot.</a:t>
            </a:r>
          </a:p>
        </p:txBody>
      </p:sp>
      <p:sp>
        <p:nvSpPr>
          <p:cNvPr id="6" name="Rounded Rectangle 5">
            <a:extLst>
              <a:ext uri="{FF2B5EF4-FFF2-40B4-BE49-F238E27FC236}">
                <a16:creationId xmlns:a16="http://schemas.microsoft.com/office/drawing/2014/main" id="{E812870F-A5CB-410F-B343-199BEAD4E6C4}"/>
              </a:ext>
            </a:extLst>
          </p:cNvPr>
          <p:cNvSpPr>
            <a:spLocks noGrp="1"/>
          </p:cNvSpPr>
          <p:nvPr/>
        </p:nvSpPr>
        <p:spPr>
          <a:xfrm>
            <a:off x="742950" y="2038350"/>
            <a:ext cx="4667250" cy="2476500"/>
          </a:xfrm>
          <a:prstGeom prst="roundRect">
            <a:avLst>
              <a:gd name="adj" fmla="val 4615"/>
            </a:avLst>
          </a:prstGeom>
          <a:solidFill>
            <a:srgbClr val="0B2239"/>
          </a:solidFill>
          <a:ln w="0">
            <a:noFill/>
            <a:prstDash val="solid"/>
          </a:ln>
        </p:spPr>
      </p:sp>
      <p:sp>
        <p:nvSpPr>
          <p:cNvPr id="7" name="Rectangle 6">
            <a:extLst>
              <a:ext uri="{FF2B5EF4-FFF2-40B4-BE49-F238E27FC236}">
                <a16:creationId xmlns:a16="http://schemas.microsoft.com/office/drawing/2014/main" id="{9A30BEDE-C13E-4731-A566-112F060669C7}"/>
              </a:ext>
            </a:extLst>
          </p:cNvPr>
          <p:cNvSpPr>
            <a:spLocks noGrp="1"/>
          </p:cNvSpPr>
          <p:nvPr/>
        </p:nvSpPr>
        <p:spPr>
          <a:xfrm>
            <a:off x="933450" y="2171700"/>
            <a:ext cx="4286250" cy="171450"/>
          </a:xfrm>
          <a:prstGeom prst="rect">
            <a:avLst/>
          </a:prstGeom>
          <a:noFill/>
          <a:ln w="0">
            <a:noFill/>
          </a:ln>
        </p:spPr>
        <p:txBody>
          <a:bodyPr lIns="0" tIns="0" rIns="0" bIns="0" anchor="t">
            <a:normAutofit/>
          </a:bodyPr>
          <a:lstStyle/>
          <a:p>
            <a:pPr algn="l">
              <a:lnSpc>
                <a:spcPct val="100000"/>
              </a:lnSpc>
              <a:buNone/>
              <a:defRPr sz="750" b="1" i="0">
                <a:solidFill>
                  <a:srgbClr val="8FE3D9"/>
                </a:solidFill>
                <a:latin typeface="Arial"/>
                <a:ea typeface="Arial"/>
                <a:cs typeface="Arial"/>
              </a:defRPr>
            </a:pPr>
            <a:r>
              <a:rPr sz="750" b="1" i="0">
                <a:solidFill>
                  <a:srgbClr val="8FE3D9"/>
                </a:solidFill>
                <a:latin typeface="Arial"/>
                <a:ea typeface="Arial"/>
                <a:cs typeface="Arial"/>
              </a:rPr>
              <a:t>TARGET-SPECIFIC DATA PREPARATION</a:t>
            </a:r>
          </a:p>
        </p:txBody>
      </p:sp>
      <p:sp>
        <p:nvSpPr>
          <p:cNvPr id="8" name="Rectangle 7">
            <a:extLst>
              <a:ext uri="{FF2B5EF4-FFF2-40B4-BE49-F238E27FC236}">
                <a16:creationId xmlns:a16="http://schemas.microsoft.com/office/drawing/2014/main" id="{8B12428A-FC39-4843-ACE8-8DE6ABAA7A6F}"/>
              </a:ext>
            </a:extLst>
          </p:cNvPr>
          <p:cNvSpPr>
            <a:spLocks noGrp="1"/>
          </p:cNvSpPr>
          <p:nvPr/>
        </p:nvSpPr>
        <p:spPr>
          <a:xfrm>
            <a:off x="933450" y="2438400"/>
            <a:ext cx="4286250" cy="1943100"/>
          </a:xfrm>
          <a:prstGeom prst="rect">
            <a:avLst/>
          </a:prstGeom>
          <a:noFill/>
          <a:ln w="0">
            <a:noFill/>
          </a:ln>
        </p:spPr>
        <p:txBody>
          <a:bodyPr lIns="0" tIns="0" rIns="0" bIns="0" anchor="t">
            <a:normAutofit/>
          </a:bodyPr>
          <a:lstStyle/>
          <a:p>
            <a:pPr algn="l">
              <a:lnSpc>
                <a:spcPct val="116000"/>
              </a:lnSpc>
              <a:buNone/>
              <a:defRPr sz="1125" b="0" i="0">
                <a:solidFill>
                  <a:srgbClr val="FFFFFF"/>
                </a:solidFill>
                <a:latin typeface="Arial"/>
                <a:ea typeface="Arial"/>
                <a:cs typeface="Arial"/>
              </a:defRPr>
            </a:pPr>
            <a:r>
              <a:rPr sz="1125" b="0" i="0">
                <a:solidFill>
                  <a:srgbClr val="FFFFFF"/>
                </a:solidFill>
                <a:latin typeface="Arial"/>
                <a:ea typeface="Arial"/>
                <a:cs typeface="Arial"/>
              </a:rPr>
              <a:t>universe_mask = valid_universe[target]</a:t>
            </a:r>
          </a:p>
          <a:p>
            <a:pPr algn="l">
              <a:lnSpc>
                <a:spcPct val="116000"/>
              </a:lnSpc>
              <a:buNone/>
              <a:defRPr sz="1125" b="0" i="0">
                <a:solidFill>
                  <a:srgbClr val="FFFFFF"/>
                </a:solidFill>
                <a:latin typeface="Arial"/>
                <a:ea typeface="Arial"/>
                <a:cs typeface="Arial"/>
              </a:defRPr>
            </a:pPr>
            <a:r>
              <a:rPr sz="1125" b="0" i="0">
                <a:solidFill>
                  <a:srgbClr val="FFFFFF"/>
                </a:solidFill>
                <a:latin typeface="Arial"/>
                <a:ea typeface="Arial"/>
                <a:cs typeface="Arial"/>
              </a:rPr>
              <a:t>X = df.loc[universe_mask, feature_groups[target]]</a:t>
            </a:r>
          </a:p>
          <a:p>
            <a:pPr algn="l">
              <a:lnSpc>
                <a:spcPct val="116000"/>
              </a:lnSpc>
              <a:buNone/>
              <a:defRPr sz="1125" b="0" i="0">
                <a:solidFill>
                  <a:srgbClr val="FFFFFF"/>
                </a:solidFill>
                <a:latin typeface="Arial"/>
                <a:ea typeface="Arial"/>
                <a:cs typeface="Arial"/>
              </a:defRPr>
            </a:pPr>
            <a:r>
              <a:rPr sz="1125" b="0" i="0">
                <a:solidFill>
                  <a:srgbClr val="FFFFFF"/>
                </a:solidFill>
                <a:latin typeface="Arial"/>
                <a:ea typeface="Arial"/>
                <a:cs typeface="Arial"/>
              </a:rPr>
              <a:t>y = df.loc[universe_mask, target]</a:t>
            </a:r>
          </a:p>
          <a:p>
            <a:endParaRPr sz="1125" b="0" i="0">
              <a:solidFill>
                <a:srgbClr val="FFFFFF"/>
              </a:solidFill>
              <a:latin typeface="Arial"/>
              <a:ea typeface="Arial"/>
              <a:cs typeface="Arial"/>
            </a:endParaRPr>
          </a:p>
          <a:p>
            <a:pPr algn="l">
              <a:lnSpc>
                <a:spcPct val="116000"/>
              </a:lnSpc>
              <a:buNone/>
              <a:defRPr sz="1125" b="0" i="0">
                <a:solidFill>
                  <a:srgbClr val="FFFFFF"/>
                </a:solidFill>
                <a:latin typeface="Arial"/>
                <a:ea typeface="Arial"/>
                <a:cs typeface="Arial"/>
              </a:defRPr>
            </a:pPr>
            <a:r>
              <a:rPr sz="1125" b="0" i="0">
                <a:solidFill>
                  <a:srgbClr val="FFFFFF"/>
                </a:solidFill>
                <a:latin typeface="Arial"/>
                <a:ea typeface="Arial"/>
                <a:cs typeface="Arial"/>
              </a:rPr>
              <a:t>train, test = grouped_split(X, y, groups=mother_id)</a:t>
            </a:r>
          </a:p>
        </p:txBody>
      </p:sp>
      <p:sp>
        <p:nvSpPr>
          <p:cNvPr id="9" name="Rounded Rectangle 8">
            <a:extLst>
              <a:ext uri="{FF2B5EF4-FFF2-40B4-BE49-F238E27FC236}">
                <a16:creationId xmlns:a16="http://schemas.microsoft.com/office/drawing/2014/main" id="{FA3631E9-D0F4-4ED9-A37A-20CE67B54F11}"/>
              </a:ext>
            </a:extLst>
          </p:cNvPr>
          <p:cNvSpPr>
            <a:spLocks noGrp="1"/>
          </p:cNvSpPr>
          <p:nvPr/>
        </p:nvSpPr>
        <p:spPr>
          <a:xfrm>
            <a:off x="5829300" y="2038350"/>
            <a:ext cx="5676900" cy="2476500"/>
          </a:xfrm>
          <a:prstGeom prst="roundRect">
            <a:avLst>
              <a:gd name="adj" fmla="val 6154"/>
            </a:avLst>
          </a:prstGeom>
          <a:solidFill>
            <a:srgbClr val="E5EEF6"/>
          </a:solidFill>
          <a:ln w="0">
            <a:noFill/>
            <a:prstDash val="solid"/>
          </a:ln>
        </p:spPr>
      </p:sp>
      <p:sp>
        <p:nvSpPr>
          <p:cNvPr id="10" name="Rectangle 9">
            <a:extLst>
              <a:ext uri="{FF2B5EF4-FFF2-40B4-BE49-F238E27FC236}">
                <a16:creationId xmlns:a16="http://schemas.microsoft.com/office/drawing/2014/main" id="{90C17F57-C941-4803-A79A-241EBFF042A9}"/>
              </a:ext>
            </a:extLst>
          </p:cNvPr>
          <p:cNvSpPr>
            <a:spLocks noGrp="1"/>
          </p:cNvSpPr>
          <p:nvPr/>
        </p:nvSpPr>
        <p:spPr>
          <a:xfrm>
            <a:off x="6134100" y="2343150"/>
            <a:ext cx="1809750" cy="24765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Dense path</a:t>
            </a:r>
          </a:p>
        </p:txBody>
      </p:sp>
      <p:sp>
        <p:nvSpPr>
          <p:cNvPr id="11" name="Rectangle 10">
            <a:extLst>
              <a:ext uri="{FF2B5EF4-FFF2-40B4-BE49-F238E27FC236}">
                <a16:creationId xmlns:a16="http://schemas.microsoft.com/office/drawing/2014/main" id="{070315DC-2476-40F1-8116-B6A9314F4DBF}"/>
              </a:ext>
            </a:extLst>
          </p:cNvPr>
          <p:cNvSpPr>
            <a:spLocks noGrp="1"/>
          </p:cNvSpPr>
          <p:nvPr/>
        </p:nvSpPr>
        <p:spPr>
          <a:xfrm>
            <a:off x="6134100" y="2724150"/>
            <a:ext cx="2238375" cy="1123950"/>
          </a:xfrm>
          <a:prstGeom prst="rect">
            <a:avLst/>
          </a:prstGeom>
          <a:noFill/>
          <a:ln w="0">
            <a:noFill/>
          </a:ln>
        </p:spPr>
        <p:txBody>
          <a:bodyPr lIns="0" tIns="0" rIns="0" bIns="0" anchor="t">
            <a:normAutofit/>
          </a:bodyPr>
          <a:lstStyle/>
          <a:p>
            <a:pPr algn="l">
              <a:lnSpc>
                <a:spcPct val="112000"/>
              </a:lnSpc>
              <a:buNone/>
              <a:defRPr sz="1275" b="0" i="0">
                <a:solidFill>
                  <a:srgbClr val="142735"/>
                </a:solidFill>
                <a:latin typeface="Arial"/>
                <a:ea typeface="Arial"/>
                <a:cs typeface="Arial"/>
              </a:defRPr>
            </a:pPr>
            <a:r>
              <a:rPr sz="1275" b="0" i="0">
                <a:solidFill>
                  <a:srgbClr val="142735"/>
                </a:solidFill>
                <a:latin typeface="Arial"/>
                <a:ea typeface="Arial"/>
                <a:cs typeface="Arial"/>
              </a:rPr>
              <a:t>Impute + missing indicators</a:t>
            </a:r>
          </a:p>
          <a:p>
            <a:pPr algn="l">
              <a:lnSpc>
                <a:spcPct val="112000"/>
              </a:lnSpc>
              <a:buNone/>
              <a:defRPr sz="1275" b="0" i="0">
                <a:solidFill>
                  <a:srgbClr val="142735"/>
                </a:solidFill>
                <a:latin typeface="Arial"/>
                <a:ea typeface="Arial"/>
                <a:cs typeface="Arial"/>
              </a:defRPr>
            </a:pPr>
            <a:r>
              <a:rPr sz="1275" b="0" i="0">
                <a:solidFill>
                  <a:srgbClr val="142735"/>
                </a:solidFill>
                <a:latin typeface="Arial"/>
                <a:ea typeface="Arial"/>
                <a:cs typeface="Arial"/>
              </a:rPr>
              <a:t>Robust scale numeric values</a:t>
            </a:r>
          </a:p>
          <a:p>
            <a:pPr algn="l">
              <a:lnSpc>
                <a:spcPct val="112000"/>
              </a:lnSpc>
              <a:buNone/>
              <a:defRPr sz="1275" b="0" i="0">
                <a:solidFill>
                  <a:srgbClr val="142735"/>
                </a:solidFill>
                <a:latin typeface="Arial"/>
                <a:ea typeface="Arial"/>
                <a:cs typeface="Arial"/>
              </a:defRPr>
            </a:pPr>
            <a:r>
              <a:rPr sz="1275" b="0" i="0">
                <a:solidFill>
                  <a:srgbClr val="142735"/>
                </a:solidFill>
                <a:latin typeface="Arial"/>
                <a:ea typeface="Arial"/>
                <a:cs typeface="Arial"/>
              </a:rPr>
              <a:t>Ordinal and one-hot encode categoricals</a:t>
            </a:r>
          </a:p>
        </p:txBody>
      </p:sp>
      <p:sp>
        <p:nvSpPr>
          <p:cNvPr id="12" name="Rectangle 11">
            <a:extLst>
              <a:ext uri="{FF2B5EF4-FFF2-40B4-BE49-F238E27FC236}">
                <a16:creationId xmlns:a16="http://schemas.microsoft.com/office/drawing/2014/main" id="{0844386B-FE0E-4E7E-8D95-6621E142E61F}"/>
              </a:ext>
            </a:extLst>
          </p:cNvPr>
          <p:cNvSpPr>
            <a:spLocks noGrp="1"/>
          </p:cNvSpPr>
          <p:nvPr/>
        </p:nvSpPr>
        <p:spPr>
          <a:xfrm>
            <a:off x="8915400" y="2343150"/>
            <a:ext cx="2095500" cy="247650"/>
          </a:xfrm>
          <a:prstGeom prst="rect">
            <a:avLst/>
          </a:prstGeom>
          <a:noFill/>
          <a:ln w="0">
            <a:noFill/>
          </a:ln>
        </p:spPr>
        <p:txBody>
          <a:bodyPr lIns="0" tIns="0" rIns="0" bIns="0" anchor="t">
            <a:normAutofit/>
          </a:bodyPr>
          <a:lstStyle/>
          <a:p>
            <a:pPr algn="l">
              <a:lnSpc>
                <a:spcPct val="108000"/>
              </a:lnSpc>
              <a:buNone/>
              <a:defRPr sz="1500" b="1" i="0">
                <a:solidFill>
                  <a:srgbClr val="0F766E"/>
                </a:solidFill>
                <a:latin typeface="Arial"/>
                <a:ea typeface="Arial"/>
                <a:cs typeface="Arial"/>
              </a:defRPr>
            </a:pPr>
            <a:r>
              <a:rPr sz="1500" b="1" i="0">
                <a:solidFill>
                  <a:srgbClr val="0F766E"/>
                </a:solidFill>
                <a:latin typeface="Arial"/>
                <a:ea typeface="Arial"/>
                <a:cs typeface="Arial"/>
              </a:rPr>
              <a:t>Native-NaN path</a:t>
            </a:r>
          </a:p>
        </p:txBody>
      </p:sp>
      <p:sp>
        <p:nvSpPr>
          <p:cNvPr id="13" name="Rectangle 12">
            <a:extLst>
              <a:ext uri="{FF2B5EF4-FFF2-40B4-BE49-F238E27FC236}">
                <a16:creationId xmlns:a16="http://schemas.microsoft.com/office/drawing/2014/main" id="{ABF0975B-EFDC-4FDD-B1A2-719F8B659C0D}"/>
              </a:ext>
            </a:extLst>
          </p:cNvPr>
          <p:cNvSpPr>
            <a:spLocks noGrp="1"/>
          </p:cNvSpPr>
          <p:nvPr/>
        </p:nvSpPr>
        <p:spPr>
          <a:xfrm>
            <a:off x="8915400" y="2724150"/>
            <a:ext cx="2095500" cy="1123950"/>
          </a:xfrm>
          <a:prstGeom prst="rect">
            <a:avLst/>
          </a:prstGeom>
          <a:noFill/>
          <a:ln w="0">
            <a:noFill/>
          </a:ln>
        </p:spPr>
        <p:txBody>
          <a:bodyPr lIns="0" tIns="0" rIns="0" bIns="0" anchor="t">
            <a:normAutofit/>
          </a:bodyPr>
          <a:lstStyle/>
          <a:p>
            <a:pPr algn="l">
              <a:lnSpc>
                <a:spcPct val="112000"/>
              </a:lnSpc>
              <a:buNone/>
              <a:defRPr sz="1275" b="0" i="0">
                <a:solidFill>
                  <a:srgbClr val="142735"/>
                </a:solidFill>
                <a:latin typeface="Arial"/>
                <a:ea typeface="Arial"/>
                <a:cs typeface="Arial"/>
              </a:defRPr>
            </a:pPr>
            <a:r>
              <a:rPr sz="1275" b="0" i="0">
                <a:solidFill>
                  <a:srgbClr val="142735"/>
                </a:solidFill>
                <a:latin typeface="Arial"/>
                <a:ea typeface="Arial"/>
                <a:cs typeface="Arial"/>
              </a:rPr>
              <a:t>Keep numeric NaN values</a:t>
            </a:r>
          </a:p>
          <a:p>
            <a:pPr algn="l">
              <a:lnSpc>
                <a:spcPct val="112000"/>
              </a:lnSpc>
              <a:buNone/>
              <a:defRPr sz="1275" b="0" i="0">
                <a:solidFill>
                  <a:srgbClr val="142735"/>
                </a:solidFill>
                <a:latin typeface="Arial"/>
                <a:ea typeface="Arial"/>
                <a:cs typeface="Arial"/>
              </a:defRPr>
            </a:pPr>
            <a:r>
              <a:rPr sz="1275" b="0" i="0">
                <a:solidFill>
                  <a:srgbClr val="142735"/>
                </a:solidFill>
                <a:latin typeface="Arial"/>
                <a:ea typeface="Arial"/>
                <a:cs typeface="Arial"/>
              </a:rPr>
              <a:t>XGBoost and LightGBM learn split directions for missingness</a:t>
            </a:r>
          </a:p>
        </p:txBody>
      </p:sp>
      <p:sp>
        <p:nvSpPr>
          <p:cNvPr id="14" name="Straight Connector 13">
            <a:extLst>
              <a:ext uri="{FF2B5EF4-FFF2-40B4-BE49-F238E27FC236}">
                <a16:creationId xmlns:a16="http://schemas.microsoft.com/office/drawing/2014/main" id="{F6C1C55C-2C5C-4F32-9237-4E6BA36D7FB5}"/>
              </a:ext>
            </a:extLst>
          </p:cNvPr>
          <p:cNvSpPr>
            <a:spLocks noGrp="1"/>
          </p:cNvSpPr>
          <p:nvPr/>
        </p:nvSpPr>
        <p:spPr>
          <a:xfrm>
            <a:off x="5829300" y="4000500"/>
            <a:ext cx="5676900" cy="0"/>
          </a:xfrm>
          <a:prstGeom prst="line">
            <a:avLst/>
          </a:prstGeom>
          <a:noFill/>
          <a:ln w="9525">
            <a:solidFill>
              <a:srgbClr val="D9E2EC"/>
            </a:solidFill>
            <a:prstDash val="solid"/>
          </a:ln>
        </p:spPr>
      </p:sp>
      <p:sp>
        <p:nvSpPr>
          <p:cNvPr id="15" name="Rectangle 14">
            <a:extLst>
              <a:ext uri="{FF2B5EF4-FFF2-40B4-BE49-F238E27FC236}">
                <a16:creationId xmlns:a16="http://schemas.microsoft.com/office/drawing/2014/main" id="{02BAE0D3-815D-4FBC-96A1-4BD602E49D3E}"/>
              </a:ext>
            </a:extLst>
          </p:cNvPr>
          <p:cNvSpPr>
            <a:spLocks noGrp="1"/>
          </p:cNvSpPr>
          <p:nvPr/>
        </p:nvSpPr>
        <p:spPr>
          <a:xfrm>
            <a:off x="5829300" y="4143375"/>
            <a:ext cx="5334000" cy="266700"/>
          </a:xfrm>
          <a:prstGeom prst="rect">
            <a:avLst/>
          </a:prstGeom>
          <a:noFill/>
          <a:ln w="0">
            <a:noFill/>
          </a:ln>
        </p:spPr>
        <p:txBody>
          <a:bodyPr lIns="0" tIns="0" rIns="0" bIns="0" anchor="t">
            <a:normAutofit/>
          </a:bodyPr>
          <a:lstStyle/>
          <a:p>
            <a:pPr algn="l">
              <a:lnSpc>
                <a:spcPct val="108000"/>
              </a:lnSpc>
              <a:buNone/>
              <a:defRPr sz="1350" b="1" i="0">
                <a:solidFill>
                  <a:srgbClr val="C75C5C"/>
                </a:solidFill>
                <a:latin typeface="Arial"/>
                <a:ea typeface="Arial"/>
                <a:cs typeface="Arial"/>
              </a:defRPr>
            </a:pPr>
            <a:r>
              <a:rPr sz="1350" b="1" i="0">
                <a:solidFill>
                  <a:srgbClr val="C75C5C"/>
                </a:solidFill>
                <a:latin typeface="Arial"/>
                <a:ea typeface="Arial"/>
                <a:cs typeface="Arial"/>
              </a:rPr>
              <a:t>Grouped splitting: a mother never appears in both train and test.</a:t>
            </a:r>
          </a:p>
        </p:txBody>
      </p:sp>
      <p:sp>
        <p:nvSpPr>
          <p:cNvPr id="16" name="Rectangle 15">
            <a:extLst>
              <a:ext uri="{FF2B5EF4-FFF2-40B4-BE49-F238E27FC236}">
                <a16:creationId xmlns:a16="http://schemas.microsoft.com/office/drawing/2014/main" id="{39A61CD9-6D12-4CA8-9D81-F1F430EE466D}"/>
              </a:ext>
            </a:extLst>
          </p:cNvPr>
          <p:cNvSpPr>
            <a:spLocks noGrp="1"/>
          </p:cNvSpPr>
          <p:nvPr/>
        </p:nvSpPr>
        <p:spPr>
          <a:xfrm>
            <a:off x="685800" y="5143500"/>
            <a:ext cx="10287000" cy="28575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This prevents the model from recognising families instead of learning transferable risk.</a:t>
            </a:r>
          </a:p>
        </p:txBody>
      </p:sp>
      <p:sp>
        <p:nvSpPr>
          <p:cNvPr id="17" name="Rectangle 16">
            <a:extLst>
              <a:ext uri="{FF2B5EF4-FFF2-40B4-BE49-F238E27FC236}">
                <a16:creationId xmlns:a16="http://schemas.microsoft.com/office/drawing/2014/main" id="{BF43631D-AE46-488F-B31B-50BA827A2AB6}"/>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3:03</a:t>
            </a:r>
          </a:p>
        </p:txBody>
      </p:sp>
      <p:sp>
        <p:nvSpPr>
          <p:cNvPr id="18" name="Rectangle 17">
            <a:extLst>
              <a:ext uri="{FF2B5EF4-FFF2-40B4-BE49-F238E27FC236}">
                <a16:creationId xmlns:a16="http://schemas.microsoft.com/office/drawing/2014/main" id="{6B5F8351-601B-4F58-887A-6BF11D43A551}"/>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134-138</a:t>
            </a:r>
          </a:p>
        </p:txBody>
      </p:sp>
      <p:sp>
        <p:nvSpPr>
          <p:cNvPr id="19" name="Rectangle 18">
            <a:extLst>
              <a:ext uri="{FF2B5EF4-FFF2-40B4-BE49-F238E27FC236}">
                <a16:creationId xmlns:a16="http://schemas.microsoft.com/office/drawing/2014/main" id="{6120D857-BD5B-48B9-B4FF-D4AC0F976CB2}"/>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461219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F32F62EE-D17E-49B6-88C8-2F4F61D8C3D8}"/>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LEAKAGE AUDIT</a:t>
            </a:r>
          </a:p>
        </p:txBody>
      </p:sp>
      <p:sp>
        <p:nvSpPr>
          <p:cNvPr id="2" name="Rectangle 1">
            <a:extLst>
              <a:ext uri="{FF2B5EF4-FFF2-40B4-BE49-F238E27FC236}">
                <a16:creationId xmlns:a16="http://schemas.microsoft.com/office/drawing/2014/main" id="{C8BA4ADF-1CC4-4679-ACE9-F3A1F10D2387}"/>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A near-perfect score can be a warning sign</a:t>
            </a:r>
          </a:p>
        </p:txBody>
      </p:sp>
      <p:sp>
        <p:nvSpPr>
          <p:cNvPr id="3" name="Rectangle 2">
            <a:extLst>
              <a:ext uri="{FF2B5EF4-FFF2-40B4-BE49-F238E27FC236}">
                <a16:creationId xmlns:a16="http://schemas.microsoft.com/office/drawing/2014/main" id="{E1616308-B05F-4994-8872-085D7F5D6DBB}"/>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06</a:t>
            </a:r>
          </a:p>
        </p:txBody>
      </p:sp>
      <p:sp>
        <p:nvSpPr>
          <p:cNvPr id="4" name="Straight Connector 3">
            <a:extLst>
              <a:ext uri="{FF2B5EF4-FFF2-40B4-BE49-F238E27FC236}">
                <a16:creationId xmlns:a16="http://schemas.microsoft.com/office/drawing/2014/main" id="{B3BD0055-6B06-4C5C-AB52-27DAA05411ED}"/>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ectangle 4">
            <a:extLst>
              <a:ext uri="{FF2B5EF4-FFF2-40B4-BE49-F238E27FC236}">
                <a16:creationId xmlns:a16="http://schemas.microsoft.com/office/drawing/2014/main" id="{70506C65-DF0B-4788-998B-2D5E928E9EE4}"/>
              </a:ext>
            </a:extLst>
          </p:cNvPr>
          <p:cNvSpPr>
            <a:spLocks noGrp="1"/>
          </p:cNvSpPr>
          <p:nvPr/>
        </p:nvSpPr>
        <p:spPr>
          <a:xfrm>
            <a:off x="685800" y="1428750"/>
            <a:ext cx="10477500" cy="323850"/>
          </a:xfrm>
          <a:prstGeom prst="rect">
            <a:avLst/>
          </a:prstGeom>
          <a:noFill/>
          <a:ln w="0">
            <a:noFill/>
          </a:ln>
        </p:spPr>
        <p:txBody>
          <a:bodyPr lIns="0" tIns="0" rIns="0" bIns="0" anchor="t">
            <a:normAutofit/>
          </a:bodyPr>
          <a:lstStyle/>
          <a:p>
            <a:pPr algn="l">
              <a:lnSpc>
                <a:spcPct val="108000"/>
              </a:lnSpc>
              <a:buNone/>
              <a:defRPr sz="1500" b="0" i="0">
                <a:solidFill>
                  <a:srgbClr val="52606D"/>
                </a:solidFill>
                <a:latin typeface="Arial"/>
                <a:ea typeface="Arial"/>
                <a:cs typeface="Arial"/>
              </a:defRPr>
            </a:pPr>
            <a:r>
              <a:rPr sz="1500" b="0" i="0">
                <a:solidFill>
                  <a:srgbClr val="52606D"/>
                </a:solidFill>
                <a:latin typeface="Arial"/>
                <a:ea typeface="Arial"/>
                <a:cs typeface="Arial"/>
              </a:rPr>
              <a:t>We audited five ways that a survey variable can reveal the outcome instead of predicting it early.</a:t>
            </a:r>
          </a:p>
        </p:txBody>
      </p:sp>
      <p:sp>
        <p:nvSpPr>
          <p:cNvPr id="6" name="Rounded Rectangle 5">
            <a:extLst>
              <a:ext uri="{FF2B5EF4-FFF2-40B4-BE49-F238E27FC236}">
                <a16:creationId xmlns:a16="http://schemas.microsoft.com/office/drawing/2014/main" id="{DE12A963-0166-4157-BC8D-6D3D38198661}"/>
              </a:ext>
            </a:extLst>
          </p:cNvPr>
          <p:cNvSpPr>
            <a:spLocks noGrp="1"/>
          </p:cNvSpPr>
          <p:nvPr/>
        </p:nvSpPr>
        <p:spPr>
          <a:xfrm>
            <a:off x="685800" y="2152650"/>
            <a:ext cx="3143250" cy="781050"/>
          </a:xfrm>
          <a:prstGeom prst="roundRect">
            <a:avLst>
              <a:gd name="adj" fmla="val 14634"/>
            </a:avLst>
          </a:prstGeom>
          <a:solidFill>
            <a:srgbClr val="F9E5E5"/>
          </a:solidFill>
          <a:ln w="0">
            <a:noFill/>
            <a:prstDash val="solid"/>
          </a:ln>
        </p:spPr>
      </p:sp>
      <p:sp>
        <p:nvSpPr>
          <p:cNvPr id="7" name="Rectangle 6">
            <a:extLst>
              <a:ext uri="{FF2B5EF4-FFF2-40B4-BE49-F238E27FC236}">
                <a16:creationId xmlns:a16="http://schemas.microsoft.com/office/drawing/2014/main" id="{EDF2E60F-39D8-4BE4-8196-923B2BFC8DBC}"/>
              </a:ext>
            </a:extLst>
          </p:cNvPr>
          <p:cNvSpPr>
            <a:spLocks noGrp="1"/>
          </p:cNvSpPr>
          <p:nvPr/>
        </p:nvSpPr>
        <p:spPr>
          <a:xfrm>
            <a:off x="857250" y="2286000"/>
            <a:ext cx="2800350" cy="228600"/>
          </a:xfrm>
          <a:prstGeom prst="rect">
            <a:avLst/>
          </a:prstGeom>
          <a:noFill/>
          <a:ln w="0">
            <a:noFill/>
          </a:ln>
        </p:spPr>
        <p:txBody>
          <a:bodyPr lIns="0" tIns="0" rIns="0" bIns="0" anchor="t">
            <a:normAutofit/>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Post-outcome</a:t>
            </a:r>
          </a:p>
        </p:txBody>
      </p:sp>
      <p:sp>
        <p:nvSpPr>
          <p:cNvPr id="8" name="Rectangle 7">
            <a:extLst>
              <a:ext uri="{FF2B5EF4-FFF2-40B4-BE49-F238E27FC236}">
                <a16:creationId xmlns:a16="http://schemas.microsoft.com/office/drawing/2014/main" id="{E6A022EF-350E-4EBF-A8CA-0815685BEAA1}"/>
              </a:ext>
            </a:extLst>
          </p:cNvPr>
          <p:cNvSpPr>
            <a:spLocks noGrp="1"/>
          </p:cNvSpPr>
          <p:nvPr/>
        </p:nvSpPr>
        <p:spPr>
          <a:xfrm>
            <a:off x="857250" y="2571750"/>
            <a:ext cx="2800350" cy="228600"/>
          </a:xfrm>
          <a:prstGeom prst="rect">
            <a:avLst/>
          </a:prstGeom>
          <a:noFill/>
          <a:ln w="0">
            <a:noFill/>
          </a:ln>
        </p:spPr>
        <p:txBody>
          <a:bodyPr lIns="0" tIns="0" rIns="0" bIns="0" anchor="t">
            <a:normAutofit/>
          </a:bodyPr>
          <a:lstStyle/>
          <a:p>
            <a:pPr algn="l">
              <a:lnSpc>
                <a:spcPct val="108000"/>
              </a:lnSpc>
              <a:buNone/>
              <a:defRPr sz="1088" b="0" i="0">
                <a:solidFill>
                  <a:srgbClr val="52606D"/>
                </a:solidFill>
                <a:latin typeface="Arial"/>
                <a:ea typeface="Arial"/>
                <a:cs typeface="Arial"/>
              </a:defRPr>
            </a:pPr>
            <a:r>
              <a:rPr sz="1088" b="0" i="0">
                <a:solidFill>
                  <a:srgbClr val="52606D"/>
                </a:solidFill>
                <a:latin typeface="Arial"/>
                <a:ea typeface="Arial"/>
                <a:cs typeface="Arial"/>
              </a:rPr>
              <a:t>breastfeeding or postnatal fields</a:t>
            </a:r>
          </a:p>
        </p:txBody>
      </p:sp>
      <p:sp>
        <p:nvSpPr>
          <p:cNvPr id="9" name="Rounded Rectangle 8">
            <a:extLst>
              <a:ext uri="{FF2B5EF4-FFF2-40B4-BE49-F238E27FC236}">
                <a16:creationId xmlns:a16="http://schemas.microsoft.com/office/drawing/2014/main" id="{A2234977-3E1C-4CBE-8F84-EC9372B61ECB}"/>
              </a:ext>
            </a:extLst>
          </p:cNvPr>
          <p:cNvSpPr>
            <a:spLocks noGrp="1"/>
          </p:cNvSpPr>
          <p:nvPr/>
        </p:nvSpPr>
        <p:spPr>
          <a:xfrm>
            <a:off x="4210050" y="2152650"/>
            <a:ext cx="3143250" cy="781050"/>
          </a:xfrm>
          <a:prstGeom prst="roundRect">
            <a:avLst>
              <a:gd name="adj" fmla="val 14634"/>
            </a:avLst>
          </a:prstGeom>
          <a:solidFill>
            <a:srgbClr val="F9E5E5"/>
          </a:solidFill>
          <a:ln w="0">
            <a:noFill/>
            <a:prstDash val="solid"/>
          </a:ln>
        </p:spPr>
      </p:sp>
      <p:sp>
        <p:nvSpPr>
          <p:cNvPr id="10" name="Rectangle 9">
            <a:extLst>
              <a:ext uri="{FF2B5EF4-FFF2-40B4-BE49-F238E27FC236}">
                <a16:creationId xmlns:a16="http://schemas.microsoft.com/office/drawing/2014/main" id="{6499361F-EE97-4B8F-BC87-E44CF271DAF7}"/>
              </a:ext>
            </a:extLst>
          </p:cNvPr>
          <p:cNvSpPr>
            <a:spLocks noGrp="1"/>
          </p:cNvSpPr>
          <p:nvPr/>
        </p:nvSpPr>
        <p:spPr>
          <a:xfrm>
            <a:off x="4381500" y="2286000"/>
            <a:ext cx="2800350" cy="228600"/>
          </a:xfrm>
          <a:prstGeom prst="rect">
            <a:avLst/>
          </a:prstGeom>
          <a:noFill/>
          <a:ln w="0">
            <a:noFill/>
          </a:ln>
        </p:spPr>
        <p:txBody>
          <a:bodyPr lIns="0" tIns="0" rIns="0" bIns="0" anchor="t">
            <a:normAutofit/>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Same-moment</a:t>
            </a:r>
          </a:p>
        </p:txBody>
      </p:sp>
      <p:sp>
        <p:nvSpPr>
          <p:cNvPr id="11" name="Rectangle 10">
            <a:extLst>
              <a:ext uri="{FF2B5EF4-FFF2-40B4-BE49-F238E27FC236}">
                <a16:creationId xmlns:a16="http://schemas.microsoft.com/office/drawing/2014/main" id="{1093EA28-64CD-48EB-9C0F-767FCA18087B}"/>
              </a:ext>
            </a:extLst>
          </p:cNvPr>
          <p:cNvSpPr>
            <a:spLocks noGrp="1"/>
          </p:cNvSpPr>
          <p:nvPr/>
        </p:nvSpPr>
        <p:spPr>
          <a:xfrm>
            <a:off x="4381500" y="2571750"/>
            <a:ext cx="2800350" cy="228600"/>
          </a:xfrm>
          <a:prstGeom prst="rect">
            <a:avLst/>
          </a:prstGeom>
          <a:noFill/>
          <a:ln w="0">
            <a:noFill/>
          </a:ln>
        </p:spPr>
        <p:txBody>
          <a:bodyPr lIns="0" tIns="0" rIns="0" bIns="0" anchor="t">
            <a:normAutofit/>
          </a:bodyPr>
          <a:lstStyle/>
          <a:p>
            <a:pPr algn="l">
              <a:lnSpc>
                <a:spcPct val="108000"/>
              </a:lnSpc>
              <a:buNone/>
              <a:defRPr sz="1088" b="0" i="0">
                <a:solidFill>
                  <a:srgbClr val="52606D"/>
                </a:solidFill>
                <a:latin typeface="Arial"/>
                <a:ea typeface="Arial"/>
                <a:cs typeface="Arial"/>
              </a:defRPr>
            </a:pPr>
            <a:r>
              <a:rPr sz="1088" b="0" i="0">
                <a:solidFill>
                  <a:srgbClr val="52606D"/>
                </a:solidFill>
                <a:latin typeface="Arial"/>
                <a:ea typeface="Arial"/>
                <a:cs typeface="Arial"/>
              </a:rPr>
              <a:t>fever, diarrhoea, ARI</a:t>
            </a:r>
          </a:p>
        </p:txBody>
      </p:sp>
      <p:sp>
        <p:nvSpPr>
          <p:cNvPr id="12" name="Rounded Rectangle 11">
            <a:extLst>
              <a:ext uri="{FF2B5EF4-FFF2-40B4-BE49-F238E27FC236}">
                <a16:creationId xmlns:a16="http://schemas.microsoft.com/office/drawing/2014/main" id="{53D613F3-9647-42D2-A749-71965F92363F}"/>
              </a:ext>
            </a:extLst>
          </p:cNvPr>
          <p:cNvSpPr>
            <a:spLocks noGrp="1"/>
          </p:cNvSpPr>
          <p:nvPr/>
        </p:nvSpPr>
        <p:spPr>
          <a:xfrm>
            <a:off x="7734300" y="2152650"/>
            <a:ext cx="3143250" cy="781050"/>
          </a:xfrm>
          <a:prstGeom prst="roundRect">
            <a:avLst>
              <a:gd name="adj" fmla="val 14634"/>
            </a:avLst>
          </a:prstGeom>
          <a:solidFill>
            <a:srgbClr val="FEF3C7"/>
          </a:solidFill>
          <a:ln w="0">
            <a:noFill/>
            <a:prstDash val="solid"/>
          </a:ln>
        </p:spPr>
      </p:sp>
      <p:sp>
        <p:nvSpPr>
          <p:cNvPr id="13" name="Rectangle 12">
            <a:extLst>
              <a:ext uri="{FF2B5EF4-FFF2-40B4-BE49-F238E27FC236}">
                <a16:creationId xmlns:a16="http://schemas.microsoft.com/office/drawing/2014/main" id="{78DE0647-662B-4E97-AB83-B661D0A10851}"/>
              </a:ext>
            </a:extLst>
          </p:cNvPr>
          <p:cNvSpPr>
            <a:spLocks noGrp="1"/>
          </p:cNvSpPr>
          <p:nvPr/>
        </p:nvSpPr>
        <p:spPr>
          <a:xfrm>
            <a:off x="7905750" y="2286000"/>
            <a:ext cx="2800350" cy="228600"/>
          </a:xfrm>
          <a:prstGeom prst="rect">
            <a:avLst/>
          </a:prstGeom>
          <a:noFill/>
          <a:ln w="0">
            <a:noFill/>
          </a:ln>
        </p:spPr>
        <p:txBody>
          <a:bodyPr lIns="0" tIns="0" rIns="0" bIns="0" anchor="t">
            <a:normAutofit/>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Definitional</a:t>
            </a:r>
          </a:p>
        </p:txBody>
      </p:sp>
      <p:sp>
        <p:nvSpPr>
          <p:cNvPr id="14" name="Rectangle 13">
            <a:extLst>
              <a:ext uri="{FF2B5EF4-FFF2-40B4-BE49-F238E27FC236}">
                <a16:creationId xmlns:a16="http://schemas.microsoft.com/office/drawing/2014/main" id="{978AB833-6D14-483A-92C1-13E60A10F22B}"/>
              </a:ext>
            </a:extLst>
          </p:cNvPr>
          <p:cNvSpPr>
            <a:spLocks noGrp="1"/>
          </p:cNvSpPr>
          <p:nvPr/>
        </p:nvSpPr>
        <p:spPr>
          <a:xfrm>
            <a:off x="7905750" y="2571750"/>
            <a:ext cx="2800350" cy="228600"/>
          </a:xfrm>
          <a:prstGeom prst="rect">
            <a:avLst/>
          </a:prstGeom>
          <a:noFill/>
          <a:ln w="0">
            <a:noFill/>
          </a:ln>
        </p:spPr>
        <p:txBody>
          <a:bodyPr lIns="0" tIns="0" rIns="0" bIns="0" anchor="t">
            <a:normAutofit/>
          </a:bodyPr>
          <a:lstStyle/>
          <a:p>
            <a:pPr algn="l">
              <a:lnSpc>
                <a:spcPct val="108000"/>
              </a:lnSpc>
              <a:buNone/>
              <a:defRPr sz="1088" b="0" i="0">
                <a:solidFill>
                  <a:srgbClr val="52606D"/>
                </a:solidFill>
                <a:latin typeface="Arial"/>
                <a:ea typeface="Arial"/>
                <a:cs typeface="Arial"/>
              </a:defRPr>
            </a:pPr>
            <a:r>
              <a:rPr sz="1088" b="0" i="0">
                <a:solidFill>
                  <a:srgbClr val="52606D"/>
                </a:solidFill>
                <a:latin typeface="Arial"/>
                <a:ea typeface="Arial"/>
                <a:cs typeface="Arial"/>
              </a:rPr>
              <a:t>stunted = HAZ below -2</a:t>
            </a:r>
          </a:p>
        </p:txBody>
      </p:sp>
      <p:sp>
        <p:nvSpPr>
          <p:cNvPr id="15" name="Rounded Rectangle 14">
            <a:extLst>
              <a:ext uri="{FF2B5EF4-FFF2-40B4-BE49-F238E27FC236}">
                <a16:creationId xmlns:a16="http://schemas.microsoft.com/office/drawing/2014/main" id="{80213B33-EE70-4611-8AD6-43E0E1C0F4DD}"/>
              </a:ext>
            </a:extLst>
          </p:cNvPr>
          <p:cNvSpPr>
            <a:spLocks noGrp="1"/>
          </p:cNvSpPr>
          <p:nvPr/>
        </p:nvSpPr>
        <p:spPr>
          <a:xfrm>
            <a:off x="685800" y="3162300"/>
            <a:ext cx="3143250" cy="781050"/>
          </a:xfrm>
          <a:prstGeom prst="roundRect">
            <a:avLst>
              <a:gd name="adj" fmla="val 14634"/>
            </a:avLst>
          </a:prstGeom>
          <a:solidFill>
            <a:srgbClr val="FEF3C7"/>
          </a:solidFill>
          <a:ln w="0">
            <a:noFill/>
            <a:prstDash val="solid"/>
          </a:ln>
        </p:spPr>
      </p:sp>
      <p:sp>
        <p:nvSpPr>
          <p:cNvPr id="16" name="Rectangle 15">
            <a:extLst>
              <a:ext uri="{FF2B5EF4-FFF2-40B4-BE49-F238E27FC236}">
                <a16:creationId xmlns:a16="http://schemas.microsoft.com/office/drawing/2014/main" id="{E595430C-53FB-48AF-B380-9D32736C2507}"/>
              </a:ext>
            </a:extLst>
          </p:cNvPr>
          <p:cNvSpPr>
            <a:spLocks noGrp="1"/>
          </p:cNvSpPr>
          <p:nvPr/>
        </p:nvSpPr>
        <p:spPr>
          <a:xfrm>
            <a:off x="857250" y="3295650"/>
            <a:ext cx="2800350" cy="228600"/>
          </a:xfrm>
          <a:prstGeom prst="rect">
            <a:avLst/>
          </a:prstGeom>
          <a:noFill/>
          <a:ln w="0">
            <a:noFill/>
          </a:ln>
        </p:spPr>
        <p:txBody>
          <a:bodyPr lIns="0" tIns="0" rIns="0" bIns="0" anchor="t">
            <a:normAutofit/>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Arithmetic identity</a:t>
            </a:r>
          </a:p>
        </p:txBody>
      </p:sp>
      <p:sp>
        <p:nvSpPr>
          <p:cNvPr id="17" name="Rectangle 16">
            <a:extLst>
              <a:ext uri="{FF2B5EF4-FFF2-40B4-BE49-F238E27FC236}">
                <a16:creationId xmlns:a16="http://schemas.microsoft.com/office/drawing/2014/main" id="{97B75E5F-B212-4C06-9786-5F35E7CD8E75}"/>
              </a:ext>
            </a:extLst>
          </p:cNvPr>
          <p:cNvSpPr>
            <a:spLocks noGrp="1"/>
          </p:cNvSpPr>
          <p:nvPr/>
        </p:nvSpPr>
        <p:spPr>
          <a:xfrm>
            <a:off x="857250" y="3581400"/>
            <a:ext cx="2800350" cy="228600"/>
          </a:xfrm>
          <a:prstGeom prst="rect">
            <a:avLst/>
          </a:prstGeom>
          <a:noFill/>
          <a:ln w="0">
            <a:noFill/>
          </a:ln>
        </p:spPr>
        <p:txBody>
          <a:bodyPr lIns="0" tIns="0" rIns="0" bIns="0" anchor="t">
            <a:normAutofit/>
          </a:bodyPr>
          <a:lstStyle/>
          <a:p>
            <a:pPr algn="l">
              <a:lnSpc>
                <a:spcPct val="108000"/>
              </a:lnSpc>
              <a:buNone/>
              <a:defRPr sz="1088" b="0" i="0">
                <a:solidFill>
                  <a:srgbClr val="52606D"/>
                </a:solidFill>
                <a:latin typeface="Arial"/>
                <a:ea typeface="Arial"/>
                <a:cs typeface="Arial"/>
              </a:defRPr>
            </a:pPr>
            <a:r>
              <a:rPr sz="1088" b="0" i="0">
                <a:solidFill>
                  <a:srgbClr val="52606D"/>
                </a:solidFill>
                <a:latin typeface="Arial"/>
                <a:ea typeface="Arial"/>
                <a:cs typeface="Arial"/>
              </a:rPr>
              <a:t>children ever born - living children</a:t>
            </a:r>
          </a:p>
        </p:txBody>
      </p:sp>
      <p:sp>
        <p:nvSpPr>
          <p:cNvPr id="18" name="Rounded Rectangle 17">
            <a:extLst>
              <a:ext uri="{FF2B5EF4-FFF2-40B4-BE49-F238E27FC236}">
                <a16:creationId xmlns:a16="http://schemas.microsoft.com/office/drawing/2014/main" id="{37B07DFB-E2DE-4F8D-8630-C121A96AE42B}"/>
              </a:ext>
            </a:extLst>
          </p:cNvPr>
          <p:cNvSpPr>
            <a:spLocks noGrp="1"/>
          </p:cNvSpPr>
          <p:nvPr/>
        </p:nvSpPr>
        <p:spPr>
          <a:xfrm>
            <a:off x="4210050" y="3162300"/>
            <a:ext cx="3143250" cy="781050"/>
          </a:xfrm>
          <a:prstGeom prst="roundRect">
            <a:avLst>
              <a:gd name="adj" fmla="val 14634"/>
            </a:avLst>
          </a:prstGeom>
          <a:solidFill>
            <a:srgbClr val="F9E5E5"/>
          </a:solidFill>
          <a:ln w="0">
            <a:noFill/>
            <a:prstDash val="solid"/>
          </a:ln>
        </p:spPr>
      </p:sp>
      <p:sp>
        <p:nvSpPr>
          <p:cNvPr id="19" name="Rectangle 18">
            <a:extLst>
              <a:ext uri="{FF2B5EF4-FFF2-40B4-BE49-F238E27FC236}">
                <a16:creationId xmlns:a16="http://schemas.microsoft.com/office/drawing/2014/main" id="{E8A964BD-F0E3-4482-87F1-41343DF3BA52}"/>
              </a:ext>
            </a:extLst>
          </p:cNvPr>
          <p:cNvSpPr>
            <a:spLocks noGrp="1"/>
          </p:cNvSpPr>
          <p:nvPr/>
        </p:nvSpPr>
        <p:spPr>
          <a:xfrm>
            <a:off x="4381500" y="3295650"/>
            <a:ext cx="2800350" cy="228600"/>
          </a:xfrm>
          <a:prstGeom prst="rect">
            <a:avLst/>
          </a:prstGeom>
          <a:noFill/>
          <a:ln w="0">
            <a:noFill/>
          </a:ln>
        </p:spPr>
        <p:txBody>
          <a:bodyPr lIns="0" tIns="0" rIns="0" bIns="0" anchor="t">
            <a:normAutofit/>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Missingness-as-outcome</a:t>
            </a:r>
          </a:p>
        </p:txBody>
      </p:sp>
      <p:sp>
        <p:nvSpPr>
          <p:cNvPr id="20" name="Rectangle 19">
            <a:extLst>
              <a:ext uri="{FF2B5EF4-FFF2-40B4-BE49-F238E27FC236}">
                <a16:creationId xmlns:a16="http://schemas.microsoft.com/office/drawing/2014/main" id="{CE106E15-7822-4784-99EA-508EF44E2A85}"/>
              </a:ext>
            </a:extLst>
          </p:cNvPr>
          <p:cNvSpPr>
            <a:spLocks noGrp="1"/>
          </p:cNvSpPr>
          <p:nvPr/>
        </p:nvSpPr>
        <p:spPr>
          <a:xfrm>
            <a:off x="4381500" y="3581400"/>
            <a:ext cx="2800350" cy="228600"/>
          </a:xfrm>
          <a:prstGeom prst="rect">
            <a:avLst/>
          </a:prstGeom>
          <a:noFill/>
          <a:ln w="0">
            <a:noFill/>
          </a:ln>
        </p:spPr>
        <p:txBody>
          <a:bodyPr lIns="0" tIns="0" rIns="0" bIns="0" anchor="t">
            <a:normAutofit/>
          </a:bodyPr>
          <a:lstStyle/>
          <a:p>
            <a:pPr algn="l">
              <a:lnSpc>
                <a:spcPct val="108000"/>
              </a:lnSpc>
              <a:buNone/>
              <a:defRPr sz="1088" b="0" i="0">
                <a:solidFill>
                  <a:srgbClr val="52606D"/>
                </a:solidFill>
                <a:latin typeface="Arial"/>
                <a:ea typeface="Arial"/>
                <a:cs typeface="Arial"/>
              </a:defRPr>
            </a:pPr>
            <a:r>
              <a:rPr sz="1088" b="0" i="0">
                <a:solidFill>
                  <a:srgbClr val="52606D"/>
                </a:solidFill>
                <a:latin typeface="Arial"/>
                <a:ea typeface="Arial"/>
                <a:cs typeface="Arial"/>
              </a:rPr>
              <a:t>b8 present for survivors only</a:t>
            </a:r>
          </a:p>
        </p:txBody>
      </p:sp>
      <p:sp>
        <p:nvSpPr>
          <p:cNvPr id="21" name="Rounded Rectangle 20">
            <a:extLst>
              <a:ext uri="{FF2B5EF4-FFF2-40B4-BE49-F238E27FC236}">
                <a16:creationId xmlns:a16="http://schemas.microsoft.com/office/drawing/2014/main" id="{7518551C-76E6-450F-A884-E9FE714561FF}"/>
              </a:ext>
            </a:extLst>
          </p:cNvPr>
          <p:cNvSpPr>
            <a:spLocks noGrp="1"/>
          </p:cNvSpPr>
          <p:nvPr/>
        </p:nvSpPr>
        <p:spPr>
          <a:xfrm>
            <a:off x="685800" y="4457700"/>
            <a:ext cx="3143250" cy="1047750"/>
          </a:xfrm>
          <a:prstGeom prst="roundRect">
            <a:avLst>
              <a:gd name="adj" fmla="val 10909"/>
            </a:avLst>
          </a:prstGeom>
          <a:solidFill>
            <a:srgbClr val="FFFFFF"/>
          </a:solidFill>
          <a:ln w="9525">
            <a:solidFill>
              <a:srgbClr val="D9E2EC"/>
            </a:solidFill>
            <a:prstDash val="solid"/>
          </a:ln>
        </p:spPr>
      </p:sp>
      <p:sp>
        <p:nvSpPr>
          <p:cNvPr id="22" name="Rectangle 21">
            <a:extLst>
              <a:ext uri="{FF2B5EF4-FFF2-40B4-BE49-F238E27FC236}">
                <a16:creationId xmlns:a16="http://schemas.microsoft.com/office/drawing/2014/main" id="{20B32B9E-33B4-4A9D-B4AD-23C9334523B9}"/>
              </a:ext>
            </a:extLst>
          </p:cNvPr>
          <p:cNvSpPr>
            <a:spLocks noGrp="1"/>
          </p:cNvSpPr>
          <p:nvPr/>
        </p:nvSpPr>
        <p:spPr>
          <a:xfrm>
            <a:off x="895350" y="4629150"/>
            <a:ext cx="2476500" cy="209550"/>
          </a:xfrm>
          <a:prstGeom prst="rect">
            <a:avLst/>
          </a:prstGeom>
          <a:noFill/>
          <a:ln w="0">
            <a:noFill/>
          </a:ln>
        </p:spPr>
        <p:txBody>
          <a:bodyPr lIns="0" tIns="0" rIns="0" bIns="0" anchor="t">
            <a:normAutofit/>
          </a:bodyPr>
          <a:lstStyle/>
          <a:p>
            <a:pPr algn="l">
              <a:lnSpc>
                <a:spcPct val="108000"/>
              </a:lnSpc>
              <a:buNone/>
              <a:defRPr sz="1200" b="1" i="0">
                <a:solidFill>
                  <a:srgbClr val="102A43"/>
                </a:solidFill>
                <a:latin typeface="Arial"/>
                <a:ea typeface="Arial"/>
                <a:cs typeface="Arial"/>
              </a:defRPr>
            </a:pPr>
            <a:r>
              <a:rPr sz="1200" b="1" i="0">
                <a:solidFill>
                  <a:srgbClr val="102A43"/>
                </a:solidFill>
                <a:latin typeface="Arial"/>
                <a:ea typeface="Arial"/>
                <a:cs typeface="Arial"/>
              </a:rPr>
              <a:t>Audited XGBoost</a:t>
            </a:r>
          </a:p>
        </p:txBody>
      </p:sp>
      <p:sp>
        <p:nvSpPr>
          <p:cNvPr id="23" name="Rectangle 22">
            <a:extLst>
              <a:ext uri="{FF2B5EF4-FFF2-40B4-BE49-F238E27FC236}">
                <a16:creationId xmlns:a16="http://schemas.microsoft.com/office/drawing/2014/main" id="{2C29FFCF-237D-4BC9-8CCE-B1BAC5103323}"/>
              </a:ext>
            </a:extLst>
          </p:cNvPr>
          <p:cNvSpPr>
            <a:spLocks noGrp="1"/>
          </p:cNvSpPr>
          <p:nvPr/>
        </p:nvSpPr>
        <p:spPr>
          <a:xfrm>
            <a:off x="895350" y="4953000"/>
            <a:ext cx="2381250" cy="304800"/>
          </a:xfrm>
          <a:prstGeom prst="rect">
            <a:avLst/>
          </a:prstGeom>
          <a:noFill/>
          <a:ln w="0">
            <a:noFill/>
          </a:ln>
        </p:spPr>
        <p:txBody>
          <a:bodyPr lIns="0" tIns="0" rIns="0" bIns="0" anchor="t">
            <a:normAutofit fontScale="91449" lnSpcReduction="10000"/>
          </a:bodyPr>
          <a:lstStyle/>
          <a:p>
            <a:pPr algn="l">
              <a:lnSpc>
                <a:spcPct val="108000"/>
              </a:lnSpc>
              <a:buNone/>
              <a:defRPr sz="2025" b="1" i="0">
                <a:solidFill>
                  <a:srgbClr val="0F766E"/>
                </a:solidFill>
                <a:latin typeface="Arial"/>
                <a:ea typeface="Arial"/>
                <a:cs typeface="Arial"/>
              </a:defRPr>
            </a:pPr>
            <a:r>
              <a:rPr sz="2025" b="1" i="0">
                <a:solidFill>
                  <a:srgbClr val="0F766E"/>
                </a:solidFill>
                <a:latin typeface="Arial"/>
                <a:ea typeface="Arial"/>
                <a:cs typeface="Arial"/>
              </a:rPr>
              <a:t>ROC-AUC 0.742</a:t>
            </a:r>
          </a:p>
        </p:txBody>
      </p:sp>
      <p:sp>
        <p:nvSpPr>
          <p:cNvPr id="24" name="Rounded Rectangle 23">
            <a:extLst>
              <a:ext uri="{FF2B5EF4-FFF2-40B4-BE49-F238E27FC236}">
                <a16:creationId xmlns:a16="http://schemas.microsoft.com/office/drawing/2014/main" id="{F369E58C-3725-4F28-AF1E-88E6A11D967C}"/>
              </a:ext>
            </a:extLst>
          </p:cNvPr>
          <p:cNvSpPr>
            <a:spLocks noGrp="1"/>
          </p:cNvSpPr>
          <p:nvPr/>
        </p:nvSpPr>
        <p:spPr>
          <a:xfrm>
            <a:off x="4114800" y="4457700"/>
            <a:ext cx="3143250" cy="1047750"/>
          </a:xfrm>
          <a:prstGeom prst="roundRect">
            <a:avLst>
              <a:gd name="adj" fmla="val 10909"/>
            </a:avLst>
          </a:prstGeom>
          <a:solidFill>
            <a:srgbClr val="FFFFFF"/>
          </a:solidFill>
          <a:ln w="9525">
            <a:solidFill>
              <a:srgbClr val="D9E2EC"/>
            </a:solidFill>
            <a:prstDash val="solid"/>
          </a:ln>
        </p:spPr>
      </p:sp>
      <p:sp>
        <p:nvSpPr>
          <p:cNvPr id="25" name="Rectangle 24">
            <a:extLst>
              <a:ext uri="{FF2B5EF4-FFF2-40B4-BE49-F238E27FC236}">
                <a16:creationId xmlns:a16="http://schemas.microsoft.com/office/drawing/2014/main" id="{0F0782A9-082C-4255-A62C-118A19C2379E}"/>
              </a:ext>
            </a:extLst>
          </p:cNvPr>
          <p:cNvSpPr>
            <a:spLocks noGrp="1"/>
          </p:cNvSpPr>
          <p:nvPr/>
        </p:nvSpPr>
        <p:spPr>
          <a:xfrm>
            <a:off x="4324350" y="4629150"/>
            <a:ext cx="2724150" cy="209550"/>
          </a:xfrm>
          <a:prstGeom prst="rect">
            <a:avLst/>
          </a:prstGeom>
          <a:noFill/>
          <a:ln w="0">
            <a:noFill/>
          </a:ln>
        </p:spPr>
        <p:txBody>
          <a:bodyPr lIns="0" tIns="0" rIns="0" bIns="0" anchor="t">
            <a:normAutofit/>
          </a:bodyPr>
          <a:lstStyle/>
          <a:p>
            <a:pPr algn="l">
              <a:lnSpc>
                <a:spcPct val="108000"/>
              </a:lnSpc>
              <a:buNone/>
              <a:defRPr sz="1200" b="1" i="0">
                <a:solidFill>
                  <a:srgbClr val="102A43"/>
                </a:solidFill>
                <a:latin typeface="Arial"/>
                <a:ea typeface="Arial"/>
                <a:cs typeface="Arial"/>
              </a:defRPr>
            </a:pPr>
            <a:r>
              <a:rPr sz="1200" b="1" i="0">
                <a:solidFill>
                  <a:srgbClr val="102A43"/>
                </a:solidFill>
                <a:latin typeface="Arial"/>
                <a:ea typeface="Arial"/>
                <a:cs typeface="Arial"/>
              </a:rPr>
              <a:t>Arithmetic identity retained</a:t>
            </a:r>
          </a:p>
        </p:txBody>
      </p:sp>
      <p:sp>
        <p:nvSpPr>
          <p:cNvPr id="26" name="Rectangle 25">
            <a:extLst>
              <a:ext uri="{FF2B5EF4-FFF2-40B4-BE49-F238E27FC236}">
                <a16:creationId xmlns:a16="http://schemas.microsoft.com/office/drawing/2014/main" id="{65C49556-6F63-4C5B-8C03-6165CDC4BAC4}"/>
              </a:ext>
            </a:extLst>
          </p:cNvPr>
          <p:cNvSpPr>
            <a:spLocks noGrp="1"/>
          </p:cNvSpPr>
          <p:nvPr/>
        </p:nvSpPr>
        <p:spPr>
          <a:xfrm>
            <a:off x="4324350" y="4953000"/>
            <a:ext cx="2381250" cy="304800"/>
          </a:xfrm>
          <a:prstGeom prst="rect">
            <a:avLst/>
          </a:prstGeom>
          <a:noFill/>
          <a:ln w="0">
            <a:noFill/>
          </a:ln>
        </p:spPr>
        <p:txBody>
          <a:bodyPr lIns="0" tIns="0" rIns="0" bIns="0" anchor="t">
            <a:normAutofit fontScale="91449" lnSpcReduction="10000"/>
          </a:bodyPr>
          <a:lstStyle/>
          <a:p>
            <a:pPr algn="l">
              <a:lnSpc>
                <a:spcPct val="108000"/>
              </a:lnSpc>
              <a:buNone/>
              <a:defRPr sz="2025" b="1" i="0">
                <a:solidFill>
                  <a:srgbClr val="C75C5C"/>
                </a:solidFill>
                <a:latin typeface="Arial"/>
                <a:ea typeface="Arial"/>
                <a:cs typeface="Arial"/>
              </a:defRPr>
            </a:pPr>
            <a:r>
              <a:rPr sz="2025" b="1" i="0">
                <a:solidFill>
                  <a:srgbClr val="C75C5C"/>
                </a:solidFill>
                <a:latin typeface="Arial"/>
                <a:ea typeface="Arial"/>
                <a:cs typeface="Arial"/>
              </a:rPr>
              <a:t>ROC-AUC 0.967</a:t>
            </a:r>
          </a:p>
        </p:txBody>
      </p:sp>
      <p:sp>
        <p:nvSpPr>
          <p:cNvPr id="27" name="Rounded Rectangle 26">
            <a:extLst>
              <a:ext uri="{FF2B5EF4-FFF2-40B4-BE49-F238E27FC236}">
                <a16:creationId xmlns:a16="http://schemas.microsoft.com/office/drawing/2014/main" id="{094EE05D-99E3-42EC-BCE4-A63871655E53}"/>
              </a:ext>
            </a:extLst>
          </p:cNvPr>
          <p:cNvSpPr>
            <a:spLocks noGrp="1"/>
          </p:cNvSpPr>
          <p:nvPr/>
        </p:nvSpPr>
        <p:spPr>
          <a:xfrm>
            <a:off x="7600950" y="4457700"/>
            <a:ext cx="3905250" cy="1047750"/>
          </a:xfrm>
          <a:prstGeom prst="roundRect">
            <a:avLst>
              <a:gd name="adj" fmla="val 10909"/>
            </a:avLst>
          </a:prstGeom>
          <a:solidFill>
            <a:srgbClr val="F9E5E5"/>
          </a:solidFill>
          <a:ln w="0">
            <a:noFill/>
            <a:prstDash val="solid"/>
          </a:ln>
        </p:spPr>
      </p:sp>
      <p:sp>
        <p:nvSpPr>
          <p:cNvPr id="28" name="Rectangle 27">
            <a:extLst>
              <a:ext uri="{FF2B5EF4-FFF2-40B4-BE49-F238E27FC236}">
                <a16:creationId xmlns:a16="http://schemas.microsoft.com/office/drawing/2014/main" id="{45F68D31-F928-4E34-869E-6E040D3FD13D}"/>
              </a:ext>
            </a:extLst>
          </p:cNvPr>
          <p:cNvSpPr>
            <a:spLocks noGrp="1"/>
          </p:cNvSpPr>
          <p:nvPr/>
        </p:nvSpPr>
        <p:spPr>
          <a:xfrm>
            <a:off x="7848600" y="4629150"/>
            <a:ext cx="3257550" cy="209550"/>
          </a:xfrm>
          <a:prstGeom prst="rect">
            <a:avLst/>
          </a:prstGeom>
          <a:noFill/>
          <a:ln w="0">
            <a:noFill/>
          </a:ln>
        </p:spPr>
        <p:txBody>
          <a:bodyPr lIns="0" tIns="0" rIns="0" bIns="0" anchor="t">
            <a:normAutofit/>
          </a:bodyPr>
          <a:lstStyle/>
          <a:p>
            <a:pPr algn="l">
              <a:lnSpc>
                <a:spcPct val="108000"/>
              </a:lnSpc>
              <a:buNone/>
              <a:defRPr sz="1200" b="1" i="0">
                <a:solidFill>
                  <a:srgbClr val="102A43"/>
                </a:solidFill>
                <a:latin typeface="Arial"/>
                <a:ea typeface="Arial"/>
                <a:cs typeface="Arial"/>
              </a:defRPr>
            </a:pPr>
            <a:r>
              <a:rPr sz="1200" b="1" i="0">
                <a:solidFill>
                  <a:srgbClr val="102A43"/>
                </a:solidFill>
                <a:latin typeface="Arial"/>
                <a:ea typeface="Arial"/>
                <a:cs typeface="Arial"/>
              </a:rPr>
              <a:t>Survivor-only age retained</a:t>
            </a:r>
          </a:p>
        </p:txBody>
      </p:sp>
      <p:sp>
        <p:nvSpPr>
          <p:cNvPr id="29" name="Rectangle 28">
            <a:extLst>
              <a:ext uri="{FF2B5EF4-FFF2-40B4-BE49-F238E27FC236}">
                <a16:creationId xmlns:a16="http://schemas.microsoft.com/office/drawing/2014/main" id="{813D9F53-B74F-4F16-B0DB-136D6A379EE4}"/>
              </a:ext>
            </a:extLst>
          </p:cNvPr>
          <p:cNvSpPr>
            <a:spLocks noGrp="1"/>
          </p:cNvSpPr>
          <p:nvPr/>
        </p:nvSpPr>
        <p:spPr>
          <a:xfrm>
            <a:off x="7848600" y="4953000"/>
            <a:ext cx="3333750" cy="304800"/>
          </a:xfrm>
          <a:prstGeom prst="rect">
            <a:avLst/>
          </a:prstGeom>
          <a:noFill/>
          <a:ln w="0">
            <a:noFill/>
          </a:ln>
        </p:spPr>
        <p:txBody>
          <a:bodyPr lIns="0" tIns="0" rIns="0" bIns="0" anchor="t">
            <a:normAutofit fontScale="96574"/>
          </a:bodyPr>
          <a:lstStyle/>
          <a:p>
            <a:pPr algn="l">
              <a:lnSpc>
                <a:spcPct val="108000"/>
              </a:lnSpc>
              <a:buNone/>
              <a:defRPr sz="1875" b="1" i="0">
                <a:solidFill>
                  <a:srgbClr val="C75C5C"/>
                </a:solidFill>
                <a:latin typeface="Arial"/>
                <a:ea typeface="Arial"/>
                <a:cs typeface="Arial"/>
              </a:defRPr>
            </a:pPr>
            <a:r>
              <a:rPr sz="1875" b="1" i="0">
                <a:solidFill>
                  <a:srgbClr val="C75C5C"/>
                </a:solidFill>
                <a:latin typeface="Arial"/>
                <a:ea typeface="Arial"/>
                <a:cs typeface="Arial"/>
              </a:rPr>
              <a:t>ROC-AUC 0.987  =  label proxy</a:t>
            </a:r>
          </a:p>
        </p:txBody>
      </p:sp>
      <p:sp>
        <p:nvSpPr>
          <p:cNvPr id="30" name="Rectangle 29">
            <a:extLst>
              <a:ext uri="{FF2B5EF4-FFF2-40B4-BE49-F238E27FC236}">
                <a16:creationId xmlns:a16="http://schemas.microsoft.com/office/drawing/2014/main" id="{F73B1A7E-6C82-4544-9CA2-605D69CA677F}"/>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3:33</a:t>
            </a:r>
          </a:p>
        </p:txBody>
      </p:sp>
      <p:sp>
        <p:nvSpPr>
          <p:cNvPr id="31" name="Rectangle 30">
            <a:extLst>
              <a:ext uri="{FF2B5EF4-FFF2-40B4-BE49-F238E27FC236}">
                <a16:creationId xmlns:a16="http://schemas.microsoft.com/office/drawing/2014/main" id="{FF380D85-4A90-4FD1-9214-6190433FD046}"/>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25, 34, 134, 137</a:t>
            </a:r>
          </a:p>
        </p:txBody>
      </p:sp>
      <p:sp>
        <p:nvSpPr>
          <p:cNvPr id="32" name="Rectangle 31">
            <a:extLst>
              <a:ext uri="{FF2B5EF4-FFF2-40B4-BE49-F238E27FC236}">
                <a16:creationId xmlns:a16="http://schemas.microsoft.com/office/drawing/2014/main" id="{F6698C7F-9102-40D6-BA55-D495ACD4FA5A}"/>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169536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3662A7E-A32D-4BB0-A47D-7D2B384D0711}"/>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SURVEY DESIGN AND EDA</a:t>
            </a:r>
          </a:p>
        </p:txBody>
      </p:sp>
      <p:sp>
        <p:nvSpPr>
          <p:cNvPr id="2" name="Rectangle 1">
            <a:extLst>
              <a:ext uri="{FF2B5EF4-FFF2-40B4-BE49-F238E27FC236}">
                <a16:creationId xmlns:a16="http://schemas.microsoft.com/office/drawing/2014/main" id="{2F9FAB1B-D605-4D32-BB7D-AB092749B843}"/>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The population view comes before the prediction view</a:t>
            </a:r>
          </a:p>
        </p:txBody>
      </p:sp>
      <p:sp>
        <p:nvSpPr>
          <p:cNvPr id="3" name="Rectangle 2">
            <a:extLst>
              <a:ext uri="{FF2B5EF4-FFF2-40B4-BE49-F238E27FC236}">
                <a16:creationId xmlns:a16="http://schemas.microsoft.com/office/drawing/2014/main" id="{B41D61EA-7637-41DB-B17F-FE5F3F83D335}"/>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07</a:t>
            </a:r>
          </a:p>
        </p:txBody>
      </p:sp>
      <p:sp>
        <p:nvSpPr>
          <p:cNvPr id="4" name="Straight Connector 3">
            <a:extLst>
              <a:ext uri="{FF2B5EF4-FFF2-40B4-BE49-F238E27FC236}">
                <a16:creationId xmlns:a16="http://schemas.microsoft.com/office/drawing/2014/main" id="{EDE37CD4-1500-4B27-A23A-FB561AC6E281}"/>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ectangle 4">
            <a:extLst>
              <a:ext uri="{FF2B5EF4-FFF2-40B4-BE49-F238E27FC236}">
                <a16:creationId xmlns:a16="http://schemas.microsoft.com/office/drawing/2014/main" id="{6C757D6E-F529-415F-B7D1-9B0390F51F11}"/>
              </a:ext>
            </a:extLst>
          </p:cNvPr>
          <p:cNvSpPr>
            <a:spLocks noGrp="1"/>
          </p:cNvSpPr>
          <p:nvPr/>
        </p:nvSpPr>
        <p:spPr>
          <a:xfrm>
            <a:off x="685800" y="1428750"/>
            <a:ext cx="10287000" cy="323850"/>
          </a:xfrm>
          <a:prstGeom prst="rect">
            <a:avLst/>
          </a:prstGeom>
          <a:noFill/>
          <a:ln w="0">
            <a:noFill/>
          </a:ln>
        </p:spPr>
        <p:txBody>
          <a:bodyPr lIns="0" tIns="0" rIns="0" bIns="0" anchor="t">
            <a:normAutofit/>
          </a:bodyPr>
          <a:lstStyle/>
          <a:p>
            <a:pPr algn="l">
              <a:lnSpc>
                <a:spcPct val="108000"/>
              </a:lnSpc>
              <a:buNone/>
              <a:defRPr sz="1463" b="0" i="0">
                <a:solidFill>
                  <a:srgbClr val="52606D"/>
                </a:solidFill>
                <a:latin typeface="Arial"/>
                <a:ea typeface="Arial"/>
                <a:cs typeface="Arial"/>
              </a:defRPr>
            </a:pPr>
            <a:r>
              <a:rPr sz="1463" b="0" i="0">
                <a:solidFill>
                  <a:srgbClr val="52606D"/>
                </a:solidFill>
                <a:latin typeface="Arial"/>
                <a:ea typeface="Arial"/>
                <a:cs typeface="Arial"/>
              </a:rPr>
              <a:t>We use survey weights for prevalence and variance, then inspect imbalance and social gradients before fitting models.</a:t>
            </a:r>
          </a:p>
        </p:txBody>
      </p:sp>
      <p:graphicFrame>
        <p:nvGraphicFramePr>
          <p:cNvPr id="20" name="Chart"/>
          <p:cNvGraphicFramePr/>
          <p:nvPr/>
        </p:nvGraphicFramePr>
        <p:xfrm>
          <a:off x="685800" y="2152650"/>
          <a:ext cx="4667250" cy="2571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a:extLst>
              <a:ext uri="{FF2B5EF4-FFF2-40B4-BE49-F238E27FC236}">
                <a16:creationId xmlns:a16="http://schemas.microsoft.com/office/drawing/2014/main" id="{C81EB0AC-C2B0-4BF0-AB12-598AAC57B9BF}"/>
              </a:ext>
            </a:extLst>
          </p:cNvPr>
          <p:cNvSpPr>
            <a:spLocks noGrp="1"/>
          </p:cNvSpPr>
          <p:nvPr/>
        </p:nvSpPr>
        <p:spPr>
          <a:xfrm>
            <a:off x="5753100" y="2057400"/>
            <a:ext cx="5753100" cy="2724150"/>
          </a:xfrm>
          <a:prstGeom prst="roundRect">
            <a:avLst>
              <a:gd name="adj" fmla="val 5594"/>
            </a:avLst>
          </a:prstGeom>
          <a:solidFill>
            <a:srgbClr val="E5EEF6"/>
          </a:solidFill>
          <a:ln w="0">
            <a:noFill/>
            <a:prstDash val="solid"/>
          </a:ln>
        </p:spPr>
      </p:sp>
      <p:sp>
        <p:nvSpPr>
          <p:cNvPr id="8" name="Rectangle 7">
            <a:extLst>
              <a:ext uri="{FF2B5EF4-FFF2-40B4-BE49-F238E27FC236}">
                <a16:creationId xmlns:a16="http://schemas.microsoft.com/office/drawing/2014/main" id="{EA872066-44D2-4116-B52C-1C76C08BA750}"/>
              </a:ext>
            </a:extLst>
          </p:cNvPr>
          <p:cNvSpPr>
            <a:spLocks noGrp="1"/>
          </p:cNvSpPr>
          <p:nvPr/>
        </p:nvSpPr>
        <p:spPr>
          <a:xfrm>
            <a:off x="6076950" y="2343150"/>
            <a:ext cx="2381250" cy="24765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Survey estimator</a:t>
            </a:r>
          </a:p>
        </p:txBody>
      </p:sp>
      <p:sp>
        <p:nvSpPr>
          <p:cNvPr id="9" name="Rectangle 8">
            <a:extLst>
              <a:ext uri="{FF2B5EF4-FFF2-40B4-BE49-F238E27FC236}">
                <a16:creationId xmlns:a16="http://schemas.microsoft.com/office/drawing/2014/main" id="{5F7B03F3-6A12-4B85-A37F-7A33D8B442FC}"/>
              </a:ext>
            </a:extLst>
          </p:cNvPr>
          <p:cNvSpPr>
            <a:spLocks noGrp="1"/>
          </p:cNvSpPr>
          <p:nvPr/>
        </p:nvSpPr>
        <p:spPr>
          <a:xfrm>
            <a:off x="6076950" y="2762250"/>
            <a:ext cx="4857750" cy="285750"/>
          </a:xfrm>
          <a:prstGeom prst="rect">
            <a:avLst/>
          </a:prstGeom>
          <a:noFill/>
          <a:ln w="0">
            <a:noFill/>
          </a:ln>
        </p:spPr>
        <p:txBody>
          <a:bodyPr lIns="0" tIns="0" rIns="0" bIns="0" anchor="t">
            <a:normAutofit/>
          </a:bodyPr>
          <a:lstStyle/>
          <a:p>
            <a:pPr algn="l">
              <a:lnSpc>
                <a:spcPct val="108000"/>
              </a:lnSpc>
              <a:buNone/>
              <a:defRPr sz="1125" b="0" i="0">
                <a:solidFill>
                  <a:srgbClr val="142735"/>
                </a:solidFill>
                <a:latin typeface="Arial"/>
                <a:ea typeface="Arial"/>
                <a:cs typeface="Arial"/>
              </a:defRPr>
            </a:pPr>
            <a:r>
              <a:rPr sz="1125" b="0" i="0">
                <a:solidFill>
                  <a:srgbClr val="142735"/>
                </a:solidFill>
                <a:latin typeface="Arial"/>
                <a:ea typeface="Arial"/>
                <a:cs typeface="Arial"/>
              </a:rPr>
              <a:t>Weighted proportion = sum(weight x outcome) / sum(weight)</a:t>
            </a:r>
          </a:p>
        </p:txBody>
      </p:sp>
      <p:sp>
        <p:nvSpPr>
          <p:cNvPr id="10" name="Rectangle 9">
            <a:extLst>
              <a:ext uri="{FF2B5EF4-FFF2-40B4-BE49-F238E27FC236}">
                <a16:creationId xmlns:a16="http://schemas.microsoft.com/office/drawing/2014/main" id="{A78D9E36-2618-448F-B654-8788F658F133}"/>
              </a:ext>
            </a:extLst>
          </p:cNvPr>
          <p:cNvSpPr>
            <a:spLocks noGrp="1"/>
          </p:cNvSpPr>
          <p:nvPr/>
        </p:nvSpPr>
        <p:spPr>
          <a:xfrm>
            <a:off x="6076950" y="3257550"/>
            <a:ext cx="4800600" cy="952500"/>
          </a:xfrm>
          <a:prstGeom prst="rect">
            <a:avLst/>
          </a:prstGeom>
          <a:noFill/>
          <a:ln w="0">
            <a:noFill/>
          </a:ln>
        </p:spPr>
        <p:txBody>
          <a:bodyPr lIns="0" tIns="0" rIns="0" bIns="0" anchor="t">
            <a:normAutofit/>
          </a:bodyPr>
          <a:lstStyle/>
          <a:p>
            <a:pPr algn="l">
              <a:lnSpc>
                <a:spcPct val="112000"/>
              </a:lnSpc>
              <a:buNone/>
              <a:defRPr sz="1275" b="0" i="0">
                <a:solidFill>
                  <a:srgbClr val="52606D"/>
                </a:solidFill>
                <a:latin typeface="Arial"/>
                <a:ea typeface="Arial"/>
                <a:cs typeface="Arial"/>
              </a:defRPr>
            </a:pPr>
            <a:r>
              <a:rPr sz="1275" b="0" i="0">
                <a:solidFill>
                  <a:srgbClr val="52606D"/>
                </a:solidFill>
                <a:latin typeface="Arial"/>
                <a:ea typeface="Arial"/>
                <a:cs typeface="Arial"/>
              </a:rPr>
              <a:t>Variance uses Taylor linearization between clusters within strata. The mean design effect was about 2.2, so naive intervals were roughly 1.5 times too narrow.</a:t>
            </a:r>
          </a:p>
        </p:txBody>
      </p:sp>
      <p:sp>
        <p:nvSpPr>
          <p:cNvPr id="11" name="Rectangle 10">
            <a:extLst>
              <a:ext uri="{FF2B5EF4-FFF2-40B4-BE49-F238E27FC236}">
                <a16:creationId xmlns:a16="http://schemas.microsoft.com/office/drawing/2014/main" id="{15DBD6F2-CA40-4B34-ADDF-5AB9C03323A8}"/>
              </a:ext>
            </a:extLst>
          </p:cNvPr>
          <p:cNvSpPr>
            <a:spLocks noGrp="1"/>
          </p:cNvSpPr>
          <p:nvPr/>
        </p:nvSpPr>
        <p:spPr>
          <a:xfrm>
            <a:off x="685800" y="5191125"/>
            <a:ext cx="10382250" cy="285750"/>
          </a:xfrm>
          <a:prstGeom prst="rect">
            <a:avLst/>
          </a:prstGeom>
          <a:noFill/>
          <a:ln w="0">
            <a:noFill/>
          </a:ln>
        </p:spPr>
        <p:txBody>
          <a:bodyPr lIns="0" tIns="0" rIns="0" bIns="0" anchor="t">
            <a:normAutofit/>
          </a:bodyPr>
          <a:lstStyle/>
          <a:p>
            <a:pPr algn="l">
              <a:lnSpc>
                <a:spcPct val="108000"/>
              </a:lnSpc>
              <a:buNone/>
              <a:defRPr sz="1500" b="1" i="0">
                <a:solidFill>
                  <a:srgbClr val="0F766E"/>
                </a:solidFill>
                <a:latin typeface="Arial"/>
                <a:ea typeface="Arial"/>
                <a:cs typeface="Arial"/>
              </a:defRPr>
            </a:pPr>
            <a:r>
              <a:rPr sz="1500" b="1" i="0">
                <a:solidFill>
                  <a:srgbClr val="0F766E"/>
                </a:solidFill>
                <a:latin typeface="Arial"/>
                <a:ea typeface="Arial"/>
                <a:cs typeface="Arial"/>
              </a:rPr>
              <a:t>Survey weighting describes the country; grouped ML evaluates a deployable ranking.</a:t>
            </a:r>
          </a:p>
        </p:txBody>
      </p:sp>
      <p:sp>
        <p:nvSpPr>
          <p:cNvPr id="12" name="Rectangle 11">
            <a:extLst>
              <a:ext uri="{FF2B5EF4-FFF2-40B4-BE49-F238E27FC236}">
                <a16:creationId xmlns:a16="http://schemas.microsoft.com/office/drawing/2014/main" id="{E7C6715B-2AB8-4335-B438-AA09CA3BEC5F}"/>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4:18</a:t>
            </a:r>
          </a:p>
        </p:txBody>
      </p:sp>
      <p:sp>
        <p:nvSpPr>
          <p:cNvPr id="13" name="Rectangle 12">
            <a:extLst>
              <a:ext uri="{FF2B5EF4-FFF2-40B4-BE49-F238E27FC236}">
                <a16:creationId xmlns:a16="http://schemas.microsoft.com/office/drawing/2014/main" id="{A82CDDEC-4AA5-427E-B846-F94FD0B43F19}"/>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64, 67, 72, 76, 93</a:t>
            </a:r>
          </a:p>
        </p:txBody>
      </p:sp>
      <p:sp>
        <p:nvSpPr>
          <p:cNvPr id="14" name="Rectangle 13">
            <a:extLst>
              <a:ext uri="{FF2B5EF4-FFF2-40B4-BE49-F238E27FC236}">
                <a16:creationId xmlns:a16="http://schemas.microsoft.com/office/drawing/2014/main" id="{6D5BC393-7D13-47C3-9E15-680B5A4021CE}"/>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907168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3A0060-5D35-4C2C-8DEF-4EE5ADA8331C}"/>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EDA AND DATA QUALITY</a:t>
            </a:r>
          </a:p>
        </p:txBody>
      </p:sp>
      <p:sp>
        <p:nvSpPr>
          <p:cNvPr id="2" name="Rectangle 1">
            <a:extLst>
              <a:ext uri="{FF2B5EF4-FFF2-40B4-BE49-F238E27FC236}">
                <a16:creationId xmlns:a16="http://schemas.microsoft.com/office/drawing/2014/main" id="{09F2B3AF-2C42-478B-8255-4DA2B7006AC0}"/>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Missingness, heaping and correlation are part of the evidence</a:t>
            </a:r>
          </a:p>
        </p:txBody>
      </p:sp>
      <p:sp>
        <p:nvSpPr>
          <p:cNvPr id="3" name="Rectangle 2">
            <a:extLst>
              <a:ext uri="{FF2B5EF4-FFF2-40B4-BE49-F238E27FC236}">
                <a16:creationId xmlns:a16="http://schemas.microsoft.com/office/drawing/2014/main" id="{1E203775-E873-4E40-9269-8ADB2BBC9924}"/>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08</a:t>
            </a:r>
          </a:p>
        </p:txBody>
      </p:sp>
      <p:sp>
        <p:nvSpPr>
          <p:cNvPr id="4" name="Straight Connector 3">
            <a:extLst>
              <a:ext uri="{FF2B5EF4-FFF2-40B4-BE49-F238E27FC236}">
                <a16:creationId xmlns:a16="http://schemas.microsoft.com/office/drawing/2014/main" id="{2D995015-E3A0-47C9-90FE-7D300743CE85}"/>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2" name="Picture 21"/>
          <p:cNvPicPr>
            <a:picLocks noChangeAspect="1"/>
          </p:cNvPicPr>
          <p:nvPr/>
        </p:nvPicPr>
        <p:blipFill>
          <a:blip r:embed="rId3"/>
          <a:stretch/>
        </p:blipFill>
        <p:spPr>
          <a:xfrm>
            <a:off x="685800" y="1899620"/>
            <a:ext cx="5219700" cy="1782411"/>
          </a:xfrm>
          <a:prstGeom prst="roundRect">
            <a:avLst>
              <a:gd name="adj" fmla="val 4800"/>
            </a:avLst>
          </a:prstGeom>
        </p:spPr>
      </p:pic>
      <p:pic>
        <p:nvPicPr>
          <p:cNvPr id="23" name="Picture 22"/>
          <p:cNvPicPr>
            <a:picLocks noChangeAspect="1"/>
          </p:cNvPicPr>
          <p:nvPr/>
        </p:nvPicPr>
        <p:blipFill>
          <a:blip r:embed="rId4"/>
          <a:stretch/>
        </p:blipFill>
        <p:spPr>
          <a:xfrm>
            <a:off x="6191250" y="2106367"/>
            <a:ext cx="5314950" cy="1368915"/>
          </a:xfrm>
          <a:prstGeom prst="roundRect">
            <a:avLst>
              <a:gd name="adj" fmla="val 4800"/>
            </a:avLst>
          </a:prstGeom>
        </p:spPr>
      </p:pic>
      <p:sp>
        <p:nvSpPr>
          <p:cNvPr id="7" name="Rounded Rectangle 6">
            <a:extLst>
              <a:ext uri="{FF2B5EF4-FFF2-40B4-BE49-F238E27FC236}">
                <a16:creationId xmlns:a16="http://schemas.microsoft.com/office/drawing/2014/main" id="{8C23EC3B-A728-4B9C-97BF-8441AC2F0D85}"/>
              </a:ext>
            </a:extLst>
          </p:cNvPr>
          <p:cNvSpPr>
            <a:spLocks noGrp="1"/>
          </p:cNvSpPr>
          <p:nvPr/>
        </p:nvSpPr>
        <p:spPr>
          <a:xfrm>
            <a:off x="685800" y="4267200"/>
            <a:ext cx="10820400" cy="1085850"/>
          </a:xfrm>
          <a:prstGeom prst="roundRect">
            <a:avLst>
              <a:gd name="adj" fmla="val 10526"/>
            </a:avLst>
          </a:prstGeom>
          <a:solidFill>
            <a:srgbClr val="FFFFFF"/>
          </a:solidFill>
          <a:ln w="9525">
            <a:solidFill>
              <a:srgbClr val="D9E2EC"/>
            </a:solidFill>
            <a:prstDash val="solid"/>
          </a:ln>
        </p:spPr>
      </p:sp>
      <p:sp>
        <p:nvSpPr>
          <p:cNvPr id="8" name="Rounded Rectangle 7">
            <a:extLst>
              <a:ext uri="{FF2B5EF4-FFF2-40B4-BE49-F238E27FC236}">
                <a16:creationId xmlns:a16="http://schemas.microsoft.com/office/drawing/2014/main" id="{B0221CAC-9198-4578-8750-D311DD2DD8FF}"/>
              </a:ext>
            </a:extLst>
          </p:cNvPr>
          <p:cNvSpPr>
            <a:spLocks noGrp="1"/>
          </p:cNvSpPr>
          <p:nvPr/>
        </p:nvSpPr>
        <p:spPr>
          <a:xfrm>
            <a:off x="914400" y="4476750"/>
            <a:ext cx="76200" cy="76200"/>
          </a:xfrm>
          <a:prstGeom prst="roundRect">
            <a:avLst>
              <a:gd name="adj" fmla="val 50000"/>
            </a:avLst>
          </a:prstGeom>
          <a:solidFill>
            <a:srgbClr val="0F766E"/>
          </a:solidFill>
          <a:ln w="0">
            <a:noFill/>
            <a:prstDash val="solid"/>
          </a:ln>
        </p:spPr>
      </p:sp>
      <p:sp>
        <p:nvSpPr>
          <p:cNvPr id="9" name="Rectangle 8">
            <a:extLst>
              <a:ext uri="{FF2B5EF4-FFF2-40B4-BE49-F238E27FC236}">
                <a16:creationId xmlns:a16="http://schemas.microsoft.com/office/drawing/2014/main" id="{44D66D2D-AE09-475E-BFCC-96760A0FE1FA}"/>
              </a:ext>
            </a:extLst>
          </p:cNvPr>
          <p:cNvSpPr>
            <a:spLocks noGrp="1"/>
          </p:cNvSpPr>
          <p:nvPr/>
        </p:nvSpPr>
        <p:spPr>
          <a:xfrm>
            <a:off x="1143000" y="4410075"/>
            <a:ext cx="10058400" cy="266700"/>
          </a:xfrm>
          <a:prstGeom prst="rect">
            <a:avLst/>
          </a:prstGeom>
          <a:noFill/>
          <a:ln w="0">
            <a:noFill/>
          </a:ln>
        </p:spPr>
        <p:txBody>
          <a:bodyPr lIns="0" tIns="0" rIns="0" bIns="0" anchor="t">
            <a:normAutofit/>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Structural missingness: DHS modules are asked only for eligible respondents.</a:t>
            </a:r>
          </a:p>
        </p:txBody>
      </p:sp>
      <p:sp>
        <p:nvSpPr>
          <p:cNvPr id="10" name="Rounded Rectangle 9">
            <a:extLst>
              <a:ext uri="{FF2B5EF4-FFF2-40B4-BE49-F238E27FC236}">
                <a16:creationId xmlns:a16="http://schemas.microsoft.com/office/drawing/2014/main" id="{94BBE12F-E0CF-422B-814E-6D48A1A057CC}"/>
              </a:ext>
            </a:extLst>
          </p:cNvPr>
          <p:cNvSpPr>
            <a:spLocks noGrp="1"/>
          </p:cNvSpPr>
          <p:nvPr/>
        </p:nvSpPr>
        <p:spPr>
          <a:xfrm>
            <a:off x="914400" y="4772025"/>
            <a:ext cx="76200" cy="76200"/>
          </a:xfrm>
          <a:prstGeom prst="roundRect">
            <a:avLst>
              <a:gd name="adj" fmla="val 50000"/>
            </a:avLst>
          </a:prstGeom>
          <a:solidFill>
            <a:srgbClr val="0F766E"/>
          </a:solidFill>
          <a:ln w="0">
            <a:noFill/>
            <a:prstDash val="solid"/>
          </a:ln>
        </p:spPr>
      </p:sp>
      <p:sp>
        <p:nvSpPr>
          <p:cNvPr id="11" name="Rectangle 10">
            <a:extLst>
              <a:ext uri="{FF2B5EF4-FFF2-40B4-BE49-F238E27FC236}">
                <a16:creationId xmlns:a16="http://schemas.microsoft.com/office/drawing/2014/main" id="{2AD5FA01-A804-4777-936B-5A232DDE546D}"/>
              </a:ext>
            </a:extLst>
          </p:cNvPr>
          <p:cNvSpPr>
            <a:spLocks noGrp="1"/>
          </p:cNvSpPr>
          <p:nvPr/>
        </p:nvSpPr>
        <p:spPr>
          <a:xfrm>
            <a:off x="1143000" y="4705350"/>
            <a:ext cx="10058400" cy="266700"/>
          </a:xfrm>
          <a:prstGeom prst="rect">
            <a:avLst/>
          </a:prstGeom>
          <a:noFill/>
          <a:ln w="0">
            <a:noFill/>
          </a:ln>
        </p:spPr>
        <p:txBody>
          <a:bodyPr lIns="0" tIns="0" rIns="0" bIns="0" anchor="t">
            <a:normAutofit/>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Data quality: birth-weight digit heaping and plausible WHO z-score ranges were checked.</a:t>
            </a:r>
          </a:p>
        </p:txBody>
      </p:sp>
      <p:sp>
        <p:nvSpPr>
          <p:cNvPr id="12" name="Rounded Rectangle 11">
            <a:extLst>
              <a:ext uri="{FF2B5EF4-FFF2-40B4-BE49-F238E27FC236}">
                <a16:creationId xmlns:a16="http://schemas.microsoft.com/office/drawing/2014/main" id="{B2D49CE1-5672-4619-97F7-564D38C4A48C}"/>
              </a:ext>
            </a:extLst>
          </p:cNvPr>
          <p:cNvSpPr>
            <a:spLocks noGrp="1"/>
          </p:cNvSpPr>
          <p:nvPr/>
        </p:nvSpPr>
        <p:spPr>
          <a:xfrm>
            <a:off x="914400" y="5067300"/>
            <a:ext cx="76200" cy="76200"/>
          </a:xfrm>
          <a:prstGeom prst="roundRect">
            <a:avLst>
              <a:gd name="adj" fmla="val 50000"/>
            </a:avLst>
          </a:prstGeom>
          <a:solidFill>
            <a:srgbClr val="0F766E"/>
          </a:solidFill>
          <a:ln w="0">
            <a:noFill/>
            <a:prstDash val="solid"/>
          </a:ln>
        </p:spPr>
      </p:sp>
      <p:sp>
        <p:nvSpPr>
          <p:cNvPr id="13" name="Rectangle 12">
            <a:extLst>
              <a:ext uri="{FF2B5EF4-FFF2-40B4-BE49-F238E27FC236}">
                <a16:creationId xmlns:a16="http://schemas.microsoft.com/office/drawing/2014/main" id="{371AC65C-14A5-4A3B-9DEA-D5B715335B5D}"/>
              </a:ext>
            </a:extLst>
          </p:cNvPr>
          <p:cNvSpPr>
            <a:spLocks noGrp="1"/>
          </p:cNvSpPr>
          <p:nvPr/>
        </p:nvSpPr>
        <p:spPr>
          <a:xfrm>
            <a:off x="1143000" y="5000625"/>
            <a:ext cx="10058400" cy="266700"/>
          </a:xfrm>
          <a:prstGeom prst="rect">
            <a:avLst/>
          </a:prstGeom>
          <a:noFill/>
          <a:ln w="0">
            <a:noFill/>
          </a:ln>
        </p:spPr>
        <p:txBody>
          <a:bodyPr lIns="0" tIns="0" rIns="0" bIns="0" anchor="t">
            <a:normAutofit/>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Feature structure: correlations and VIF checks identify redundancy before modelling.</a:t>
            </a:r>
          </a:p>
        </p:txBody>
      </p:sp>
      <p:sp>
        <p:nvSpPr>
          <p:cNvPr id="14" name="Rectangle 13">
            <a:extLst>
              <a:ext uri="{FF2B5EF4-FFF2-40B4-BE49-F238E27FC236}">
                <a16:creationId xmlns:a16="http://schemas.microsoft.com/office/drawing/2014/main" id="{0813AD10-CAE3-491F-9FC8-3D6EC5C2664F}"/>
              </a:ext>
            </a:extLst>
          </p:cNvPr>
          <p:cNvSpPr>
            <a:spLocks noGrp="1"/>
          </p:cNvSpPr>
          <p:nvPr/>
        </p:nvSpPr>
        <p:spPr>
          <a:xfrm>
            <a:off x="685800" y="5657850"/>
            <a:ext cx="10477500" cy="266700"/>
          </a:xfrm>
          <a:prstGeom prst="rect">
            <a:avLst/>
          </a:prstGeom>
          <a:noFill/>
          <a:ln w="0">
            <a:noFill/>
          </a:ln>
        </p:spPr>
        <p:txBody>
          <a:bodyPr lIns="0" tIns="0" rIns="0" bIns="0" anchor="t">
            <a:normAutofit/>
          </a:bodyPr>
          <a:lstStyle/>
          <a:p>
            <a:pPr algn="l">
              <a:lnSpc>
                <a:spcPct val="108000"/>
              </a:lnSpc>
              <a:buNone/>
              <a:defRPr sz="1425" b="1" i="0">
                <a:solidFill>
                  <a:srgbClr val="102A43"/>
                </a:solidFill>
                <a:latin typeface="Arial"/>
                <a:ea typeface="Arial"/>
                <a:cs typeface="Arial"/>
              </a:defRPr>
            </a:pPr>
            <a:r>
              <a:rPr sz="1425" b="1" i="0">
                <a:solidFill>
                  <a:srgbClr val="102A43"/>
                </a:solidFill>
                <a:latin typeface="Arial"/>
                <a:ea typeface="Arial"/>
                <a:cs typeface="Arial"/>
              </a:rPr>
              <a:t>The goal is not to erase the survey’s structure; it is to encode it without inventing information.</a:t>
            </a:r>
          </a:p>
        </p:txBody>
      </p:sp>
      <p:sp>
        <p:nvSpPr>
          <p:cNvPr id="15" name="Rectangle 14">
            <a:extLst>
              <a:ext uri="{FF2B5EF4-FFF2-40B4-BE49-F238E27FC236}">
                <a16:creationId xmlns:a16="http://schemas.microsoft.com/office/drawing/2014/main" id="{A92168D9-F385-4A0D-B2F4-4190B1F6491E}"/>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4:52</a:t>
            </a:r>
          </a:p>
        </p:txBody>
      </p:sp>
      <p:sp>
        <p:nvSpPr>
          <p:cNvPr id="16" name="Rectangle 15">
            <a:extLst>
              <a:ext uri="{FF2B5EF4-FFF2-40B4-BE49-F238E27FC236}">
                <a16:creationId xmlns:a16="http://schemas.microsoft.com/office/drawing/2014/main" id="{AC82AB57-C002-421C-94C8-D79295280A81}"/>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86, 110-121</a:t>
            </a:r>
          </a:p>
        </p:txBody>
      </p:sp>
      <p:sp>
        <p:nvSpPr>
          <p:cNvPr id="17" name="Rectangle 16">
            <a:extLst>
              <a:ext uri="{FF2B5EF4-FFF2-40B4-BE49-F238E27FC236}">
                <a16:creationId xmlns:a16="http://schemas.microsoft.com/office/drawing/2014/main" id="{A85820E6-223B-4497-AE65-B6F806E116A3}"/>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215117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D3786B6-2F60-43A4-B3F7-8D975748F65E}"/>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MODEL CHOICES</a:t>
            </a:r>
          </a:p>
        </p:txBody>
      </p:sp>
      <p:sp>
        <p:nvSpPr>
          <p:cNvPr id="2" name="Rectangle 1">
            <a:extLst>
              <a:ext uri="{FF2B5EF4-FFF2-40B4-BE49-F238E27FC236}">
                <a16:creationId xmlns:a16="http://schemas.microsoft.com/office/drawing/2014/main" id="{2AD0AA96-5365-466A-8F61-70A89247D2D2}"/>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Why we selected these model families</a:t>
            </a:r>
          </a:p>
        </p:txBody>
      </p:sp>
      <p:sp>
        <p:nvSpPr>
          <p:cNvPr id="3" name="Rectangle 2">
            <a:extLst>
              <a:ext uri="{FF2B5EF4-FFF2-40B4-BE49-F238E27FC236}">
                <a16:creationId xmlns:a16="http://schemas.microsoft.com/office/drawing/2014/main" id="{CD7C57F4-75AF-4221-8D8F-F2BA6B417C27}"/>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09</a:t>
            </a:r>
          </a:p>
        </p:txBody>
      </p:sp>
      <p:sp>
        <p:nvSpPr>
          <p:cNvPr id="4" name="Straight Connector 3">
            <a:extLst>
              <a:ext uri="{FF2B5EF4-FFF2-40B4-BE49-F238E27FC236}">
                <a16:creationId xmlns:a16="http://schemas.microsoft.com/office/drawing/2014/main" id="{D0C97DBE-028B-4649-AB4E-D37F751B3033}"/>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ectangle 4">
            <a:extLst>
              <a:ext uri="{FF2B5EF4-FFF2-40B4-BE49-F238E27FC236}">
                <a16:creationId xmlns:a16="http://schemas.microsoft.com/office/drawing/2014/main" id="{913298B9-A6F6-4878-93D9-93597B6B3B12}"/>
              </a:ext>
            </a:extLst>
          </p:cNvPr>
          <p:cNvSpPr>
            <a:spLocks noGrp="1"/>
          </p:cNvSpPr>
          <p:nvPr/>
        </p:nvSpPr>
        <p:spPr>
          <a:xfrm>
            <a:off x="685800" y="1428750"/>
            <a:ext cx="10477500" cy="323850"/>
          </a:xfrm>
          <a:prstGeom prst="rect">
            <a:avLst/>
          </a:prstGeom>
          <a:noFill/>
          <a:ln w="0">
            <a:noFill/>
          </a:ln>
        </p:spPr>
        <p:txBody>
          <a:bodyPr lIns="0" tIns="0" rIns="0" bIns="0" anchor="t">
            <a:normAutofit/>
          </a:bodyPr>
          <a:lstStyle/>
          <a:p>
            <a:pPr algn="l">
              <a:lnSpc>
                <a:spcPct val="108000"/>
              </a:lnSpc>
              <a:buNone/>
              <a:defRPr sz="1500" b="0" i="0">
                <a:solidFill>
                  <a:srgbClr val="52606D"/>
                </a:solidFill>
                <a:latin typeface="Arial"/>
                <a:ea typeface="Arial"/>
                <a:cs typeface="Arial"/>
              </a:defRPr>
            </a:pPr>
            <a:r>
              <a:rPr sz="1500" b="0" i="0">
                <a:solidFill>
                  <a:srgbClr val="52606D"/>
                </a:solidFill>
                <a:latin typeface="Arial"/>
                <a:ea typeface="Arial"/>
                <a:cs typeface="Arial"/>
              </a:rPr>
              <a:t>The panel spans interpretable baselines, bagging, boosting and modern deep tabular models.</a:t>
            </a:r>
          </a:p>
        </p:txBody>
      </p:sp>
      <p:sp>
        <p:nvSpPr>
          <p:cNvPr id="6" name="Rounded Rectangle 5">
            <a:extLst>
              <a:ext uri="{FF2B5EF4-FFF2-40B4-BE49-F238E27FC236}">
                <a16:creationId xmlns:a16="http://schemas.microsoft.com/office/drawing/2014/main" id="{2583D2B6-1D8A-45B1-B937-627D4AE19B35}"/>
              </a:ext>
            </a:extLst>
          </p:cNvPr>
          <p:cNvSpPr>
            <a:spLocks noGrp="1"/>
          </p:cNvSpPr>
          <p:nvPr/>
        </p:nvSpPr>
        <p:spPr>
          <a:xfrm>
            <a:off x="685800" y="2076450"/>
            <a:ext cx="4953000" cy="1047750"/>
          </a:xfrm>
          <a:prstGeom prst="roundRect">
            <a:avLst>
              <a:gd name="adj" fmla="val 10909"/>
            </a:avLst>
          </a:prstGeom>
          <a:solidFill>
            <a:srgbClr val="F7FAFC"/>
          </a:solidFill>
          <a:ln w="0">
            <a:noFill/>
            <a:prstDash val="solid"/>
          </a:ln>
        </p:spPr>
      </p:sp>
      <p:sp>
        <p:nvSpPr>
          <p:cNvPr id="7" name="Rounded Rectangle 6">
            <a:extLst>
              <a:ext uri="{FF2B5EF4-FFF2-40B4-BE49-F238E27FC236}">
                <a16:creationId xmlns:a16="http://schemas.microsoft.com/office/drawing/2014/main" id="{673DA50A-D47E-49CA-96B9-5FB14B81FD3E}"/>
              </a:ext>
            </a:extLst>
          </p:cNvPr>
          <p:cNvSpPr>
            <a:spLocks noGrp="1"/>
          </p:cNvSpPr>
          <p:nvPr/>
        </p:nvSpPr>
        <p:spPr>
          <a:xfrm>
            <a:off x="685800" y="2076450"/>
            <a:ext cx="114300" cy="1047750"/>
          </a:xfrm>
          <a:prstGeom prst="roundRect">
            <a:avLst>
              <a:gd name="adj" fmla="val 50000"/>
            </a:avLst>
          </a:prstGeom>
          <a:solidFill>
            <a:srgbClr val="0F766E"/>
          </a:solidFill>
          <a:ln w="0">
            <a:noFill/>
            <a:prstDash val="solid"/>
          </a:ln>
        </p:spPr>
      </p:sp>
      <p:sp>
        <p:nvSpPr>
          <p:cNvPr id="8" name="Rectangle 7">
            <a:extLst>
              <a:ext uri="{FF2B5EF4-FFF2-40B4-BE49-F238E27FC236}">
                <a16:creationId xmlns:a16="http://schemas.microsoft.com/office/drawing/2014/main" id="{9261996B-0FD0-4597-AA30-CFE2A51A5D8E}"/>
              </a:ext>
            </a:extLst>
          </p:cNvPr>
          <p:cNvSpPr>
            <a:spLocks noGrp="1"/>
          </p:cNvSpPr>
          <p:nvPr/>
        </p:nvSpPr>
        <p:spPr>
          <a:xfrm>
            <a:off x="952500" y="2238375"/>
            <a:ext cx="4476750" cy="209550"/>
          </a:xfrm>
          <a:prstGeom prst="rect">
            <a:avLst/>
          </a:prstGeom>
          <a:noFill/>
          <a:ln w="0">
            <a:noFill/>
          </a:ln>
        </p:spPr>
        <p:txBody>
          <a:bodyPr lIns="0" tIns="0" rIns="0" bIns="0" anchor="t">
            <a:normAutofit/>
          </a:bodyPr>
          <a:lstStyle/>
          <a:p>
            <a:pPr algn="l">
              <a:lnSpc>
                <a:spcPct val="108000"/>
              </a:lnSpc>
              <a:buNone/>
              <a:defRPr sz="1200" b="1" i="0">
                <a:solidFill>
                  <a:srgbClr val="52606D"/>
                </a:solidFill>
                <a:latin typeface="Arial"/>
                <a:ea typeface="Arial"/>
                <a:cs typeface="Arial"/>
              </a:defRPr>
            </a:pPr>
            <a:r>
              <a:rPr sz="1200" b="1" i="0">
                <a:solidFill>
                  <a:srgbClr val="52606D"/>
                </a:solidFill>
                <a:latin typeface="Arial"/>
                <a:ea typeface="Arial"/>
                <a:cs typeface="Arial"/>
              </a:rPr>
              <a:t>Linear baseline</a:t>
            </a:r>
          </a:p>
        </p:txBody>
      </p:sp>
      <p:sp>
        <p:nvSpPr>
          <p:cNvPr id="9" name="Rectangle 8">
            <a:extLst>
              <a:ext uri="{FF2B5EF4-FFF2-40B4-BE49-F238E27FC236}">
                <a16:creationId xmlns:a16="http://schemas.microsoft.com/office/drawing/2014/main" id="{AB6BA530-3578-45D9-B221-40E072FE8FDD}"/>
              </a:ext>
            </a:extLst>
          </p:cNvPr>
          <p:cNvSpPr>
            <a:spLocks noGrp="1"/>
          </p:cNvSpPr>
          <p:nvPr/>
        </p:nvSpPr>
        <p:spPr>
          <a:xfrm>
            <a:off x="952500" y="2495550"/>
            <a:ext cx="4476750" cy="266700"/>
          </a:xfrm>
          <a:prstGeom prst="rect">
            <a:avLst/>
          </a:prstGeom>
          <a:noFill/>
          <a:ln w="0">
            <a:noFill/>
          </a:ln>
        </p:spPr>
        <p:txBody>
          <a:bodyPr lIns="0" tIns="0" rIns="0" bIns="0" anchor="t">
            <a:normAutofit/>
          </a:bodyPr>
          <a:lstStyle/>
          <a:p>
            <a:pPr algn="l">
              <a:lnSpc>
                <a:spcPct val="108000"/>
              </a:lnSpc>
              <a:buNone/>
              <a:defRPr sz="1575" b="1" i="0">
                <a:solidFill>
                  <a:srgbClr val="102A43"/>
                </a:solidFill>
                <a:latin typeface="Arial"/>
                <a:ea typeface="Arial"/>
                <a:cs typeface="Arial"/>
              </a:defRPr>
            </a:pPr>
            <a:r>
              <a:rPr sz="1575" b="1" i="0">
                <a:solidFill>
                  <a:srgbClr val="102A43"/>
                </a:solidFill>
                <a:latin typeface="Arial"/>
                <a:ea typeface="Arial"/>
                <a:cs typeface="Arial"/>
              </a:rPr>
              <a:t>Logistic regression</a:t>
            </a:r>
          </a:p>
        </p:txBody>
      </p:sp>
      <p:sp>
        <p:nvSpPr>
          <p:cNvPr id="10" name="Rectangle 9">
            <a:extLst>
              <a:ext uri="{FF2B5EF4-FFF2-40B4-BE49-F238E27FC236}">
                <a16:creationId xmlns:a16="http://schemas.microsoft.com/office/drawing/2014/main" id="{E2367DBE-FBA0-46EF-A295-2AFF94DC067A}"/>
              </a:ext>
            </a:extLst>
          </p:cNvPr>
          <p:cNvSpPr>
            <a:spLocks noGrp="1"/>
          </p:cNvSpPr>
          <p:nvPr/>
        </p:nvSpPr>
        <p:spPr>
          <a:xfrm>
            <a:off x="952500" y="2819400"/>
            <a:ext cx="4476750" cy="209550"/>
          </a:xfrm>
          <a:prstGeom prst="rect">
            <a:avLst/>
          </a:prstGeom>
          <a:noFill/>
          <a:ln w="0">
            <a:noFill/>
          </a:ln>
        </p:spPr>
        <p:txBody>
          <a:bodyPr lIns="0" tIns="0" rIns="0" bIns="0" anchor="t">
            <a:normAutofit/>
          </a:bodyPr>
          <a:lstStyle/>
          <a:p>
            <a:pPr algn="l">
              <a:lnSpc>
                <a:spcPct val="108000"/>
              </a:lnSpc>
              <a:buNone/>
              <a:defRPr sz="1125" b="0" i="0">
                <a:solidFill>
                  <a:srgbClr val="142735"/>
                </a:solidFill>
                <a:latin typeface="Arial"/>
                <a:ea typeface="Arial"/>
                <a:cs typeface="Arial"/>
              </a:defRPr>
            </a:pPr>
            <a:r>
              <a:rPr sz="1125" b="0" i="0">
                <a:solidFill>
                  <a:srgbClr val="142735"/>
                </a:solidFill>
                <a:latin typeface="Arial"/>
                <a:ea typeface="Arial"/>
                <a:cs typeface="Arial"/>
              </a:rPr>
              <a:t>Readable coefficients; common DHS reference</a:t>
            </a:r>
          </a:p>
        </p:txBody>
      </p:sp>
      <p:sp>
        <p:nvSpPr>
          <p:cNvPr id="11" name="Rounded Rectangle 10">
            <a:extLst>
              <a:ext uri="{FF2B5EF4-FFF2-40B4-BE49-F238E27FC236}">
                <a16:creationId xmlns:a16="http://schemas.microsoft.com/office/drawing/2014/main" id="{07D5CE5A-020C-4B68-B535-2DF1A7695F0A}"/>
              </a:ext>
            </a:extLst>
          </p:cNvPr>
          <p:cNvSpPr>
            <a:spLocks noGrp="1"/>
          </p:cNvSpPr>
          <p:nvPr/>
        </p:nvSpPr>
        <p:spPr>
          <a:xfrm>
            <a:off x="6019800" y="2076450"/>
            <a:ext cx="4953000" cy="1047750"/>
          </a:xfrm>
          <a:prstGeom prst="roundRect">
            <a:avLst>
              <a:gd name="adj" fmla="val 10909"/>
            </a:avLst>
          </a:prstGeom>
          <a:solidFill>
            <a:srgbClr val="F7FAFC"/>
          </a:solidFill>
          <a:ln w="0">
            <a:noFill/>
            <a:prstDash val="solid"/>
          </a:ln>
        </p:spPr>
      </p:sp>
      <p:sp>
        <p:nvSpPr>
          <p:cNvPr id="12" name="Rounded Rectangle 11">
            <a:extLst>
              <a:ext uri="{FF2B5EF4-FFF2-40B4-BE49-F238E27FC236}">
                <a16:creationId xmlns:a16="http://schemas.microsoft.com/office/drawing/2014/main" id="{642FDA27-C82F-465F-9CD8-C5DD7347B1E6}"/>
              </a:ext>
            </a:extLst>
          </p:cNvPr>
          <p:cNvSpPr>
            <a:spLocks noGrp="1"/>
          </p:cNvSpPr>
          <p:nvPr/>
        </p:nvSpPr>
        <p:spPr>
          <a:xfrm>
            <a:off x="6019800" y="2076450"/>
            <a:ext cx="114300" cy="1047750"/>
          </a:xfrm>
          <a:prstGeom prst="roundRect">
            <a:avLst>
              <a:gd name="adj" fmla="val 50000"/>
            </a:avLst>
          </a:prstGeom>
          <a:solidFill>
            <a:srgbClr val="2F6B9A"/>
          </a:solidFill>
          <a:ln w="0">
            <a:noFill/>
            <a:prstDash val="solid"/>
          </a:ln>
        </p:spPr>
      </p:sp>
      <p:sp>
        <p:nvSpPr>
          <p:cNvPr id="13" name="Rectangle 12">
            <a:extLst>
              <a:ext uri="{FF2B5EF4-FFF2-40B4-BE49-F238E27FC236}">
                <a16:creationId xmlns:a16="http://schemas.microsoft.com/office/drawing/2014/main" id="{C6EE5322-BF29-4938-B0BA-20049CC06F7E}"/>
              </a:ext>
            </a:extLst>
          </p:cNvPr>
          <p:cNvSpPr>
            <a:spLocks noGrp="1"/>
          </p:cNvSpPr>
          <p:nvPr/>
        </p:nvSpPr>
        <p:spPr>
          <a:xfrm>
            <a:off x="6286500" y="2238375"/>
            <a:ext cx="4476750" cy="209550"/>
          </a:xfrm>
          <a:prstGeom prst="rect">
            <a:avLst/>
          </a:prstGeom>
          <a:noFill/>
          <a:ln w="0">
            <a:noFill/>
          </a:ln>
        </p:spPr>
        <p:txBody>
          <a:bodyPr lIns="0" tIns="0" rIns="0" bIns="0" anchor="t">
            <a:normAutofit/>
          </a:bodyPr>
          <a:lstStyle/>
          <a:p>
            <a:pPr algn="l">
              <a:lnSpc>
                <a:spcPct val="108000"/>
              </a:lnSpc>
              <a:buNone/>
              <a:defRPr sz="1200" b="1" i="0">
                <a:solidFill>
                  <a:srgbClr val="52606D"/>
                </a:solidFill>
                <a:latin typeface="Arial"/>
                <a:ea typeface="Arial"/>
                <a:cs typeface="Arial"/>
              </a:defRPr>
            </a:pPr>
            <a:r>
              <a:rPr sz="1200" b="1" i="0">
                <a:solidFill>
                  <a:srgbClr val="52606D"/>
                </a:solidFill>
                <a:latin typeface="Arial"/>
                <a:ea typeface="Arial"/>
                <a:cs typeface="Arial"/>
              </a:rPr>
              <a:t>Bagged trees</a:t>
            </a:r>
          </a:p>
        </p:txBody>
      </p:sp>
      <p:sp>
        <p:nvSpPr>
          <p:cNvPr id="14" name="Rectangle 13">
            <a:extLst>
              <a:ext uri="{FF2B5EF4-FFF2-40B4-BE49-F238E27FC236}">
                <a16:creationId xmlns:a16="http://schemas.microsoft.com/office/drawing/2014/main" id="{2F66D1BA-B0CC-4E56-ABC3-C15724138F10}"/>
              </a:ext>
            </a:extLst>
          </p:cNvPr>
          <p:cNvSpPr>
            <a:spLocks noGrp="1"/>
          </p:cNvSpPr>
          <p:nvPr/>
        </p:nvSpPr>
        <p:spPr>
          <a:xfrm>
            <a:off x="6286500" y="2495550"/>
            <a:ext cx="4476750" cy="266700"/>
          </a:xfrm>
          <a:prstGeom prst="rect">
            <a:avLst/>
          </a:prstGeom>
          <a:noFill/>
          <a:ln w="0">
            <a:noFill/>
          </a:ln>
        </p:spPr>
        <p:txBody>
          <a:bodyPr lIns="0" tIns="0" rIns="0" bIns="0" anchor="t">
            <a:normAutofit/>
          </a:bodyPr>
          <a:lstStyle/>
          <a:p>
            <a:pPr algn="l">
              <a:lnSpc>
                <a:spcPct val="108000"/>
              </a:lnSpc>
              <a:buNone/>
              <a:defRPr sz="1575" b="1" i="0">
                <a:solidFill>
                  <a:srgbClr val="102A43"/>
                </a:solidFill>
                <a:latin typeface="Arial"/>
                <a:ea typeface="Arial"/>
                <a:cs typeface="Arial"/>
              </a:defRPr>
            </a:pPr>
            <a:r>
              <a:rPr sz="1575" b="1" i="0">
                <a:solidFill>
                  <a:srgbClr val="102A43"/>
                </a:solidFill>
                <a:latin typeface="Arial"/>
                <a:ea typeface="Arial"/>
                <a:cs typeface="Arial"/>
              </a:rPr>
              <a:t>Random Forest</a:t>
            </a:r>
          </a:p>
        </p:txBody>
      </p:sp>
      <p:sp>
        <p:nvSpPr>
          <p:cNvPr id="15" name="Rectangle 14">
            <a:extLst>
              <a:ext uri="{FF2B5EF4-FFF2-40B4-BE49-F238E27FC236}">
                <a16:creationId xmlns:a16="http://schemas.microsoft.com/office/drawing/2014/main" id="{45C72152-8C05-4702-B80D-E63B2654BE2D}"/>
              </a:ext>
            </a:extLst>
          </p:cNvPr>
          <p:cNvSpPr>
            <a:spLocks noGrp="1"/>
          </p:cNvSpPr>
          <p:nvPr/>
        </p:nvSpPr>
        <p:spPr>
          <a:xfrm>
            <a:off x="6286500" y="2819400"/>
            <a:ext cx="4476750" cy="209550"/>
          </a:xfrm>
          <a:prstGeom prst="rect">
            <a:avLst/>
          </a:prstGeom>
          <a:noFill/>
          <a:ln w="0">
            <a:noFill/>
          </a:ln>
        </p:spPr>
        <p:txBody>
          <a:bodyPr lIns="0" tIns="0" rIns="0" bIns="0" anchor="t">
            <a:normAutofit/>
          </a:bodyPr>
          <a:lstStyle/>
          <a:p>
            <a:pPr algn="l">
              <a:lnSpc>
                <a:spcPct val="108000"/>
              </a:lnSpc>
              <a:buNone/>
              <a:defRPr sz="1125" b="0" i="0">
                <a:solidFill>
                  <a:srgbClr val="142735"/>
                </a:solidFill>
                <a:latin typeface="Arial"/>
                <a:ea typeface="Arial"/>
                <a:cs typeface="Arial"/>
              </a:defRPr>
            </a:pPr>
            <a:r>
              <a:rPr sz="1125" b="0" i="0">
                <a:solidFill>
                  <a:srgbClr val="142735"/>
                </a:solidFill>
                <a:latin typeface="Arial"/>
                <a:ea typeface="Arial"/>
                <a:cs typeface="Arial"/>
              </a:rPr>
              <a:t>Variance reduction for diffuse signal</a:t>
            </a:r>
          </a:p>
        </p:txBody>
      </p:sp>
      <p:sp>
        <p:nvSpPr>
          <p:cNvPr id="16" name="Rounded Rectangle 15">
            <a:extLst>
              <a:ext uri="{FF2B5EF4-FFF2-40B4-BE49-F238E27FC236}">
                <a16:creationId xmlns:a16="http://schemas.microsoft.com/office/drawing/2014/main" id="{DD07D1D1-C9FC-48F8-9351-9E25DF8CCC2A}"/>
              </a:ext>
            </a:extLst>
          </p:cNvPr>
          <p:cNvSpPr>
            <a:spLocks noGrp="1"/>
          </p:cNvSpPr>
          <p:nvPr/>
        </p:nvSpPr>
        <p:spPr>
          <a:xfrm>
            <a:off x="685800" y="3390900"/>
            <a:ext cx="4953000" cy="1047750"/>
          </a:xfrm>
          <a:prstGeom prst="roundRect">
            <a:avLst>
              <a:gd name="adj" fmla="val 10909"/>
            </a:avLst>
          </a:prstGeom>
          <a:solidFill>
            <a:srgbClr val="E5EEF6"/>
          </a:solidFill>
          <a:ln w="0">
            <a:noFill/>
            <a:prstDash val="solid"/>
          </a:ln>
        </p:spPr>
      </p:sp>
      <p:sp>
        <p:nvSpPr>
          <p:cNvPr id="17" name="Rounded Rectangle 16">
            <a:extLst>
              <a:ext uri="{FF2B5EF4-FFF2-40B4-BE49-F238E27FC236}">
                <a16:creationId xmlns:a16="http://schemas.microsoft.com/office/drawing/2014/main" id="{F231E5D5-4B89-408A-80E3-989C70891B79}"/>
              </a:ext>
            </a:extLst>
          </p:cNvPr>
          <p:cNvSpPr>
            <a:spLocks noGrp="1"/>
          </p:cNvSpPr>
          <p:nvPr/>
        </p:nvSpPr>
        <p:spPr>
          <a:xfrm>
            <a:off x="685800" y="3390900"/>
            <a:ext cx="114300" cy="1047750"/>
          </a:xfrm>
          <a:prstGeom prst="roundRect">
            <a:avLst>
              <a:gd name="adj" fmla="val 50000"/>
            </a:avLst>
          </a:prstGeom>
          <a:solidFill>
            <a:srgbClr val="163A5F"/>
          </a:solidFill>
          <a:ln w="0">
            <a:noFill/>
            <a:prstDash val="solid"/>
          </a:ln>
        </p:spPr>
      </p:sp>
      <p:sp>
        <p:nvSpPr>
          <p:cNvPr id="18" name="Rectangle 17">
            <a:extLst>
              <a:ext uri="{FF2B5EF4-FFF2-40B4-BE49-F238E27FC236}">
                <a16:creationId xmlns:a16="http://schemas.microsoft.com/office/drawing/2014/main" id="{4F1AE948-E1E3-4330-9912-1892B2643A7C}"/>
              </a:ext>
            </a:extLst>
          </p:cNvPr>
          <p:cNvSpPr>
            <a:spLocks noGrp="1"/>
          </p:cNvSpPr>
          <p:nvPr/>
        </p:nvSpPr>
        <p:spPr>
          <a:xfrm>
            <a:off x="952500" y="3552825"/>
            <a:ext cx="4476750" cy="209550"/>
          </a:xfrm>
          <a:prstGeom prst="rect">
            <a:avLst/>
          </a:prstGeom>
          <a:noFill/>
          <a:ln w="0">
            <a:noFill/>
          </a:ln>
        </p:spPr>
        <p:txBody>
          <a:bodyPr lIns="0" tIns="0" rIns="0" bIns="0" anchor="t">
            <a:normAutofit/>
          </a:bodyPr>
          <a:lstStyle/>
          <a:p>
            <a:pPr algn="l">
              <a:lnSpc>
                <a:spcPct val="108000"/>
              </a:lnSpc>
              <a:buNone/>
              <a:defRPr sz="1200" b="1" i="0">
                <a:solidFill>
                  <a:srgbClr val="52606D"/>
                </a:solidFill>
                <a:latin typeface="Arial"/>
                <a:ea typeface="Arial"/>
                <a:cs typeface="Arial"/>
              </a:defRPr>
            </a:pPr>
            <a:r>
              <a:rPr sz="1200" b="1" i="0">
                <a:solidFill>
                  <a:srgbClr val="52606D"/>
                </a:solidFill>
                <a:latin typeface="Arial"/>
                <a:ea typeface="Arial"/>
                <a:cs typeface="Arial"/>
              </a:rPr>
              <a:t>Boosted trees</a:t>
            </a:r>
          </a:p>
        </p:txBody>
      </p:sp>
      <p:sp>
        <p:nvSpPr>
          <p:cNvPr id="19" name="Rectangle 18">
            <a:extLst>
              <a:ext uri="{FF2B5EF4-FFF2-40B4-BE49-F238E27FC236}">
                <a16:creationId xmlns:a16="http://schemas.microsoft.com/office/drawing/2014/main" id="{F6072B94-9218-4C1A-A6E5-ECE52CDE2B75}"/>
              </a:ext>
            </a:extLst>
          </p:cNvPr>
          <p:cNvSpPr>
            <a:spLocks noGrp="1"/>
          </p:cNvSpPr>
          <p:nvPr/>
        </p:nvSpPr>
        <p:spPr>
          <a:xfrm>
            <a:off x="952500" y="3810000"/>
            <a:ext cx="4476750" cy="266700"/>
          </a:xfrm>
          <a:prstGeom prst="rect">
            <a:avLst/>
          </a:prstGeom>
          <a:noFill/>
          <a:ln w="0">
            <a:noFill/>
          </a:ln>
        </p:spPr>
        <p:txBody>
          <a:bodyPr lIns="0" tIns="0" rIns="0" bIns="0" anchor="t">
            <a:normAutofit/>
          </a:bodyPr>
          <a:lstStyle/>
          <a:p>
            <a:pPr algn="l">
              <a:lnSpc>
                <a:spcPct val="108000"/>
              </a:lnSpc>
              <a:buNone/>
              <a:defRPr sz="1575" b="1" i="0">
                <a:solidFill>
                  <a:srgbClr val="102A43"/>
                </a:solidFill>
                <a:latin typeface="Arial"/>
                <a:ea typeface="Arial"/>
                <a:cs typeface="Arial"/>
              </a:defRPr>
            </a:pPr>
            <a:r>
              <a:rPr sz="1575" b="1" i="0">
                <a:solidFill>
                  <a:srgbClr val="102A43"/>
                </a:solidFill>
                <a:latin typeface="Arial"/>
                <a:ea typeface="Arial"/>
                <a:cs typeface="Arial"/>
              </a:rPr>
              <a:t>XGBoost • LightGBM • CatBoost</a:t>
            </a:r>
          </a:p>
        </p:txBody>
      </p:sp>
      <p:sp>
        <p:nvSpPr>
          <p:cNvPr id="20" name="Rectangle 19">
            <a:extLst>
              <a:ext uri="{FF2B5EF4-FFF2-40B4-BE49-F238E27FC236}">
                <a16:creationId xmlns:a16="http://schemas.microsoft.com/office/drawing/2014/main" id="{006D9F10-F3FF-497D-A33E-F69E3369FFB8}"/>
              </a:ext>
            </a:extLst>
          </p:cNvPr>
          <p:cNvSpPr>
            <a:spLocks noGrp="1"/>
          </p:cNvSpPr>
          <p:nvPr/>
        </p:nvSpPr>
        <p:spPr>
          <a:xfrm>
            <a:off x="952500" y="4133850"/>
            <a:ext cx="4476750" cy="209550"/>
          </a:xfrm>
          <a:prstGeom prst="rect">
            <a:avLst/>
          </a:prstGeom>
          <a:noFill/>
          <a:ln w="0">
            <a:noFill/>
          </a:ln>
        </p:spPr>
        <p:txBody>
          <a:bodyPr lIns="0" tIns="0" rIns="0" bIns="0" anchor="t">
            <a:normAutofit/>
          </a:bodyPr>
          <a:lstStyle/>
          <a:p>
            <a:pPr algn="l">
              <a:lnSpc>
                <a:spcPct val="108000"/>
              </a:lnSpc>
              <a:buNone/>
              <a:defRPr sz="1125" b="0" i="0">
                <a:solidFill>
                  <a:srgbClr val="142735"/>
                </a:solidFill>
                <a:latin typeface="Arial"/>
                <a:ea typeface="Arial"/>
                <a:cs typeface="Arial"/>
              </a:defRPr>
            </a:pPr>
            <a:r>
              <a:rPr sz="1125" b="0" i="0">
                <a:solidFill>
                  <a:srgbClr val="142735"/>
                </a:solidFill>
                <a:latin typeface="Arial"/>
                <a:ea typeface="Arial"/>
                <a:cs typeface="Arial"/>
              </a:rPr>
              <a:t>Strong tabular learners; native missingness or ordered boosting</a:t>
            </a:r>
          </a:p>
        </p:txBody>
      </p:sp>
      <p:sp>
        <p:nvSpPr>
          <p:cNvPr id="21" name="Rounded Rectangle 20">
            <a:extLst>
              <a:ext uri="{FF2B5EF4-FFF2-40B4-BE49-F238E27FC236}">
                <a16:creationId xmlns:a16="http://schemas.microsoft.com/office/drawing/2014/main" id="{784EEA06-E27B-4B1A-A4D4-49D120AFF2A1}"/>
              </a:ext>
            </a:extLst>
          </p:cNvPr>
          <p:cNvSpPr>
            <a:spLocks noGrp="1"/>
          </p:cNvSpPr>
          <p:nvPr/>
        </p:nvSpPr>
        <p:spPr>
          <a:xfrm>
            <a:off x="6019800" y="3390900"/>
            <a:ext cx="4953000" cy="1047750"/>
          </a:xfrm>
          <a:prstGeom prst="roundRect">
            <a:avLst>
              <a:gd name="adj" fmla="val 10909"/>
            </a:avLst>
          </a:prstGeom>
          <a:solidFill>
            <a:srgbClr val="F7FAFC"/>
          </a:solidFill>
          <a:ln w="0">
            <a:noFill/>
            <a:prstDash val="solid"/>
          </a:ln>
        </p:spPr>
      </p:sp>
      <p:sp>
        <p:nvSpPr>
          <p:cNvPr id="22" name="Rounded Rectangle 21">
            <a:extLst>
              <a:ext uri="{FF2B5EF4-FFF2-40B4-BE49-F238E27FC236}">
                <a16:creationId xmlns:a16="http://schemas.microsoft.com/office/drawing/2014/main" id="{B3857A07-F028-4954-B096-F612F83CF106}"/>
              </a:ext>
            </a:extLst>
          </p:cNvPr>
          <p:cNvSpPr>
            <a:spLocks noGrp="1"/>
          </p:cNvSpPr>
          <p:nvPr/>
        </p:nvSpPr>
        <p:spPr>
          <a:xfrm>
            <a:off x="6019800" y="3390900"/>
            <a:ext cx="114300" cy="1047750"/>
          </a:xfrm>
          <a:prstGeom prst="roundRect">
            <a:avLst>
              <a:gd name="adj" fmla="val 50000"/>
            </a:avLst>
          </a:prstGeom>
          <a:solidFill>
            <a:srgbClr val="D97706"/>
          </a:solidFill>
          <a:ln w="0">
            <a:noFill/>
            <a:prstDash val="solid"/>
          </a:ln>
        </p:spPr>
      </p:sp>
      <p:sp>
        <p:nvSpPr>
          <p:cNvPr id="23" name="Rectangle 22">
            <a:extLst>
              <a:ext uri="{FF2B5EF4-FFF2-40B4-BE49-F238E27FC236}">
                <a16:creationId xmlns:a16="http://schemas.microsoft.com/office/drawing/2014/main" id="{8CBB48A6-8969-4670-9AE7-F893C285C791}"/>
              </a:ext>
            </a:extLst>
          </p:cNvPr>
          <p:cNvSpPr>
            <a:spLocks noGrp="1"/>
          </p:cNvSpPr>
          <p:nvPr/>
        </p:nvSpPr>
        <p:spPr>
          <a:xfrm>
            <a:off x="6286500" y="3552825"/>
            <a:ext cx="4476750" cy="209550"/>
          </a:xfrm>
          <a:prstGeom prst="rect">
            <a:avLst/>
          </a:prstGeom>
          <a:noFill/>
          <a:ln w="0">
            <a:noFill/>
          </a:ln>
        </p:spPr>
        <p:txBody>
          <a:bodyPr lIns="0" tIns="0" rIns="0" bIns="0" anchor="t">
            <a:normAutofit/>
          </a:bodyPr>
          <a:lstStyle/>
          <a:p>
            <a:pPr algn="l">
              <a:lnSpc>
                <a:spcPct val="108000"/>
              </a:lnSpc>
              <a:buNone/>
              <a:defRPr sz="1200" b="1" i="0">
                <a:solidFill>
                  <a:srgbClr val="52606D"/>
                </a:solidFill>
                <a:latin typeface="Arial"/>
                <a:ea typeface="Arial"/>
                <a:cs typeface="Arial"/>
              </a:defRPr>
            </a:pPr>
            <a:r>
              <a:rPr sz="1200" b="1" i="0">
                <a:solidFill>
                  <a:srgbClr val="52606D"/>
                </a:solidFill>
                <a:latin typeface="Arial"/>
                <a:ea typeface="Arial"/>
                <a:cs typeface="Arial"/>
              </a:rPr>
              <a:t>Deep tabular</a:t>
            </a:r>
          </a:p>
        </p:txBody>
      </p:sp>
      <p:sp>
        <p:nvSpPr>
          <p:cNvPr id="24" name="Rectangle 23">
            <a:extLst>
              <a:ext uri="{FF2B5EF4-FFF2-40B4-BE49-F238E27FC236}">
                <a16:creationId xmlns:a16="http://schemas.microsoft.com/office/drawing/2014/main" id="{73F1BFD5-495B-4420-93B8-2444E71E829F}"/>
              </a:ext>
            </a:extLst>
          </p:cNvPr>
          <p:cNvSpPr>
            <a:spLocks noGrp="1"/>
          </p:cNvSpPr>
          <p:nvPr/>
        </p:nvSpPr>
        <p:spPr>
          <a:xfrm>
            <a:off x="6286500" y="3810000"/>
            <a:ext cx="4476750" cy="266700"/>
          </a:xfrm>
          <a:prstGeom prst="rect">
            <a:avLst/>
          </a:prstGeom>
          <a:noFill/>
          <a:ln w="0">
            <a:noFill/>
          </a:ln>
        </p:spPr>
        <p:txBody>
          <a:bodyPr lIns="0" tIns="0" rIns="0" bIns="0" anchor="t">
            <a:normAutofit/>
          </a:bodyPr>
          <a:lstStyle/>
          <a:p>
            <a:pPr algn="l">
              <a:lnSpc>
                <a:spcPct val="108000"/>
              </a:lnSpc>
              <a:buNone/>
              <a:defRPr sz="1575" b="1" i="0">
                <a:solidFill>
                  <a:srgbClr val="102A43"/>
                </a:solidFill>
                <a:latin typeface="Arial"/>
                <a:ea typeface="Arial"/>
                <a:cs typeface="Arial"/>
              </a:defRPr>
            </a:pPr>
            <a:r>
              <a:rPr sz="1575" b="1" i="0">
                <a:solidFill>
                  <a:srgbClr val="102A43"/>
                </a:solidFill>
                <a:latin typeface="Arial"/>
                <a:ea typeface="Arial"/>
                <a:cs typeface="Arial"/>
              </a:rPr>
              <a:t>RealMLP • TabM</a:t>
            </a:r>
          </a:p>
        </p:txBody>
      </p:sp>
      <p:sp>
        <p:nvSpPr>
          <p:cNvPr id="25" name="Rectangle 24">
            <a:extLst>
              <a:ext uri="{FF2B5EF4-FFF2-40B4-BE49-F238E27FC236}">
                <a16:creationId xmlns:a16="http://schemas.microsoft.com/office/drawing/2014/main" id="{7F4EE76A-A91D-40D6-A001-5FC2B8097C81}"/>
              </a:ext>
            </a:extLst>
          </p:cNvPr>
          <p:cNvSpPr>
            <a:spLocks noGrp="1"/>
          </p:cNvSpPr>
          <p:nvPr/>
        </p:nvSpPr>
        <p:spPr>
          <a:xfrm>
            <a:off x="6286500" y="4133850"/>
            <a:ext cx="4476750" cy="209550"/>
          </a:xfrm>
          <a:prstGeom prst="rect">
            <a:avLst/>
          </a:prstGeom>
          <a:noFill/>
          <a:ln w="0">
            <a:noFill/>
          </a:ln>
        </p:spPr>
        <p:txBody>
          <a:bodyPr lIns="0" tIns="0" rIns="0" bIns="0" anchor="t">
            <a:normAutofit/>
          </a:bodyPr>
          <a:lstStyle/>
          <a:p>
            <a:pPr algn="l">
              <a:lnSpc>
                <a:spcPct val="108000"/>
              </a:lnSpc>
              <a:buNone/>
              <a:defRPr sz="1125" b="0" i="0">
                <a:solidFill>
                  <a:srgbClr val="142735"/>
                </a:solidFill>
                <a:latin typeface="Arial"/>
                <a:ea typeface="Arial"/>
                <a:cs typeface="Arial"/>
              </a:defRPr>
            </a:pPr>
            <a:r>
              <a:rPr sz="1125" b="0" i="0">
                <a:solidFill>
                  <a:srgbClr val="142735"/>
                </a:solidFill>
                <a:latin typeface="Arial"/>
                <a:ea typeface="Arial"/>
                <a:cs typeface="Arial"/>
              </a:rPr>
              <a:t>Published tuned defaults; independent inductive bias</a:t>
            </a:r>
          </a:p>
        </p:txBody>
      </p:sp>
      <p:sp>
        <p:nvSpPr>
          <p:cNvPr id="26" name="Rounded Rectangle 25">
            <a:extLst>
              <a:ext uri="{FF2B5EF4-FFF2-40B4-BE49-F238E27FC236}">
                <a16:creationId xmlns:a16="http://schemas.microsoft.com/office/drawing/2014/main" id="{F18911A0-A1C9-4A82-AFDA-7F070C6B2229}"/>
              </a:ext>
            </a:extLst>
          </p:cNvPr>
          <p:cNvSpPr>
            <a:spLocks noGrp="1"/>
          </p:cNvSpPr>
          <p:nvPr/>
        </p:nvSpPr>
        <p:spPr>
          <a:xfrm>
            <a:off x="685800" y="4914900"/>
            <a:ext cx="10820400" cy="685800"/>
          </a:xfrm>
          <a:prstGeom prst="roundRect">
            <a:avLst>
              <a:gd name="adj" fmla="val 16667"/>
            </a:avLst>
          </a:prstGeom>
          <a:solidFill>
            <a:srgbClr val="FEF3C7"/>
          </a:solidFill>
          <a:ln w="0">
            <a:noFill/>
            <a:prstDash val="solid"/>
          </a:ln>
        </p:spPr>
      </p:sp>
      <p:sp>
        <p:nvSpPr>
          <p:cNvPr id="27" name="Rectangle 26">
            <a:extLst>
              <a:ext uri="{FF2B5EF4-FFF2-40B4-BE49-F238E27FC236}">
                <a16:creationId xmlns:a16="http://schemas.microsoft.com/office/drawing/2014/main" id="{6762CDDB-6DE5-452D-9A79-00775B4C98B9}"/>
              </a:ext>
            </a:extLst>
          </p:cNvPr>
          <p:cNvSpPr>
            <a:spLocks noGrp="1"/>
          </p:cNvSpPr>
          <p:nvPr/>
        </p:nvSpPr>
        <p:spPr>
          <a:xfrm>
            <a:off x="895350" y="5105400"/>
            <a:ext cx="10382250" cy="304800"/>
          </a:xfrm>
          <a:prstGeom prst="rect">
            <a:avLst/>
          </a:prstGeom>
          <a:noFill/>
          <a:ln w="0">
            <a:noFill/>
          </a:ln>
        </p:spPr>
        <p:txBody>
          <a:bodyPr lIns="0" tIns="0" rIns="0" bIns="0" anchor="t">
            <a:normAutofit fontScale="85903" lnSpcReduction="20000"/>
          </a:bodyPr>
          <a:lstStyle/>
          <a:p>
            <a:pPr algn="l">
              <a:lnSpc>
                <a:spcPct val="106000"/>
              </a:lnSpc>
              <a:buNone/>
              <a:defRPr sz="1275" b="0" i="0">
                <a:solidFill>
                  <a:srgbClr val="102A43"/>
                </a:solidFill>
                <a:latin typeface="Arial"/>
                <a:ea typeface="Arial"/>
                <a:cs typeface="Arial"/>
              </a:defRPr>
            </a:pPr>
            <a:r>
              <a:rPr sz="1275" b="0" i="0">
                <a:solidFill>
                  <a:srgbClr val="102A43"/>
                </a:solidFill>
                <a:latin typeface="Arial"/>
                <a:ea typeface="Arial"/>
                <a:cs typeface="Arial"/>
              </a:rPr>
              <a:t>TabPFN-3 was tested separately under the same grouped split and 10,000-row cap. It stayed within 0.007 PR-AUC of the incumbent on four of the five targets, so it did not change the conclusion.</a:t>
            </a:r>
          </a:p>
        </p:txBody>
      </p:sp>
      <p:sp>
        <p:nvSpPr>
          <p:cNvPr id="28" name="Rectangle 27">
            <a:extLst>
              <a:ext uri="{FF2B5EF4-FFF2-40B4-BE49-F238E27FC236}">
                <a16:creationId xmlns:a16="http://schemas.microsoft.com/office/drawing/2014/main" id="{B9923E87-C458-4207-9EBA-3DB4E1D08C3A}"/>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5:21</a:t>
            </a:r>
          </a:p>
        </p:txBody>
      </p:sp>
      <p:sp>
        <p:nvSpPr>
          <p:cNvPr id="29" name="Rectangle 28">
            <a:extLst>
              <a:ext uri="{FF2B5EF4-FFF2-40B4-BE49-F238E27FC236}">
                <a16:creationId xmlns:a16="http://schemas.microsoft.com/office/drawing/2014/main" id="{0777BEB3-B01D-4F61-94F7-D4644A57AA49}"/>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129, 141-166</a:t>
            </a:r>
          </a:p>
        </p:txBody>
      </p:sp>
      <p:sp>
        <p:nvSpPr>
          <p:cNvPr id="30" name="Rectangle 29">
            <a:extLst>
              <a:ext uri="{FF2B5EF4-FFF2-40B4-BE49-F238E27FC236}">
                <a16:creationId xmlns:a16="http://schemas.microsoft.com/office/drawing/2014/main" id="{B31E4636-0FE9-4159-AE99-467C5378B5B8}"/>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670969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AF8961-2506-40F5-A4F7-A286A56249D9}"/>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MODEL COMPARISON</a:t>
            </a:r>
          </a:p>
        </p:txBody>
      </p:sp>
      <p:sp>
        <p:nvSpPr>
          <p:cNvPr id="2" name="Rectangle 1">
            <a:extLst>
              <a:ext uri="{FF2B5EF4-FFF2-40B4-BE49-F238E27FC236}">
                <a16:creationId xmlns:a16="http://schemas.microsoft.com/office/drawing/2014/main" id="{1EEF3FED-16FC-40A4-8393-90BA8F847757}"/>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The winning model depends on the outcome</a:t>
            </a:r>
          </a:p>
        </p:txBody>
      </p:sp>
      <p:sp>
        <p:nvSpPr>
          <p:cNvPr id="3" name="Rectangle 2">
            <a:extLst>
              <a:ext uri="{FF2B5EF4-FFF2-40B4-BE49-F238E27FC236}">
                <a16:creationId xmlns:a16="http://schemas.microsoft.com/office/drawing/2014/main" id="{EBB2E161-98AB-4E15-A301-D7165D802CED}"/>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10</a:t>
            </a:r>
          </a:p>
        </p:txBody>
      </p:sp>
      <p:sp>
        <p:nvSpPr>
          <p:cNvPr id="4" name="Straight Connector 3">
            <a:extLst>
              <a:ext uri="{FF2B5EF4-FFF2-40B4-BE49-F238E27FC236}">
                <a16:creationId xmlns:a16="http://schemas.microsoft.com/office/drawing/2014/main" id="{93D99BA7-85E5-4DB6-AF33-58FA8EF260FA}"/>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ectangle 4">
            <a:extLst>
              <a:ext uri="{FF2B5EF4-FFF2-40B4-BE49-F238E27FC236}">
                <a16:creationId xmlns:a16="http://schemas.microsoft.com/office/drawing/2014/main" id="{5B080AA9-A72A-4053-AA81-BA435DA377BE}"/>
              </a:ext>
            </a:extLst>
          </p:cNvPr>
          <p:cNvSpPr>
            <a:spLocks noGrp="1"/>
          </p:cNvSpPr>
          <p:nvPr/>
        </p:nvSpPr>
        <p:spPr>
          <a:xfrm>
            <a:off x="685800" y="1428750"/>
            <a:ext cx="10287000" cy="304800"/>
          </a:xfrm>
          <a:prstGeom prst="rect">
            <a:avLst/>
          </a:prstGeom>
          <a:noFill/>
          <a:ln w="0">
            <a:noFill/>
          </a:ln>
        </p:spPr>
        <p:txBody>
          <a:bodyPr lIns="0" tIns="0" rIns="0" bIns="0" anchor="t">
            <a:normAutofit/>
          </a:bodyPr>
          <a:lstStyle/>
          <a:p>
            <a:pPr algn="l">
              <a:lnSpc>
                <a:spcPct val="108000"/>
              </a:lnSpc>
              <a:buNone/>
              <a:defRPr sz="1500" b="0" i="0">
                <a:solidFill>
                  <a:srgbClr val="52606D"/>
                </a:solidFill>
                <a:latin typeface="Arial"/>
                <a:ea typeface="Arial"/>
                <a:cs typeface="Arial"/>
              </a:defRPr>
            </a:pPr>
            <a:r>
              <a:rPr sz="1500" b="0" i="0">
                <a:solidFill>
                  <a:srgbClr val="52606D"/>
                </a:solidFill>
                <a:latin typeface="Arial"/>
                <a:ea typeface="Arial"/>
                <a:cs typeface="Arial"/>
              </a:rPr>
              <a:t>The results are moderate and outcome-specific; there is no universal winner.</a:t>
            </a:r>
          </a:p>
        </p:txBody>
      </p:sp>
      <p:graphicFrame>
        <p:nvGraphicFramePr>
          <p:cNvPr id="18" name="Table 17"/>
          <p:cNvGraphicFramePr/>
          <p:nvPr/>
        </p:nvGraphicFramePr>
        <p:xfrm>
          <a:off x="685800" y="2076450"/>
          <a:ext cx="6381750" cy="2724150"/>
        </p:xfrm>
        <a:graphic>
          <a:graphicData uri="http://schemas.openxmlformats.org/drawingml/2006/table">
            <a:tbl>
              <a:tblPr firstRow="1" bandRow="1"/>
              <a:tblGrid>
                <a:gridCol w="223837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tblGrid>
              <a:tr h="454025">
                <a:tc>
                  <a:txBody>
                    <a:bodyPr/>
                    <a:lstStyle/>
                    <a:p>
                      <a:pPr algn="l"/>
                      <a:r>
                        <a:rPr sz="1050" b="1">
                          <a:solidFill>
                            <a:srgbClr val="FFFFFF"/>
                          </a:solidFill>
                          <a:latin typeface="Arial"/>
                          <a:ea typeface="Arial"/>
                          <a:cs typeface="Arial"/>
                        </a:rPr>
                        <a:t>Outcome</a:t>
                      </a:r>
                    </a:p>
                  </a:txBody>
                  <a:tcPr anchor="ctr">
                    <a:solidFill>
                      <a:srgbClr val="102A43"/>
                    </a:solidFill>
                  </a:tcPr>
                </a:tc>
                <a:tc>
                  <a:txBody>
                    <a:bodyPr/>
                    <a:lstStyle/>
                    <a:p>
                      <a:pPr algn="l"/>
                      <a:r>
                        <a:rPr sz="1050" b="1">
                          <a:solidFill>
                            <a:srgbClr val="FFFFFF"/>
                          </a:solidFill>
                          <a:latin typeface="Arial"/>
                          <a:ea typeface="Arial"/>
                          <a:cs typeface="Arial"/>
                        </a:rPr>
                        <a:t>Winner</a:t>
                      </a:r>
                    </a:p>
                  </a:txBody>
                  <a:tcPr anchor="ctr">
                    <a:solidFill>
                      <a:srgbClr val="102A43"/>
                    </a:solidFill>
                  </a:tcPr>
                </a:tc>
                <a:tc>
                  <a:txBody>
                    <a:bodyPr/>
                    <a:lstStyle/>
                    <a:p>
                      <a:pPr algn="l"/>
                      <a:r>
                        <a:rPr sz="1050" b="1">
                          <a:solidFill>
                            <a:srgbClr val="FFFFFF"/>
                          </a:solidFill>
                          <a:latin typeface="Arial"/>
                          <a:ea typeface="Arial"/>
                          <a:cs typeface="Arial"/>
                        </a:rPr>
                        <a:t>ROC-AUC</a:t>
                      </a:r>
                    </a:p>
                  </a:txBody>
                  <a:tcPr anchor="ctr">
                    <a:solidFill>
                      <a:srgbClr val="102A43"/>
                    </a:solidFill>
                  </a:tcPr>
                </a:tc>
                <a:tc>
                  <a:txBody>
                    <a:bodyPr/>
                    <a:lstStyle/>
                    <a:p>
                      <a:pPr algn="r"/>
                      <a:r>
                        <a:rPr sz="1050" b="1">
                          <a:solidFill>
                            <a:srgbClr val="FFFFFF"/>
                          </a:solidFill>
                          <a:latin typeface="Arial"/>
                          <a:ea typeface="Arial"/>
                          <a:cs typeface="Arial"/>
                        </a:rPr>
                        <a:t>PR-AUC</a:t>
                      </a:r>
                    </a:p>
                  </a:txBody>
                  <a:tcPr anchor="ctr">
                    <a:solidFill>
                      <a:srgbClr val="102A43"/>
                    </a:solidFill>
                  </a:tcPr>
                </a:tc>
                <a:extLst>
                  <a:ext uri="{0D108BD9-81ED-4DB2-BD59-A6C34878D82A}">
                    <a16:rowId xmlns:a16="http://schemas.microsoft.com/office/drawing/2014/main" val="10000"/>
                  </a:ext>
                </a:extLst>
              </a:tr>
              <a:tr h="454025">
                <a:tc>
                  <a:txBody>
                    <a:bodyPr/>
                    <a:lstStyle/>
                    <a:p>
                      <a:pPr algn="l"/>
                      <a:r>
                        <a:rPr sz="1013">
                          <a:solidFill>
                            <a:srgbClr val="142735"/>
                          </a:solidFill>
                          <a:latin typeface="Arial"/>
                          <a:ea typeface="Arial"/>
                          <a:cs typeface="Arial"/>
                        </a:rPr>
                        <a:t>Facility delivery</a:t>
                      </a:r>
                    </a:p>
                  </a:txBody>
                  <a:tcPr anchor="ctr"/>
                </a:tc>
                <a:tc>
                  <a:txBody>
                    <a:bodyPr/>
                    <a:lstStyle/>
                    <a:p>
                      <a:pPr algn="l"/>
                      <a:r>
                        <a:rPr sz="1013">
                          <a:solidFill>
                            <a:srgbClr val="142735"/>
                          </a:solidFill>
                          <a:latin typeface="Arial"/>
                          <a:ea typeface="Arial"/>
                          <a:cs typeface="Arial"/>
                        </a:rPr>
                        <a:t>Ensemble</a:t>
                      </a:r>
                    </a:p>
                  </a:txBody>
                  <a:tcPr anchor="ctr"/>
                </a:tc>
                <a:tc>
                  <a:txBody>
                    <a:bodyPr/>
                    <a:lstStyle/>
                    <a:p>
                      <a:pPr algn="l"/>
                      <a:r>
                        <a:rPr sz="1013">
                          <a:solidFill>
                            <a:srgbClr val="142735"/>
                          </a:solidFill>
                          <a:latin typeface="Arial"/>
                          <a:ea typeface="Arial"/>
                          <a:cs typeface="Arial"/>
                        </a:rPr>
                        <a:t>0.845</a:t>
                      </a:r>
                    </a:p>
                  </a:txBody>
                  <a:tcPr anchor="ctr"/>
                </a:tc>
                <a:tc>
                  <a:txBody>
                    <a:bodyPr/>
                    <a:lstStyle/>
                    <a:p>
                      <a:pPr algn="r"/>
                      <a:r>
                        <a:rPr sz="1013">
                          <a:solidFill>
                            <a:srgbClr val="142735"/>
                          </a:solidFill>
                          <a:latin typeface="Arial"/>
                          <a:ea typeface="Arial"/>
                          <a:cs typeface="Arial"/>
                        </a:rPr>
                        <a:t>0.878</a:t>
                      </a:r>
                    </a:p>
                  </a:txBody>
                  <a:tcPr anchor="ctr"/>
                </a:tc>
                <a:extLst>
                  <a:ext uri="{0D108BD9-81ED-4DB2-BD59-A6C34878D82A}">
                    <a16:rowId xmlns:a16="http://schemas.microsoft.com/office/drawing/2014/main" val="10001"/>
                  </a:ext>
                </a:extLst>
              </a:tr>
              <a:tr h="454025">
                <a:tc>
                  <a:txBody>
                    <a:bodyPr/>
                    <a:lstStyle/>
                    <a:p>
                      <a:pPr algn="l"/>
                      <a:r>
                        <a:rPr sz="1013">
                          <a:solidFill>
                            <a:srgbClr val="142735"/>
                          </a:solidFill>
                          <a:latin typeface="Arial"/>
                          <a:ea typeface="Arial"/>
                          <a:cs typeface="Arial"/>
                        </a:rPr>
                        <a:t>Neonatal death</a:t>
                      </a:r>
                    </a:p>
                  </a:txBody>
                  <a:tcPr anchor="ctr"/>
                </a:tc>
                <a:tc>
                  <a:txBody>
                    <a:bodyPr/>
                    <a:lstStyle/>
                    <a:p>
                      <a:pPr algn="l"/>
                      <a:r>
                        <a:rPr sz="1013">
                          <a:solidFill>
                            <a:srgbClr val="142735"/>
                          </a:solidFill>
                          <a:latin typeface="Arial"/>
                          <a:ea typeface="Arial"/>
                          <a:cs typeface="Arial"/>
                        </a:rPr>
                        <a:t>Ensemble</a:t>
                      </a:r>
                    </a:p>
                  </a:txBody>
                  <a:tcPr anchor="ctr"/>
                </a:tc>
                <a:tc>
                  <a:txBody>
                    <a:bodyPr/>
                    <a:lstStyle/>
                    <a:p>
                      <a:pPr algn="l"/>
                      <a:r>
                        <a:rPr sz="1013">
                          <a:solidFill>
                            <a:srgbClr val="142735"/>
                          </a:solidFill>
                          <a:latin typeface="Arial"/>
                          <a:ea typeface="Arial"/>
                          <a:cs typeface="Arial"/>
                        </a:rPr>
                        <a:t>0.773</a:t>
                      </a:r>
                    </a:p>
                  </a:txBody>
                  <a:tcPr anchor="ctr"/>
                </a:tc>
                <a:tc>
                  <a:txBody>
                    <a:bodyPr/>
                    <a:lstStyle/>
                    <a:p>
                      <a:pPr algn="r"/>
                      <a:r>
                        <a:rPr sz="1013">
                          <a:solidFill>
                            <a:srgbClr val="142735"/>
                          </a:solidFill>
                          <a:latin typeface="Arial"/>
                          <a:ea typeface="Arial"/>
                          <a:cs typeface="Arial"/>
                        </a:rPr>
                        <a:t>0.209</a:t>
                      </a:r>
                    </a:p>
                  </a:txBody>
                  <a:tcPr anchor="ctr"/>
                </a:tc>
                <a:extLst>
                  <a:ext uri="{0D108BD9-81ED-4DB2-BD59-A6C34878D82A}">
                    <a16:rowId xmlns:a16="http://schemas.microsoft.com/office/drawing/2014/main" val="10002"/>
                  </a:ext>
                </a:extLst>
              </a:tr>
              <a:tr h="454025">
                <a:tc>
                  <a:txBody>
                    <a:bodyPr/>
                    <a:lstStyle/>
                    <a:p>
                      <a:pPr algn="l"/>
                      <a:r>
                        <a:rPr sz="1013">
                          <a:solidFill>
                            <a:srgbClr val="142735"/>
                          </a:solidFill>
                          <a:latin typeface="Arial"/>
                          <a:ea typeface="Arial"/>
                          <a:cs typeface="Arial"/>
                        </a:rPr>
                        <a:t>Stunted</a:t>
                      </a:r>
                    </a:p>
                  </a:txBody>
                  <a:tcPr anchor="ctr"/>
                </a:tc>
                <a:tc>
                  <a:txBody>
                    <a:bodyPr/>
                    <a:lstStyle/>
                    <a:p>
                      <a:pPr algn="l"/>
                      <a:r>
                        <a:rPr sz="1013">
                          <a:solidFill>
                            <a:srgbClr val="142735"/>
                          </a:solidFill>
                          <a:latin typeface="Arial"/>
                          <a:ea typeface="Arial"/>
                          <a:cs typeface="Arial"/>
                        </a:rPr>
                        <a:t>CatBoost</a:t>
                      </a:r>
                    </a:p>
                  </a:txBody>
                  <a:tcPr anchor="ctr"/>
                </a:tc>
                <a:tc>
                  <a:txBody>
                    <a:bodyPr/>
                    <a:lstStyle/>
                    <a:p>
                      <a:pPr algn="l"/>
                      <a:r>
                        <a:rPr sz="1013">
                          <a:solidFill>
                            <a:srgbClr val="142735"/>
                          </a:solidFill>
                          <a:latin typeface="Arial"/>
                          <a:ea typeface="Arial"/>
                          <a:cs typeface="Arial"/>
                        </a:rPr>
                        <a:t>0.707</a:t>
                      </a:r>
                    </a:p>
                  </a:txBody>
                  <a:tcPr anchor="ctr"/>
                </a:tc>
                <a:tc>
                  <a:txBody>
                    <a:bodyPr/>
                    <a:lstStyle/>
                    <a:p>
                      <a:pPr algn="r"/>
                      <a:r>
                        <a:rPr sz="1013">
                          <a:solidFill>
                            <a:srgbClr val="142735"/>
                          </a:solidFill>
                          <a:latin typeface="Arial"/>
                          <a:ea typeface="Arial"/>
                          <a:cs typeface="Arial"/>
                        </a:rPr>
                        <a:t>0.526</a:t>
                      </a:r>
                    </a:p>
                  </a:txBody>
                  <a:tcPr anchor="ctr"/>
                </a:tc>
                <a:extLst>
                  <a:ext uri="{0D108BD9-81ED-4DB2-BD59-A6C34878D82A}">
                    <a16:rowId xmlns:a16="http://schemas.microsoft.com/office/drawing/2014/main" val="10003"/>
                  </a:ext>
                </a:extLst>
              </a:tr>
              <a:tr h="454025">
                <a:tc>
                  <a:txBody>
                    <a:bodyPr/>
                    <a:lstStyle/>
                    <a:p>
                      <a:pPr algn="l"/>
                      <a:r>
                        <a:rPr sz="1013">
                          <a:solidFill>
                            <a:srgbClr val="142735"/>
                          </a:solidFill>
                          <a:latin typeface="Arial"/>
                          <a:ea typeface="Arial"/>
                          <a:cs typeface="Arial"/>
                        </a:rPr>
                        <a:t>Severe stunting</a:t>
                      </a:r>
                    </a:p>
                  </a:txBody>
                  <a:tcPr anchor="ctr"/>
                </a:tc>
                <a:tc>
                  <a:txBody>
                    <a:bodyPr/>
                    <a:lstStyle/>
                    <a:p>
                      <a:pPr algn="l"/>
                      <a:r>
                        <a:rPr sz="1013">
                          <a:solidFill>
                            <a:srgbClr val="142735"/>
                          </a:solidFill>
                          <a:latin typeface="Arial"/>
                          <a:ea typeface="Arial"/>
                          <a:cs typeface="Arial"/>
                        </a:rPr>
                        <a:t>Ensemble</a:t>
                      </a:r>
                    </a:p>
                  </a:txBody>
                  <a:tcPr anchor="ctr"/>
                </a:tc>
                <a:tc>
                  <a:txBody>
                    <a:bodyPr/>
                    <a:lstStyle/>
                    <a:p>
                      <a:pPr algn="l"/>
                      <a:r>
                        <a:rPr sz="1013">
                          <a:solidFill>
                            <a:srgbClr val="142735"/>
                          </a:solidFill>
                          <a:latin typeface="Arial"/>
                          <a:ea typeface="Arial"/>
                          <a:cs typeface="Arial"/>
                        </a:rPr>
                        <a:t>0.700</a:t>
                      </a:r>
                    </a:p>
                  </a:txBody>
                  <a:tcPr anchor="ctr"/>
                </a:tc>
                <a:tc>
                  <a:txBody>
                    <a:bodyPr/>
                    <a:lstStyle/>
                    <a:p>
                      <a:pPr algn="r"/>
                      <a:r>
                        <a:rPr sz="1013">
                          <a:solidFill>
                            <a:srgbClr val="142735"/>
                          </a:solidFill>
                          <a:latin typeface="Arial"/>
                          <a:ea typeface="Arial"/>
                          <a:cs typeface="Arial"/>
                        </a:rPr>
                        <a:t>0.192</a:t>
                      </a:r>
                    </a:p>
                  </a:txBody>
                  <a:tcPr anchor="ctr"/>
                </a:tc>
                <a:extLst>
                  <a:ext uri="{0D108BD9-81ED-4DB2-BD59-A6C34878D82A}">
                    <a16:rowId xmlns:a16="http://schemas.microsoft.com/office/drawing/2014/main" val="10004"/>
                  </a:ext>
                </a:extLst>
              </a:tr>
              <a:tr h="454025">
                <a:tc>
                  <a:txBody>
                    <a:bodyPr/>
                    <a:lstStyle/>
                    <a:p>
                      <a:pPr algn="l"/>
                      <a:r>
                        <a:rPr sz="1013">
                          <a:solidFill>
                            <a:srgbClr val="142735"/>
                          </a:solidFill>
                          <a:latin typeface="Arial"/>
                          <a:ea typeface="Arial"/>
                          <a:cs typeface="Arial"/>
                        </a:rPr>
                        <a:t>Underweight</a:t>
                      </a:r>
                    </a:p>
                  </a:txBody>
                  <a:tcPr anchor="ctr"/>
                </a:tc>
                <a:tc>
                  <a:txBody>
                    <a:bodyPr/>
                    <a:lstStyle/>
                    <a:p>
                      <a:pPr algn="l"/>
                      <a:r>
                        <a:rPr sz="1013">
                          <a:solidFill>
                            <a:srgbClr val="142735"/>
                          </a:solidFill>
                          <a:latin typeface="Arial"/>
                          <a:ea typeface="Arial"/>
                          <a:cs typeface="Arial"/>
                        </a:rPr>
                        <a:t>TabM</a:t>
                      </a:r>
                    </a:p>
                  </a:txBody>
                  <a:tcPr anchor="ctr"/>
                </a:tc>
                <a:tc>
                  <a:txBody>
                    <a:bodyPr/>
                    <a:lstStyle/>
                    <a:p>
                      <a:pPr algn="l"/>
                      <a:r>
                        <a:rPr sz="1013">
                          <a:solidFill>
                            <a:srgbClr val="142735"/>
                          </a:solidFill>
                          <a:latin typeface="Arial"/>
                          <a:ea typeface="Arial"/>
                          <a:cs typeface="Arial"/>
                        </a:rPr>
                        <a:t>0.688</a:t>
                      </a:r>
                    </a:p>
                  </a:txBody>
                  <a:tcPr anchor="ctr"/>
                </a:tc>
                <a:tc>
                  <a:txBody>
                    <a:bodyPr/>
                    <a:lstStyle/>
                    <a:p>
                      <a:pPr algn="r"/>
                      <a:r>
                        <a:rPr sz="1013">
                          <a:solidFill>
                            <a:srgbClr val="142735"/>
                          </a:solidFill>
                          <a:latin typeface="Arial"/>
                          <a:ea typeface="Arial"/>
                          <a:cs typeface="Arial"/>
                        </a:rPr>
                        <a:t>0.415</a:t>
                      </a:r>
                    </a:p>
                  </a:txBody>
                  <a:tcPr anchor="ctr"/>
                </a:tc>
                <a:extLst>
                  <a:ext uri="{0D108BD9-81ED-4DB2-BD59-A6C34878D82A}">
                    <a16:rowId xmlns:a16="http://schemas.microsoft.com/office/drawing/2014/main" val="10005"/>
                  </a:ext>
                </a:extLst>
              </a:tr>
            </a:tbl>
          </a:graphicData>
        </a:graphic>
      </p:graphicFrame>
      <p:pic>
        <p:nvPicPr>
          <p:cNvPr id="19" name="Picture 18"/>
          <p:cNvPicPr>
            <a:picLocks noChangeAspect="1"/>
          </p:cNvPicPr>
          <p:nvPr/>
        </p:nvPicPr>
        <p:blipFill>
          <a:blip r:embed="rId3"/>
          <a:stretch/>
        </p:blipFill>
        <p:spPr>
          <a:xfrm>
            <a:off x="7821869" y="2076450"/>
            <a:ext cx="3234812" cy="2724150"/>
          </a:xfrm>
          <a:prstGeom prst="roundRect">
            <a:avLst>
              <a:gd name="adj" fmla="val 4196"/>
            </a:avLst>
          </a:prstGeom>
        </p:spPr>
      </p:pic>
      <p:sp>
        <p:nvSpPr>
          <p:cNvPr id="8" name="Rounded Rectangle 7">
            <a:extLst>
              <a:ext uri="{FF2B5EF4-FFF2-40B4-BE49-F238E27FC236}">
                <a16:creationId xmlns:a16="http://schemas.microsoft.com/office/drawing/2014/main" id="{6F8B190D-D85D-40C5-AB18-77155C62FDCB}"/>
              </a:ext>
            </a:extLst>
          </p:cNvPr>
          <p:cNvSpPr>
            <a:spLocks noGrp="1"/>
          </p:cNvSpPr>
          <p:nvPr/>
        </p:nvSpPr>
        <p:spPr>
          <a:xfrm>
            <a:off x="685800" y="5105400"/>
            <a:ext cx="10820400" cy="514350"/>
          </a:xfrm>
          <a:prstGeom prst="roundRect">
            <a:avLst>
              <a:gd name="adj" fmla="val 22222"/>
            </a:avLst>
          </a:prstGeom>
          <a:solidFill>
            <a:srgbClr val="FFFFFF"/>
          </a:solidFill>
          <a:ln w="9525">
            <a:solidFill>
              <a:srgbClr val="D9E2EC"/>
            </a:solidFill>
            <a:prstDash val="solid"/>
          </a:ln>
        </p:spPr>
      </p:sp>
      <p:sp>
        <p:nvSpPr>
          <p:cNvPr id="9" name="Rectangle 8">
            <a:extLst>
              <a:ext uri="{FF2B5EF4-FFF2-40B4-BE49-F238E27FC236}">
                <a16:creationId xmlns:a16="http://schemas.microsoft.com/office/drawing/2014/main" id="{2C298413-7913-4400-A89F-D4B07ACCCEA6}"/>
              </a:ext>
            </a:extLst>
          </p:cNvPr>
          <p:cNvSpPr>
            <a:spLocks noGrp="1"/>
          </p:cNvSpPr>
          <p:nvPr/>
        </p:nvSpPr>
        <p:spPr>
          <a:xfrm>
            <a:off x="895350" y="5248275"/>
            <a:ext cx="10382250" cy="228600"/>
          </a:xfrm>
          <a:prstGeom prst="rect">
            <a:avLst/>
          </a:prstGeom>
          <a:noFill/>
          <a:ln w="0">
            <a:noFill/>
          </a:ln>
        </p:spPr>
        <p:txBody>
          <a:bodyPr lIns="0" tIns="0" rIns="0" bIns="0" anchor="t">
            <a:normAutofit/>
          </a:bodyPr>
          <a:lstStyle/>
          <a:p>
            <a:pPr algn="l">
              <a:lnSpc>
                <a:spcPct val="108000"/>
              </a:lnSpc>
              <a:buNone/>
              <a:defRPr sz="1350" b="1" i="0">
                <a:solidFill>
                  <a:srgbClr val="0F766E"/>
                </a:solidFill>
                <a:latin typeface="Arial"/>
                <a:ea typeface="Arial"/>
                <a:cs typeface="Arial"/>
              </a:defRPr>
            </a:pPr>
            <a:r>
              <a:rPr sz="1350" b="1" i="0">
                <a:solidFill>
                  <a:srgbClr val="0F766E"/>
                </a:solidFill>
                <a:latin typeface="Arial"/>
                <a:ea typeface="Arial"/>
                <a:cs typeface="Arial"/>
              </a:rPr>
              <a:t>Read PR-AUC against prevalence for rare outcomes; ROC-AUC alone can look optimistic when negatives dominate.</a:t>
            </a:r>
          </a:p>
        </p:txBody>
      </p:sp>
      <p:sp>
        <p:nvSpPr>
          <p:cNvPr id="10" name="Rectangle 9">
            <a:extLst>
              <a:ext uri="{FF2B5EF4-FFF2-40B4-BE49-F238E27FC236}">
                <a16:creationId xmlns:a16="http://schemas.microsoft.com/office/drawing/2014/main" id="{C8F0CCB5-F384-49D3-89CC-7B67F62D383D}"/>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6:02</a:t>
            </a:r>
          </a:p>
        </p:txBody>
      </p:sp>
      <p:sp>
        <p:nvSpPr>
          <p:cNvPr id="11" name="Rectangle 10">
            <a:extLst>
              <a:ext uri="{FF2B5EF4-FFF2-40B4-BE49-F238E27FC236}">
                <a16:creationId xmlns:a16="http://schemas.microsoft.com/office/drawing/2014/main" id="{493A4641-1081-4AF7-901A-CD2AD30D2916}"/>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170-181</a:t>
            </a:r>
          </a:p>
        </p:txBody>
      </p:sp>
      <p:sp>
        <p:nvSpPr>
          <p:cNvPr id="12" name="Rectangle 11">
            <a:extLst>
              <a:ext uri="{FF2B5EF4-FFF2-40B4-BE49-F238E27FC236}">
                <a16:creationId xmlns:a16="http://schemas.microsoft.com/office/drawing/2014/main" id="{900B903C-4DF4-4A83-9DE2-E1F1916AB97A}"/>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31009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4651D3F-2CEE-4935-A52C-DF20AE2CF28C}"/>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EVALUATION DESIGN</a:t>
            </a:r>
          </a:p>
        </p:txBody>
      </p:sp>
      <p:sp>
        <p:nvSpPr>
          <p:cNvPr id="2" name="Rectangle 1">
            <a:extLst>
              <a:ext uri="{FF2B5EF4-FFF2-40B4-BE49-F238E27FC236}">
                <a16:creationId xmlns:a16="http://schemas.microsoft.com/office/drawing/2014/main" id="{F399A776-2336-4B18-8EB7-E01FA9C26027}"/>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Curves explain the result; the ensemble tests diversity</a:t>
            </a:r>
          </a:p>
        </p:txBody>
      </p:sp>
      <p:sp>
        <p:nvSpPr>
          <p:cNvPr id="3" name="Rectangle 2">
            <a:extLst>
              <a:ext uri="{FF2B5EF4-FFF2-40B4-BE49-F238E27FC236}">
                <a16:creationId xmlns:a16="http://schemas.microsoft.com/office/drawing/2014/main" id="{8389C4D7-F143-41C5-9A6E-4B9D14A6355D}"/>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11</a:t>
            </a:r>
          </a:p>
        </p:txBody>
      </p:sp>
      <p:sp>
        <p:nvSpPr>
          <p:cNvPr id="4" name="Straight Connector 3">
            <a:extLst>
              <a:ext uri="{FF2B5EF4-FFF2-40B4-BE49-F238E27FC236}">
                <a16:creationId xmlns:a16="http://schemas.microsoft.com/office/drawing/2014/main" id="{8FABD3FB-E209-4D68-8A46-74946031A05D}"/>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6" name="Picture 25"/>
          <p:cNvPicPr>
            <a:picLocks noChangeAspect="1"/>
          </p:cNvPicPr>
          <p:nvPr/>
        </p:nvPicPr>
        <p:blipFill>
          <a:blip r:embed="rId3"/>
          <a:stretch/>
        </p:blipFill>
        <p:spPr>
          <a:xfrm>
            <a:off x="685800" y="2210512"/>
            <a:ext cx="5334000" cy="1865476"/>
          </a:xfrm>
          <a:prstGeom prst="roundRect">
            <a:avLst>
              <a:gd name="adj" fmla="val 3636"/>
            </a:avLst>
          </a:prstGeom>
        </p:spPr>
      </p:pic>
      <p:sp>
        <p:nvSpPr>
          <p:cNvPr id="6" name="Rounded Rectangle 5">
            <a:extLst>
              <a:ext uri="{FF2B5EF4-FFF2-40B4-BE49-F238E27FC236}">
                <a16:creationId xmlns:a16="http://schemas.microsoft.com/office/drawing/2014/main" id="{7696A8D2-6A58-40C6-8455-B1F4929E35A2}"/>
              </a:ext>
            </a:extLst>
          </p:cNvPr>
          <p:cNvSpPr>
            <a:spLocks noGrp="1"/>
          </p:cNvSpPr>
          <p:nvPr/>
        </p:nvSpPr>
        <p:spPr>
          <a:xfrm>
            <a:off x="6419850" y="1571625"/>
            <a:ext cx="5086350" cy="3143250"/>
          </a:xfrm>
          <a:prstGeom prst="roundRect">
            <a:avLst>
              <a:gd name="adj" fmla="val 4848"/>
            </a:avLst>
          </a:prstGeom>
          <a:solidFill>
            <a:srgbClr val="E5EEF6"/>
          </a:solidFill>
          <a:ln w="0">
            <a:noFill/>
            <a:prstDash val="solid"/>
          </a:ln>
        </p:spPr>
      </p:sp>
      <p:sp>
        <p:nvSpPr>
          <p:cNvPr id="7" name="Rectangle 6">
            <a:extLst>
              <a:ext uri="{FF2B5EF4-FFF2-40B4-BE49-F238E27FC236}">
                <a16:creationId xmlns:a16="http://schemas.microsoft.com/office/drawing/2014/main" id="{321EE901-4B94-4547-AF32-2193BF2C5922}"/>
              </a:ext>
            </a:extLst>
          </p:cNvPr>
          <p:cNvSpPr>
            <a:spLocks noGrp="1"/>
          </p:cNvSpPr>
          <p:nvPr/>
        </p:nvSpPr>
        <p:spPr>
          <a:xfrm>
            <a:off x="6724650" y="1876425"/>
            <a:ext cx="2857500" cy="266700"/>
          </a:xfrm>
          <a:prstGeom prst="rect">
            <a:avLst/>
          </a:prstGeom>
          <a:noFill/>
          <a:ln w="0">
            <a:noFill/>
          </a:ln>
        </p:spPr>
        <p:txBody>
          <a:bodyPr lIns="0" tIns="0" rIns="0" bIns="0" anchor="t">
            <a:normAutofit/>
          </a:bodyPr>
          <a:lstStyle/>
          <a:p>
            <a:pPr algn="l">
              <a:lnSpc>
                <a:spcPct val="108000"/>
              </a:lnSpc>
              <a:buNone/>
              <a:defRPr sz="1575" b="1" i="0">
                <a:solidFill>
                  <a:srgbClr val="102A43"/>
                </a:solidFill>
                <a:latin typeface="Arial"/>
                <a:ea typeface="Arial"/>
                <a:cs typeface="Arial"/>
              </a:defRPr>
            </a:pPr>
            <a:r>
              <a:rPr sz="1575" b="1" i="0">
                <a:solidFill>
                  <a:srgbClr val="102A43"/>
                </a:solidFill>
                <a:latin typeface="Arial"/>
                <a:ea typeface="Arial"/>
                <a:cs typeface="Arial"/>
              </a:rPr>
              <a:t>Post-hoc ensemble</a:t>
            </a:r>
          </a:p>
        </p:txBody>
      </p:sp>
      <p:sp>
        <p:nvSpPr>
          <p:cNvPr id="8" name="Rectangle 7">
            <a:extLst>
              <a:ext uri="{FF2B5EF4-FFF2-40B4-BE49-F238E27FC236}">
                <a16:creationId xmlns:a16="http://schemas.microsoft.com/office/drawing/2014/main" id="{AA9D9C83-BA91-485A-9C33-97CF407D22C3}"/>
              </a:ext>
            </a:extLst>
          </p:cNvPr>
          <p:cNvSpPr>
            <a:spLocks noGrp="1"/>
          </p:cNvSpPr>
          <p:nvPr/>
        </p:nvSpPr>
        <p:spPr>
          <a:xfrm>
            <a:off x="6724650" y="2324100"/>
            <a:ext cx="3905250" cy="247650"/>
          </a:xfrm>
          <a:prstGeom prst="rect">
            <a:avLst/>
          </a:prstGeom>
          <a:noFill/>
          <a:ln w="0">
            <a:noFill/>
          </a:ln>
        </p:spPr>
        <p:txBody>
          <a:bodyPr lIns="0" tIns="0" rIns="0" bIns="0" anchor="t">
            <a:normAutofit/>
          </a:bodyPr>
          <a:lstStyle/>
          <a:p>
            <a:pPr algn="l">
              <a:lnSpc>
                <a:spcPct val="108000"/>
              </a:lnSpc>
              <a:buNone/>
              <a:defRPr sz="1350" b="1" i="0">
                <a:solidFill>
                  <a:srgbClr val="0F766E"/>
                </a:solidFill>
                <a:latin typeface="Arial"/>
                <a:ea typeface="Arial"/>
                <a:cs typeface="Arial"/>
              </a:defRPr>
            </a:pPr>
            <a:r>
              <a:rPr sz="1350" b="1" i="0">
                <a:solidFill>
                  <a:srgbClr val="0F766E"/>
                </a:solidFill>
                <a:latin typeface="Arial"/>
                <a:ea typeface="Arial"/>
                <a:cs typeface="Arial"/>
              </a:rPr>
              <a:t>Greedy forward selection with replacement</a:t>
            </a:r>
          </a:p>
        </p:txBody>
      </p:sp>
      <p:sp>
        <p:nvSpPr>
          <p:cNvPr id="9" name="Rounded Rectangle 8">
            <a:extLst>
              <a:ext uri="{FF2B5EF4-FFF2-40B4-BE49-F238E27FC236}">
                <a16:creationId xmlns:a16="http://schemas.microsoft.com/office/drawing/2014/main" id="{B98F8A13-7712-4838-8BAD-7FA374D04558}"/>
              </a:ext>
            </a:extLst>
          </p:cNvPr>
          <p:cNvSpPr>
            <a:spLocks noGrp="1"/>
          </p:cNvSpPr>
          <p:nvPr/>
        </p:nvSpPr>
        <p:spPr>
          <a:xfrm>
            <a:off x="6724650" y="2847975"/>
            <a:ext cx="76200" cy="76200"/>
          </a:xfrm>
          <a:prstGeom prst="roundRect">
            <a:avLst>
              <a:gd name="adj" fmla="val 50000"/>
            </a:avLst>
          </a:prstGeom>
          <a:solidFill>
            <a:srgbClr val="0F766E"/>
          </a:solidFill>
          <a:ln w="0">
            <a:noFill/>
            <a:prstDash val="solid"/>
          </a:ln>
        </p:spPr>
      </p:sp>
      <p:sp>
        <p:nvSpPr>
          <p:cNvPr id="10" name="Rectangle 9">
            <a:extLst>
              <a:ext uri="{FF2B5EF4-FFF2-40B4-BE49-F238E27FC236}">
                <a16:creationId xmlns:a16="http://schemas.microsoft.com/office/drawing/2014/main" id="{1A3D053F-7582-4031-A896-28025549AC58}"/>
              </a:ext>
            </a:extLst>
          </p:cNvPr>
          <p:cNvSpPr>
            <a:spLocks noGrp="1"/>
          </p:cNvSpPr>
          <p:nvPr/>
        </p:nvSpPr>
        <p:spPr>
          <a:xfrm>
            <a:off x="6953250" y="2781300"/>
            <a:ext cx="4057650" cy="371475"/>
          </a:xfrm>
          <a:prstGeom prst="rect">
            <a:avLst/>
          </a:prstGeom>
          <a:noFill/>
          <a:ln w="0">
            <a:noFill/>
          </a:ln>
        </p:spPr>
        <p:txBody>
          <a:bodyPr lIns="0" tIns="0" rIns="0" bIns="0" anchor="t">
            <a:normAutofit fontScale="95578" lnSpcReduction="10000"/>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Weights are selected on a nested validation split, not on the test set.</a:t>
            </a:r>
          </a:p>
        </p:txBody>
      </p:sp>
      <p:sp>
        <p:nvSpPr>
          <p:cNvPr id="11" name="Rounded Rectangle 10">
            <a:extLst>
              <a:ext uri="{FF2B5EF4-FFF2-40B4-BE49-F238E27FC236}">
                <a16:creationId xmlns:a16="http://schemas.microsoft.com/office/drawing/2014/main" id="{DBB31717-65A9-40E8-8656-5BB97332F129}"/>
              </a:ext>
            </a:extLst>
          </p:cNvPr>
          <p:cNvSpPr>
            <a:spLocks noGrp="1"/>
          </p:cNvSpPr>
          <p:nvPr/>
        </p:nvSpPr>
        <p:spPr>
          <a:xfrm>
            <a:off x="6724650" y="3248025"/>
            <a:ext cx="76200" cy="76200"/>
          </a:xfrm>
          <a:prstGeom prst="roundRect">
            <a:avLst>
              <a:gd name="adj" fmla="val 50000"/>
            </a:avLst>
          </a:prstGeom>
          <a:solidFill>
            <a:srgbClr val="0F766E"/>
          </a:solidFill>
          <a:ln w="0">
            <a:noFill/>
            <a:prstDash val="solid"/>
          </a:ln>
        </p:spPr>
      </p:sp>
      <p:sp>
        <p:nvSpPr>
          <p:cNvPr id="12" name="Rectangle 11">
            <a:extLst>
              <a:ext uri="{FF2B5EF4-FFF2-40B4-BE49-F238E27FC236}">
                <a16:creationId xmlns:a16="http://schemas.microsoft.com/office/drawing/2014/main" id="{CD203C83-15EB-4B30-B872-0B8220EE713C}"/>
              </a:ext>
            </a:extLst>
          </p:cNvPr>
          <p:cNvSpPr>
            <a:spLocks noGrp="1"/>
          </p:cNvSpPr>
          <p:nvPr/>
        </p:nvSpPr>
        <p:spPr>
          <a:xfrm>
            <a:off x="6953250" y="3181350"/>
            <a:ext cx="4057650" cy="371475"/>
          </a:xfrm>
          <a:prstGeom prst="rect">
            <a:avLst/>
          </a:prstGeom>
          <a:noFill/>
          <a:ln w="0">
            <a:noFill/>
          </a:ln>
        </p:spPr>
        <p:txBody>
          <a:bodyPr lIns="0" tIns="0" rIns="0" bIns="0" anchor="t">
            <a:normAutofit/>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Every blend uses three to five different model families.</a:t>
            </a:r>
          </a:p>
        </p:txBody>
      </p:sp>
      <p:sp>
        <p:nvSpPr>
          <p:cNvPr id="13" name="Rounded Rectangle 12">
            <a:extLst>
              <a:ext uri="{FF2B5EF4-FFF2-40B4-BE49-F238E27FC236}">
                <a16:creationId xmlns:a16="http://schemas.microsoft.com/office/drawing/2014/main" id="{CA340D8E-2D4F-4C2F-BDA3-84AFFB2C76B3}"/>
              </a:ext>
            </a:extLst>
          </p:cNvPr>
          <p:cNvSpPr>
            <a:spLocks noGrp="1"/>
          </p:cNvSpPr>
          <p:nvPr/>
        </p:nvSpPr>
        <p:spPr>
          <a:xfrm>
            <a:off x="6724650" y="3648075"/>
            <a:ext cx="76200" cy="76200"/>
          </a:xfrm>
          <a:prstGeom prst="roundRect">
            <a:avLst>
              <a:gd name="adj" fmla="val 50000"/>
            </a:avLst>
          </a:prstGeom>
          <a:solidFill>
            <a:srgbClr val="0F766E"/>
          </a:solidFill>
          <a:ln w="0">
            <a:noFill/>
            <a:prstDash val="solid"/>
          </a:ln>
        </p:spPr>
      </p:sp>
      <p:sp>
        <p:nvSpPr>
          <p:cNvPr id="14" name="Rectangle 13">
            <a:extLst>
              <a:ext uri="{FF2B5EF4-FFF2-40B4-BE49-F238E27FC236}">
                <a16:creationId xmlns:a16="http://schemas.microsoft.com/office/drawing/2014/main" id="{E32F06D9-699C-41C4-BDB1-BD6380557E33}"/>
              </a:ext>
            </a:extLst>
          </p:cNvPr>
          <p:cNvSpPr>
            <a:spLocks noGrp="1"/>
          </p:cNvSpPr>
          <p:nvPr/>
        </p:nvSpPr>
        <p:spPr>
          <a:xfrm>
            <a:off x="6953250" y="3581400"/>
            <a:ext cx="4057650" cy="371475"/>
          </a:xfrm>
          <a:prstGeom prst="rect">
            <a:avLst/>
          </a:prstGeom>
          <a:noFill/>
          <a:ln w="0">
            <a:noFill/>
          </a:ln>
        </p:spPr>
        <p:txBody>
          <a:bodyPr lIns="0" tIns="0" rIns="0" bIns="0" anchor="t">
            <a:normAutofit fontScale="95578" lnSpcReduction="10000"/>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Gains are small: roughly +0.002 on three targets and slightly negative on two.</a:t>
            </a:r>
          </a:p>
        </p:txBody>
      </p:sp>
      <p:sp>
        <p:nvSpPr>
          <p:cNvPr id="15" name="Rounded Rectangle 14">
            <a:extLst>
              <a:ext uri="{FF2B5EF4-FFF2-40B4-BE49-F238E27FC236}">
                <a16:creationId xmlns:a16="http://schemas.microsoft.com/office/drawing/2014/main" id="{F4B11386-107E-44BF-A9B5-8B16D98A4B27}"/>
              </a:ext>
            </a:extLst>
          </p:cNvPr>
          <p:cNvSpPr>
            <a:spLocks noGrp="1"/>
          </p:cNvSpPr>
          <p:nvPr/>
        </p:nvSpPr>
        <p:spPr>
          <a:xfrm>
            <a:off x="6724650" y="4048125"/>
            <a:ext cx="76200" cy="76200"/>
          </a:xfrm>
          <a:prstGeom prst="roundRect">
            <a:avLst>
              <a:gd name="adj" fmla="val 50000"/>
            </a:avLst>
          </a:prstGeom>
          <a:solidFill>
            <a:srgbClr val="0F766E"/>
          </a:solidFill>
          <a:ln w="0">
            <a:noFill/>
            <a:prstDash val="solid"/>
          </a:ln>
        </p:spPr>
      </p:sp>
      <p:sp>
        <p:nvSpPr>
          <p:cNvPr id="16" name="Rectangle 15">
            <a:extLst>
              <a:ext uri="{FF2B5EF4-FFF2-40B4-BE49-F238E27FC236}">
                <a16:creationId xmlns:a16="http://schemas.microsoft.com/office/drawing/2014/main" id="{41CA1481-45E2-43B2-B337-58D38ABD3AFF}"/>
              </a:ext>
            </a:extLst>
          </p:cNvPr>
          <p:cNvSpPr>
            <a:spLocks noGrp="1"/>
          </p:cNvSpPr>
          <p:nvPr/>
        </p:nvSpPr>
        <p:spPr>
          <a:xfrm>
            <a:off x="6953250" y="3981450"/>
            <a:ext cx="4057650" cy="371475"/>
          </a:xfrm>
          <a:prstGeom prst="rect">
            <a:avLst/>
          </a:prstGeom>
          <a:noFill/>
          <a:ln w="0">
            <a:noFill/>
          </a:ln>
        </p:spPr>
        <p:txBody>
          <a:bodyPr lIns="0" tIns="0" rIns="0" bIns="0" anchor="t">
            <a:normAutofit fontScale="95578" lnSpcReduction="10000"/>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The benefit is stability across refits, not a dramatic accuracy jump.</a:t>
            </a:r>
          </a:p>
        </p:txBody>
      </p:sp>
      <p:sp>
        <p:nvSpPr>
          <p:cNvPr id="17" name="Rounded Rectangle 16">
            <a:extLst>
              <a:ext uri="{FF2B5EF4-FFF2-40B4-BE49-F238E27FC236}">
                <a16:creationId xmlns:a16="http://schemas.microsoft.com/office/drawing/2014/main" id="{161237D7-9A4D-4521-9EE5-E24C2135BFFD}"/>
              </a:ext>
            </a:extLst>
          </p:cNvPr>
          <p:cNvSpPr>
            <a:spLocks noGrp="1"/>
          </p:cNvSpPr>
          <p:nvPr/>
        </p:nvSpPr>
        <p:spPr>
          <a:xfrm>
            <a:off x="685800" y="4972050"/>
            <a:ext cx="10820400" cy="666750"/>
          </a:xfrm>
          <a:prstGeom prst="roundRect">
            <a:avLst>
              <a:gd name="adj" fmla="val 17143"/>
            </a:avLst>
          </a:prstGeom>
          <a:solidFill>
            <a:srgbClr val="F7FAFC"/>
          </a:solidFill>
          <a:ln w="9525">
            <a:solidFill>
              <a:srgbClr val="D9E2EC"/>
            </a:solidFill>
            <a:prstDash val="solid"/>
          </a:ln>
        </p:spPr>
      </p:sp>
      <p:sp>
        <p:nvSpPr>
          <p:cNvPr id="18" name="Rectangle 17">
            <a:extLst>
              <a:ext uri="{FF2B5EF4-FFF2-40B4-BE49-F238E27FC236}">
                <a16:creationId xmlns:a16="http://schemas.microsoft.com/office/drawing/2014/main" id="{DD40672D-8848-4E54-88B9-BF292FEE7188}"/>
              </a:ext>
            </a:extLst>
          </p:cNvPr>
          <p:cNvSpPr>
            <a:spLocks noGrp="1"/>
          </p:cNvSpPr>
          <p:nvPr/>
        </p:nvSpPr>
        <p:spPr>
          <a:xfrm>
            <a:off x="876300" y="5133975"/>
            <a:ext cx="10382250" cy="342900"/>
          </a:xfrm>
          <a:prstGeom prst="rect">
            <a:avLst/>
          </a:prstGeom>
          <a:noFill/>
          <a:ln w="0">
            <a:noFill/>
          </a:ln>
        </p:spPr>
        <p:txBody>
          <a:bodyPr lIns="0" tIns="0" rIns="0" bIns="0" anchor="t">
            <a:normAutofit fontScale="97067" lnSpcReduction="10000"/>
          </a:bodyPr>
          <a:lstStyle/>
          <a:p>
            <a:pPr algn="ctr">
              <a:lnSpc>
                <a:spcPct val="108000"/>
              </a:lnSpc>
              <a:buNone/>
              <a:defRPr sz="1163" b="0" i="0">
                <a:solidFill>
                  <a:srgbClr val="102A43"/>
                </a:solidFill>
                <a:latin typeface="Arial"/>
                <a:ea typeface="Arial"/>
                <a:cs typeface="Arial"/>
              </a:defRPr>
            </a:pPr>
            <a:r>
              <a:rPr sz="1163" b="0" i="0">
                <a:solidFill>
                  <a:srgbClr val="102A43"/>
                </a:solidFill>
                <a:latin typeface="Arial"/>
                <a:ea typeface="Arial"/>
                <a:cs typeface="Arial"/>
              </a:rPr>
              <a:t>ROC-AUC = ranking | PR-AUC = rare-event ranking above prevalence | Recall = missed cases | Precision = false-alarm burden | Brier/calibration = probability quality | Net benefit = usefulness at a threshold</a:t>
            </a:r>
          </a:p>
        </p:txBody>
      </p:sp>
      <p:sp>
        <p:nvSpPr>
          <p:cNvPr id="19" name="Rectangle 18">
            <a:extLst>
              <a:ext uri="{FF2B5EF4-FFF2-40B4-BE49-F238E27FC236}">
                <a16:creationId xmlns:a16="http://schemas.microsoft.com/office/drawing/2014/main" id="{3A03E26B-7B4F-45B2-96FF-BCAC845BEF19}"/>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Farhan  |  6:51</a:t>
            </a:r>
          </a:p>
        </p:txBody>
      </p:sp>
      <p:sp>
        <p:nvSpPr>
          <p:cNvPr id="20" name="Rectangle 19">
            <a:extLst>
              <a:ext uri="{FF2B5EF4-FFF2-40B4-BE49-F238E27FC236}">
                <a16:creationId xmlns:a16="http://schemas.microsoft.com/office/drawing/2014/main" id="{CF47FB99-DD67-4CF3-A963-58DD32448216}"/>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167-174, 182-184</a:t>
            </a:r>
          </a:p>
        </p:txBody>
      </p:sp>
      <p:sp>
        <p:nvSpPr>
          <p:cNvPr id="21" name="Rectangle 20">
            <a:extLst>
              <a:ext uri="{FF2B5EF4-FFF2-40B4-BE49-F238E27FC236}">
                <a16:creationId xmlns:a16="http://schemas.microsoft.com/office/drawing/2014/main" id="{1A2C2190-82F7-4A06-ACD9-C9E78B1E010E}"/>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933574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DDA8BD-AFF3-4977-9AEF-9194C1CB9085}"/>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OPERATIONAL EVALUATION</a:t>
            </a:r>
          </a:p>
        </p:txBody>
      </p:sp>
      <p:sp>
        <p:nvSpPr>
          <p:cNvPr id="2" name="Rectangle 1">
            <a:extLst>
              <a:ext uri="{FF2B5EF4-FFF2-40B4-BE49-F238E27FC236}">
                <a16:creationId xmlns:a16="http://schemas.microsoft.com/office/drawing/2014/main" id="{55E917A3-67AE-44E7-90E8-301C40A6127E}"/>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Thresholds turn a probability ranking into a referral rule</a:t>
            </a:r>
          </a:p>
        </p:txBody>
      </p:sp>
      <p:sp>
        <p:nvSpPr>
          <p:cNvPr id="3" name="Rectangle 2">
            <a:extLst>
              <a:ext uri="{FF2B5EF4-FFF2-40B4-BE49-F238E27FC236}">
                <a16:creationId xmlns:a16="http://schemas.microsoft.com/office/drawing/2014/main" id="{E72CEC92-A4C2-4945-B1C0-C263CC905077}"/>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12</a:t>
            </a:r>
          </a:p>
        </p:txBody>
      </p:sp>
      <p:sp>
        <p:nvSpPr>
          <p:cNvPr id="4" name="Straight Connector 3">
            <a:extLst>
              <a:ext uri="{FF2B5EF4-FFF2-40B4-BE49-F238E27FC236}">
                <a16:creationId xmlns:a16="http://schemas.microsoft.com/office/drawing/2014/main" id="{221E5245-13B3-49D4-A7D0-D9D424B36EFC}"/>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0" name="Picture 19"/>
          <p:cNvPicPr>
            <a:picLocks noChangeAspect="1"/>
          </p:cNvPicPr>
          <p:nvPr/>
        </p:nvPicPr>
        <p:blipFill>
          <a:blip r:embed="rId3"/>
          <a:stretch/>
        </p:blipFill>
        <p:spPr>
          <a:xfrm>
            <a:off x="685800" y="1872258"/>
            <a:ext cx="5619750" cy="2313383"/>
          </a:xfrm>
          <a:prstGeom prst="roundRect">
            <a:avLst>
              <a:gd name="adj" fmla="val 4000"/>
            </a:avLst>
          </a:prstGeom>
        </p:spPr>
      </p:pic>
      <p:graphicFrame>
        <p:nvGraphicFramePr>
          <p:cNvPr id="21" name="Table 20"/>
          <p:cNvGraphicFramePr/>
          <p:nvPr/>
        </p:nvGraphicFramePr>
        <p:xfrm>
          <a:off x="6705600" y="1600200"/>
          <a:ext cx="4800600" cy="2724150"/>
        </p:xfrm>
        <a:graphic>
          <a:graphicData uri="http://schemas.openxmlformats.org/drawingml/2006/table">
            <a:tbl>
              <a:tblPr firstRow="1" bandRow="1"/>
              <a:tblGrid>
                <a:gridCol w="1809750">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1323975">
                  <a:extLst>
                    <a:ext uri="{9D8B030D-6E8A-4147-A177-3AD203B41FA5}">
                      <a16:colId xmlns:a16="http://schemas.microsoft.com/office/drawing/2014/main" val="20003"/>
                    </a:ext>
                  </a:extLst>
                </a:gridCol>
              </a:tblGrid>
              <a:tr h="454025">
                <a:tc>
                  <a:txBody>
                    <a:bodyPr/>
                    <a:lstStyle/>
                    <a:p>
                      <a:pPr algn="l"/>
                      <a:r>
                        <a:rPr sz="1050" b="1">
                          <a:solidFill>
                            <a:srgbClr val="FFFFFF"/>
                          </a:solidFill>
                          <a:latin typeface="Arial"/>
                          <a:ea typeface="Arial"/>
                          <a:cs typeface="Arial"/>
                        </a:rPr>
                        <a:t>Outcome</a:t>
                      </a:r>
                    </a:p>
                  </a:txBody>
                  <a:tcPr anchor="ctr">
                    <a:solidFill>
                      <a:srgbClr val="102A43"/>
                    </a:solidFill>
                  </a:tcPr>
                </a:tc>
                <a:tc>
                  <a:txBody>
                    <a:bodyPr/>
                    <a:lstStyle/>
                    <a:p>
                      <a:pPr algn="l"/>
                      <a:r>
                        <a:rPr sz="1050" b="1">
                          <a:solidFill>
                            <a:srgbClr val="FFFFFF"/>
                          </a:solidFill>
                          <a:latin typeface="Arial"/>
                          <a:ea typeface="Arial"/>
                          <a:cs typeface="Arial"/>
                        </a:rPr>
                        <a:t>Cost</a:t>
                      </a:r>
                    </a:p>
                  </a:txBody>
                  <a:tcPr anchor="ctr">
                    <a:solidFill>
                      <a:srgbClr val="102A43"/>
                    </a:solidFill>
                  </a:tcPr>
                </a:tc>
                <a:tc>
                  <a:txBody>
                    <a:bodyPr/>
                    <a:lstStyle/>
                    <a:p>
                      <a:pPr algn="l"/>
                      <a:r>
                        <a:rPr sz="1050" b="1">
                          <a:solidFill>
                            <a:srgbClr val="FFFFFF"/>
                          </a:solidFill>
                          <a:latin typeface="Arial"/>
                          <a:ea typeface="Arial"/>
                          <a:cs typeface="Arial"/>
                        </a:rPr>
                        <a:t>Cut-off</a:t>
                      </a:r>
                    </a:p>
                  </a:txBody>
                  <a:tcPr anchor="ctr">
                    <a:solidFill>
                      <a:srgbClr val="102A43"/>
                    </a:solidFill>
                  </a:tcPr>
                </a:tc>
                <a:tc>
                  <a:txBody>
                    <a:bodyPr/>
                    <a:lstStyle/>
                    <a:p>
                      <a:pPr algn="r"/>
                      <a:r>
                        <a:rPr sz="1050" b="1">
                          <a:solidFill>
                            <a:srgbClr val="FFFFFF"/>
                          </a:solidFill>
                          <a:latin typeface="Arial"/>
                          <a:ea typeface="Arial"/>
                          <a:cs typeface="Arial"/>
                        </a:rPr>
                        <a:t>Flag rate</a:t>
                      </a:r>
                    </a:p>
                  </a:txBody>
                  <a:tcPr anchor="ctr">
                    <a:solidFill>
                      <a:srgbClr val="102A43"/>
                    </a:solidFill>
                  </a:tcPr>
                </a:tc>
                <a:extLst>
                  <a:ext uri="{0D108BD9-81ED-4DB2-BD59-A6C34878D82A}">
                    <a16:rowId xmlns:a16="http://schemas.microsoft.com/office/drawing/2014/main" val="10000"/>
                  </a:ext>
                </a:extLst>
              </a:tr>
              <a:tr h="454025">
                <a:tc>
                  <a:txBody>
                    <a:bodyPr/>
                    <a:lstStyle/>
                    <a:p>
                      <a:pPr algn="l"/>
                      <a:r>
                        <a:rPr sz="1013">
                          <a:solidFill>
                            <a:srgbClr val="142735"/>
                          </a:solidFill>
                          <a:latin typeface="Arial"/>
                          <a:ea typeface="Arial"/>
                          <a:cs typeface="Arial"/>
                        </a:rPr>
                        <a:t>Facility delivery</a:t>
                      </a:r>
                    </a:p>
                  </a:txBody>
                  <a:tcPr anchor="ctr"/>
                </a:tc>
                <a:tc>
                  <a:txBody>
                    <a:bodyPr/>
                    <a:lstStyle/>
                    <a:p>
                      <a:pPr algn="l"/>
                      <a:r>
                        <a:rPr sz="1013">
                          <a:solidFill>
                            <a:srgbClr val="142735"/>
                          </a:solidFill>
                          <a:latin typeface="Arial"/>
                          <a:ea typeface="Arial"/>
                          <a:cs typeface="Arial"/>
                        </a:rPr>
                        <a:t>1x</a:t>
                      </a:r>
                    </a:p>
                  </a:txBody>
                  <a:tcPr anchor="ctr"/>
                </a:tc>
                <a:tc>
                  <a:txBody>
                    <a:bodyPr/>
                    <a:lstStyle/>
                    <a:p>
                      <a:pPr algn="l"/>
                      <a:r>
                        <a:rPr sz="1013">
                          <a:solidFill>
                            <a:srgbClr val="142735"/>
                          </a:solidFill>
                          <a:latin typeface="Arial"/>
                          <a:ea typeface="Arial"/>
                          <a:cs typeface="Arial"/>
                        </a:rPr>
                        <a:t>0.794</a:t>
                      </a:r>
                    </a:p>
                  </a:txBody>
                  <a:tcPr anchor="ctr"/>
                </a:tc>
                <a:tc>
                  <a:txBody>
                    <a:bodyPr/>
                    <a:lstStyle/>
                    <a:p>
                      <a:pPr algn="r"/>
                      <a:r>
                        <a:rPr sz="1013">
                          <a:solidFill>
                            <a:srgbClr val="142735"/>
                          </a:solidFill>
                          <a:latin typeface="Arial"/>
                          <a:ea typeface="Arial"/>
                          <a:cs typeface="Arial"/>
                        </a:rPr>
                        <a:t>29.8%</a:t>
                      </a:r>
                    </a:p>
                  </a:txBody>
                  <a:tcPr anchor="ctr"/>
                </a:tc>
                <a:extLst>
                  <a:ext uri="{0D108BD9-81ED-4DB2-BD59-A6C34878D82A}">
                    <a16:rowId xmlns:a16="http://schemas.microsoft.com/office/drawing/2014/main" val="10001"/>
                  </a:ext>
                </a:extLst>
              </a:tr>
              <a:tr h="454025">
                <a:tc>
                  <a:txBody>
                    <a:bodyPr/>
                    <a:lstStyle/>
                    <a:p>
                      <a:pPr algn="l"/>
                      <a:r>
                        <a:rPr sz="1013">
                          <a:solidFill>
                            <a:srgbClr val="142735"/>
                          </a:solidFill>
                          <a:latin typeface="Arial"/>
                          <a:ea typeface="Arial"/>
                          <a:cs typeface="Arial"/>
                        </a:rPr>
                        <a:t>Neonatal death</a:t>
                      </a:r>
                    </a:p>
                  </a:txBody>
                  <a:tcPr anchor="ctr"/>
                </a:tc>
                <a:tc>
                  <a:txBody>
                    <a:bodyPr/>
                    <a:lstStyle/>
                    <a:p>
                      <a:pPr algn="l"/>
                      <a:r>
                        <a:rPr sz="1013">
                          <a:solidFill>
                            <a:srgbClr val="142735"/>
                          </a:solidFill>
                          <a:latin typeface="Arial"/>
                          <a:ea typeface="Arial"/>
                          <a:cs typeface="Arial"/>
                        </a:rPr>
                        <a:t>10x</a:t>
                      </a:r>
                    </a:p>
                  </a:txBody>
                  <a:tcPr anchor="ctr"/>
                </a:tc>
                <a:tc>
                  <a:txBody>
                    <a:bodyPr/>
                    <a:lstStyle/>
                    <a:p>
                      <a:pPr algn="l"/>
                      <a:r>
                        <a:rPr sz="1013">
                          <a:solidFill>
                            <a:srgbClr val="142735"/>
                          </a:solidFill>
                          <a:latin typeface="Arial"/>
                          <a:ea typeface="Arial"/>
                          <a:cs typeface="Arial"/>
                        </a:rPr>
                        <a:t>0.419</a:t>
                      </a:r>
                    </a:p>
                  </a:txBody>
                  <a:tcPr anchor="ctr"/>
                </a:tc>
                <a:tc>
                  <a:txBody>
                    <a:bodyPr/>
                    <a:lstStyle/>
                    <a:p>
                      <a:pPr algn="r"/>
                      <a:r>
                        <a:rPr sz="1013">
                          <a:solidFill>
                            <a:srgbClr val="142735"/>
                          </a:solidFill>
                          <a:latin typeface="Arial"/>
                          <a:ea typeface="Arial"/>
                          <a:cs typeface="Arial"/>
                        </a:rPr>
                        <a:t>7.6%</a:t>
                      </a:r>
                    </a:p>
                  </a:txBody>
                  <a:tcPr anchor="ctr"/>
                </a:tc>
                <a:extLst>
                  <a:ext uri="{0D108BD9-81ED-4DB2-BD59-A6C34878D82A}">
                    <a16:rowId xmlns:a16="http://schemas.microsoft.com/office/drawing/2014/main" val="10002"/>
                  </a:ext>
                </a:extLst>
              </a:tr>
              <a:tr h="454025">
                <a:tc>
                  <a:txBody>
                    <a:bodyPr/>
                    <a:lstStyle/>
                    <a:p>
                      <a:pPr algn="l"/>
                      <a:r>
                        <a:rPr sz="1013">
                          <a:solidFill>
                            <a:srgbClr val="142735"/>
                          </a:solidFill>
                          <a:latin typeface="Arial"/>
                          <a:ea typeface="Arial"/>
                          <a:cs typeface="Arial"/>
                        </a:rPr>
                        <a:t>Stunted</a:t>
                      </a:r>
                    </a:p>
                  </a:txBody>
                  <a:tcPr anchor="ctr"/>
                </a:tc>
                <a:tc>
                  <a:txBody>
                    <a:bodyPr/>
                    <a:lstStyle/>
                    <a:p>
                      <a:pPr algn="l"/>
                      <a:r>
                        <a:rPr sz="1013">
                          <a:solidFill>
                            <a:srgbClr val="142735"/>
                          </a:solidFill>
                          <a:latin typeface="Arial"/>
                          <a:ea typeface="Arial"/>
                          <a:cs typeface="Arial"/>
                        </a:rPr>
                        <a:t>5x</a:t>
                      </a:r>
                    </a:p>
                  </a:txBody>
                  <a:tcPr anchor="ctr"/>
                </a:tc>
                <a:tc>
                  <a:txBody>
                    <a:bodyPr/>
                    <a:lstStyle/>
                    <a:p>
                      <a:pPr algn="l"/>
                      <a:r>
                        <a:rPr sz="1013">
                          <a:solidFill>
                            <a:srgbClr val="142735"/>
                          </a:solidFill>
                          <a:latin typeface="Arial"/>
                          <a:ea typeface="Arial"/>
                          <a:cs typeface="Arial"/>
                        </a:rPr>
                        <a:t>0.357</a:t>
                      </a:r>
                    </a:p>
                  </a:txBody>
                  <a:tcPr anchor="ctr"/>
                </a:tc>
                <a:tc>
                  <a:txBody>
                    <a:bodyPr/>
                    <a:lstStyle/>
                    <a:p>
                      <a:pPr algn="r"/>
                      <a:r>
                        <a:rPr sz="1013">
                          <a:solidFill>
                            <a:srgbClr val="142735"/>
                          </a:solidFill>
                          <a:latin typeface="Arial"/>
                          <a:ea typeface="Arial"/>
                          <a:cs typeface="Arial"/>
                        </a:rPr>
                        <a:t>29.1%</a:t>
                      </a:r>
                    </a:p>
                  </a:txBody>
                  <a:tcPr anchor="ctr"/>
                </a:tc>
                <a:extLst>
                  <a:ext uri="{0D108BD9-81ED-4DB2-BD59-A6C34878D82A}">
                    <a16:rowId xmlns:a16="http://schemas.microsoft.com/office/drawing/2014/main" val="10003"/>
                  </a:ext>
                </a:extLst>
              </a:tr>
              <a:tr h="454025">
                <a:tc>
                  <a:txBody>
                    <a:bodyPr/>
                    <a:lstStyle/>
                    <a:p>
                      <a:pPr algn="l"/>
                      <a:r>
                        <a:rPr sz="1013">
                          <a:solidFill>
                            <a:srgbClr val="142735"/>
                          </a:solidFill>
                          <a:latin typeface="Arial"/>
                          <a:ea typeface="Arial"/>
                          <a:cs typeface="Arial"/>
                        </a:rPr>
                        <a:t>Severe stunting</a:t>
                      </a:r>
                    </a:p>
                  </a:txBody>
                  <a:tcPr anchor="ctr"/>
                </a:tc>
                <a:tc>
                  <a:txBody>
                    <a:bodyPr/>
                    <a:lstStyle/>
                    <a:p>
                      <a:pPr algn="l"/>
                      <a:r>
                        <a:rPr sz="1013">
                          <a:solidFill>
                            <a:srgbClr val="142735"/>
                          </a:solidFill>
                          <a:latin typeface="Arial"/>
                          <a:ea typeface="Arial"/>
                          <a:cs typeface="Arial"/>
                        </a:rPr>
                        <a:t>5x</a:t>
                      </a:r>
                    </a:p>
                  </a:txBody>
                  <a:tcPr anchor="ctr"/>
                </a:tc>
                <a:tc>
                  <a:txBody>
                    <a:bodyPr/>
                    <a:lstStyle/>
                    <a:p>
                      <a:pPr algn="l"/>
                      <a:r>
                        <a:rPr sz="1013">
                          <a:solidFill>
                            <a:srgbClr val="142735"/>
                          </a:solidFill>
                          <a:latin typeface="Arial"/>
                          <a:ea typeface="Arial"/>
                          <a:cs typeface="Arial"/>
                        </a:rPr>
                        <a:t>0.326</a:t>
                      </a:r>
                    </a:p>
                  </a:txBody>
                  <a:tcPr anchor="ctr"/>
                </a:tc>
                <a:tc>
                  <a:txBody>
                    <a:bodyPr/>
                    <a:lstStyle/>
                    <a:p>
                      <a:pPr algn="r"/>
                      <a:r>
                        <a:rPr sz="1013">
                          <a:solidFill>
                            <a:srgbClr val="142735"/>
                          </a:solidFill>
                          <a:latin typeface="Arial"/>
                          <a:ea typeface="Arial"/>
                          <a:cs typeface="Arial"/>
                        </a:rPr>
                        <a:t>15.4%</a:t>
                      </a:r>
                    </a:p>
                  </a:txBody>
                  <a:tcPr anchor="ctr"/>
                </a:tc>
                <a:extLst>
                  <a:ext uri="{0D108BD9-81ED-4DB2-BD59-A6C34878D82A}">
                    <a16:rowId xmlns:a16="http://schemas.microsoft.com/office/drawing/2014/main" val="10004"/>
                  </a:ext>
                </a:extLst>
              </a:tr>
              <a:tr h="454025">
                <a:tc>
                  <a:txBody>
                    <a:bodyPr/>
                    <a:lstStyle/>
                    <a:p>
                      <a:pPr algn="l"/>
                      <a:r>
                        <a:rPr sz="1013">
                          <a:solidFill>
                            <a:srgbClr val="142735"/>
                          </a:solidFill>
                          <a:latin typeface="Arial"/>
                          <a:ea typeface="Arial"/>
                          <a:cs typeface="Arial"/>
                        </a:rPr>
                        <a:t>Underweight</a:t>
                      </a:r>
                    </a:p>
                  </a:txBody>
                  <a:tcPr anchor="ctr"/>
                </a:tc>
                <a:tc>
                  <a:txBody>
                    <a:bodyPr/>
                    <a:lstStyle/>
                    <a:p>
                      <a:pPr algn="l"/>
                      <a:r>
                        <a:rPr sz="1013">
                          <a:solidFill>
                            <a:srgbClr val="142735"/>
                          </a:solidFill>
                          <a:latin typeface="Arial"/>
                          <a:ea typeface="Arial"/>
                          <a:cs typeface="Arial"/>
                        </a:rPr>
                        <a:t>5x</a:t>
                      </a:r>
                    </a:p>
                  </a:txBody>
                  <a:tcPr anchor="ctr"/>
                </a:tc>
                <a:tc>
                  <a:txBody>
                    <a:bodyPr/>
                    <a:lstStyle/>
                    <a:p>
                      <a:pPr algn="l"/>
                      <a:r>
                        <a:rPr sz="1013">
                          <a:solidFill>
                            <a:srgbClr val="142735"/>
                          </a:solidFill>
                          <a:latin typeface="Arial"/>
                          <a:ea typeface="Arial"/>
                          <a:cs typeface="Arial"/>
                        </a:rPr>
                        <a:t>0.276</a:t>
                      </a:r>
                    </a:p>
                  </a:txBody>
                  <a:tcPr anchor="ctr"/>
                </a:tc>
                <a:tc>
                  <a:txBody>
                    <a:bodyPr/>
                    <a:lstStyle/>
                    <a:p>
                      <a:pPr algn="r"/>
                      <a:r>
                        <a:rPr sz="1013">
                          <a:solidFill>
                            <a:srgbClr val="142735"/>
                          </a:solidFill>
                          <a:latin typeface="Arial"/>
                          <a:ea typeface="Arial"/>
                          <a:cs typeface="Arial"/>
                        </a:rPr>
                        <a:t>29.8%</a:t>
                      </a:r>
                    </a:p>
                  </a:txBody>
                  <a:tcPr anchor="ctr"/>
                </a:tc>
                <a:extLst>
                  <a:ext uri="{0D108BD9-81ED-4DB2-BD59-A6C34878D82A}">
                    <a16:rowId xmlns:a16="http://schemas.microsoft.com/office/drawing/2014/main" val="10005"/>
                  </a:ext>
                </a:extLst>
              </a:tr>
            </a:tbl>
          </a:graphicData>
        </a:graphic>
      </p:graphicFrame>
      <p:sp>
        <p:nvSpPr>
          <p:cNvPr id="7" name="Rounded Rectangle 6">
            <a:extLst>
              <a:ext uri="{FF2B5EF4-FFF2-40B4-BE49-F238E27FC236}">
                <a16:creationId xmlns:a16="http://schemas.microsoft.com/office/drawing/2014/main" id="{D1B67818-3B59-4E30-952F-793F0B23EA0C}"/>
              </a:ext>
            </a:extLst>
          </p:cNvPr>
          <p:cNvSpPr>
            <a:spLocks noGrp="1"/>
          </p:cNvSpPr>
          <p:nvPr/>
        </p:nvSpPr>
        <p:spPr>
          <a:xfrm>
            <a:off x="685800" y="4819650"/>
            <a:ext cx="10820400" cy="723900"/>
          </a:xfrm>
          <a:prstGeom prst="roundRect">
            <a:avLst>
              <a:gd name="adj" fmla="val 15789"/>
            </a:avLst>
          </a:prstGeom>
          <a:solidFill>
            <a:srgbClr val="FFFFFF"/>
          </a:solidFill>
          <a:ln w="9525">
            <a:solidFill>
              <a:srgbClr val="D9E2EC"/>
            </a:solidFill>
            <a:prstDash val="solid"/>
          </a:ln>
        </p:spPr>
      </p:sp>
      <p:sp>
        <p:nvSpPr>
          <p:cNvPr id="8" name="Rectangle 7">
            <a:extLst>
              <a:ext uri="{FF2B5EF4-FFF2-40B4-BE49-F238E27FC236}">
                <a16:creationId xmlns:a16="http://schemas.microsoft.com/office/drawing/2014/main" id="{D564174A-05F6-431A-B74C-85B98AF18822}"/>
              </a:ext>
            </a:extLst>
          </p:cNvPr>
          <p:cNvSpPr>
            <a:spLocks noGrp="1"/>
          </p:cNvSpPr>
          <p:nvPr/>
        </p:nvSpPr>
        <p:spPr>
          <a:xfrm>
            <a:off x="914400" y="4981575"/>
            <a:ext cx="2095500" cy="209550"/>
          </a:xfrm>
          <a:prstGeom prst="rect">
            <a:avLst/>
          </a:prstGeom>
          <a:noFill/>
          <a:ln w="0">
            <a:noFill/>
          </a:ln>
        </p:spPr>
        <p:txBody>
          <a:bodyPr lIns="0" tIns="0" rIns="0" bIns="0" anchor="t">
            <a:normAutofit fontScale="99855" lnSpcReduction="10000"/>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Why the metric changes</a:t>
            </a:r>
          </a:p>
        </p:txBody>
      </p:sp>
      <p:sp>
        <p:nvSpPr>
          <p:cNvPr id="9" name="Rectangle 8">
            <a:extLst>
              <a:ext uri="{FF2B5EF4-FFF2-40B4-BE49-F238E27FC236}">
                <a16:creationId xmlns:a16="http://schemas.microsoft.com/office/drawing/2014/main" id="{358292F3-DB5F-46CC-8E9D-7D8EDF5B3307}"/>
              </a:ext>
            </a:extLst>
          </p:cNvPr>
          <p:cNvSpPr>
            <a:spLocks noGrp="1"/>
          </p:cNvSpPr>
          <p:nvPr/>
        </p:nvSpPr>
        <p:spPr>
          <a:xfrm>
            <a:off x="3162300" y="4981575"/>
            <a:ext cx="2381250" cy="209550"/>
          </a:xfrm>
          <a:prstGeom prst="rect">
            <a:avLst/>
          </a:prstGeom>
          <a:noFill/>
          <a:ln w="0">
            <a:noFill/>
          </a:ln>
        </p:spPr>
        <p:txBody>
          <a:bodyPr lIns="0" tIns="0" rIns="0" bIns="0" anchor="t">
            <a:normAutofit/>
          </a:bodyPr>
          <a:lstStyle/>
          <a:p>
            <a:pPr algn="l">
              <a:lnSpc>
                <a:spcPct val="108000"/>
              </a:lnSpc>
              <a:buNone/>
              <a:defRPr sz="1200" b="0" i="0">
                <a:solidFill>
                  <a:srgbClr val="0F766E"/>
                </a:solidFill>
                <a:latin typeface="Arial"/>
                <a:ea typeface="Arial"/>
                <a:cs typeface="Arial"/>
              </a:defRPr>
            </a:pPr>
            <a:r>
              <a:rPr sz="1200" b="0" i="0">
                <a:solidFill>
                  <a:srgbClr val="0F766E"/>
                </a:solidFill>
                <a:latin typeface="Arial"/>
                <a:ea typeface="Arial"/>
                <a:cs typeface="Arial"/>
              </a:rPr>
              <a:t>Ranking: ROC-AUC / PR-AUC</a:t>
            </a:r>
          </a:p>
        </p:txBody>
      </p:sp>
      <p:sp>
        <p:nvSpPr>
          <p:cNvPr id="10" name="Rectangle 9">
            <a:extLst>
              <a:ext uri="{FF2B5EF4-FFF2-40B4-BE49-F238E27FC236}">
                <a16:creationId xmlns:a16="http://schemas.microsoft.com/office/drawing/2014/main" id="{79EFFBF6-D0AC-448D-A7E6-7EED492CFD80}"/>
              </a:ext>
            </a:extLst>
          </p:cNvPr>
          <p:cNvSpPr>
            <a:spLocks noGrp="1"/>
          </p:cNvSpPr>
          <p:nvPr/>
        </p:nvSpPr>
        <p:spPr>
          <a:xfrm>
            <a:off x="5791200" y="4981575"/>
            <a:ext cx="2428875" cy="209550"/>
          </a:xfrm>
          <a:prstGeom prst="rect">
            <a:avLst/>
          </a:prstGeom>
          <a:noFill/>
          <a:ln w="0">
            <a:noFill/>
          </a:ln>
        </p:spPr>
        <p:txBody>
          <a:bodyPr lIns="0" tIns="0" rIns="0" bIns="0" anchor="t">
            <a:normAutofit/>
          </a:bodyPr>
          <a:lstStyle/>
          <a:p>
            <a:pPr algn="l">
              <a:lnSpc>
                <a:spcPct val="108000"/>
              </a:lnSpc>
              <a:buNone/>
              <a:defRPr sz="1200" b="0" i="0">
                <a:solidFill>
                  <a:srgbClr val="C75C5C"/>
                </a:solidFill>
                <a:latin typeface="Arial"/>
                <a:ea typeface="Arial"/>
                <a:cs typeface="Arial"/>
              </a:defRPr>
            </a:pPr>
            <a:r>
              <a:rPr sz="1200" b="0" i="0">
                <a:solidFill>
                  <a:srgbClr val="C75C5C"/>
                </a:solidFill>
                <a:latin typeface="Arial"/>
                <a:ea typeface="Arial"/>
                <a:cs typeface="Arial"/>
              </a:rPr>
              <a:t>Screening: recall + precision</a:t>
            </a:r>
          </a:p>
        </p:txBody>
      </p:sp>
      <p:sp>
        <p:nvSpPr>
          <p:cNvPr id="11" name="Rectangle 10">
            <a:extLst>
              <a:ext uri="{FF2B5EF4-FFF2-40B4-BE49-F238E27FC236}">
                <a16:creationId xmlns:a16="http://schemas.microsoft.com/office/drawing/2014/main" id="{8508DAB0-D02F-45BC-A996-25146513F444}"/>
              </a:ext>
            </a:extLst>
          </p:cNvPr>
          <p:cNvSpPr>
            <a:spLocks noGrp="1"/>
          </p:cNvSpPr>
          <p:nvPr/>
        </p:nvSpPr>
        <p:spPr>
          <a:xfrm>
            <a:off x="8420100" y="4981575"/>
            <a:ext cx="2667000" cy="209550"/>
          </a:xfrm>
          <a:prstGeom prst="rect">
            <a:avLst/>
          </a:prstGeom>
          <a:noFill/>
          <a:ln w="0">
            <a:noFill/>
          </a:ln>
        </p:spPr>
        <p:txBody>
          <a:bodyPr lIns="0" tIns="0" rIns="0" bIns="0" anchor="t">
            <a:normAutofit/>
          </a:bodyPr>
          <a:lstStyle/>
          <a:p>
            <a:pPr algn="l">
              <a:lnSpc>
                <a:spcPct val="108000"/>
              </a:lnSpc>
              <a:buNone/>
              <a:defRPr sz="1200" b="0" i="0">
                <a:solidFill>
                  <a:srgbClr val="D97706"/>
                </a:solidFill>
                <a:latin typeface="Arial"/>
                <a:ea typeface="Arial"/>
                <a:cs typeface="Arial"/>
              </a:defRPr>
            </a:pPr>
            <a:r>
              <a:rPr sz="1200" b="0" i="0">
                <a:solidFill>
                  <a:srgbClr val="D97706"/>
                </a:solidFill>
                <a:latin typeface="Arial"/>
                <a:ea typeface="Arial"/>
                <a:cs typeface="Arial"/>
              </a:rPr>
              <a:t>Probability: Brier + calibration</a:t>
            </a:r>
          </a:p>
        </p:txBody>
      </p:sp>
      <p:sp>
        <p:nvSpPr>
          <p:cNvPr id="12" name="Rectangle 11">
            <a:extLst>
              <a:ext uri="{FF2B5EF4-FFF2-40B4-BE49-F238E27FC236}">
                <a16:creationId xmlns:a16="http://schemas.microsoft.com/office/drawing/2014/main" id="{DB0BFD97-65EA-402A-9C79-5492D0DCF6E6}"/>
              </a:ext>
            </a:extLst>
          </p:cNvPr>
          <p:cNvSpPr>
            <a:spLocks noGrp="1"/>
          </p:cNvSpPr>
          <p:nvPr/>
        </p:nvSpPr>
        <p:spPr>
          <a:xfrm>
            <a:off x="914400" y="5248275"/>
            <a:ext cx="10287000" cy="209550"/>
          </a:xfrm>
          <a:prstGeom prst="rect">
            <a:avLst/>
          </a:prstGeom>
          <a:noFill/>
          <a:ln w="0">
            <a:noFill/>
          </a:ln>
        </p:spPr>
        <p:txBody>
          <a:bodyPr lIns="0" tIns="0" rIns="0" bIns="0" anchor="t">
            <a:normAutofit/>
          </a:bodyPr>
          <a:lstStyle/>
          <a:p>
            <a:pPr algn="l">
              <a:lnSpc>
                <a:spcPct val="108000"/>
              </a:lnSpc>
              <a:buNone/>
              <a:defRPr sz="1163" b="0" i="0">
                <a:solidFill>
                  <a:srgbClr val="52606D"/>
                </a:solidFill>
                <a:latin typeface="Arial"/>
                <a:ea typeface="Arial"/>
                <a:cs typeface="Arial"/>
              </a:defRPr>
            </a:pPr>
            <a:r>
              <a:rPr sz="1163" b="0" i="0">
                <a:solidFill>
                  <a:srgbClr val="52606D"/>
                </a:solidFill>
                <a:latin typeface="Arial"/>
                <a:ea typeface="Arial"/>
                <a:cs typeface="Arial"/>
              </a:rPr>
              <a:t>The 0.5 cut-off is only a convention. The notebook chooses the cut-off by explicit false-negative cost and a maximum 30% flag-rate capacity.</a:t>
            </a:r>
          </a:p>
        </p:txBody>
      </p:sp>
      <p:sp>
        <p:nvSpPr>
          <p:cNvPr id="13" name="Rectangle 12">
            <a:extLst>
              <a:ext uri="{FF2B5EF4-FFF2-40B4-BE49-F238E27FC236}">
                <a16:creationId xmlns:a16="http://schemas.microsoft.com/office/drawing/2014/main" id="{060E8104-90F4-4948-B94D-BECF0D1A4472}"/>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7:40</a:t>
            </a:r>
          </a:p>
        </p:txBody>
      </p:sp>
      <p:sp>
        <p:nvSpPr>
          <p:cNvPr id="14" name="Rectangle 13">
            <a:extLst>
              <a:ext uri="{FF2B5EF4-FFF2-40B4-BE49-F238E27FC236}">
                <a16:creationId xmlns:a16="http://schemas.microsoft.com/office/drawing/2014/main" id="{2F8CCC11-0C1C-42AC-AE65-9786CC0CFDE5}"/>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185-190</a:t>
            </a:r>
          </a:p>
        </p:txBody>
      </p:sp>
      <p:sp>
        <p:nvSpPr>
          <p:cNvPr id="15" name="Rectangle 14">
            <a:extLst>
              <a:ext uri="{FF2B5EF4-FFF2-40B4-BE49-F238E27FC236}">
                <a16:creationId xmlns:a16="http://schemas.microsoft.com/office/drawing/2014/main" id="{900E86A1-A859-4C45-9B3B-A4E7C96197AA}"/>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940641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3C6E399-40CD-4BE4-BFFB-E1917AE29660}"/>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RELIABILITY</a:t>
            </a:r>
          </a:p>
        </p:txBody>
      </p:sp>
      <p:sp>
        <p:nvSpPr>
          <p:cNvPr id="2" name="Rectangle 1">
            <a:extLst>
              <a:ext uri="{FF2B5EF4-FFF2-40B4-BE49-F238E27FC236}">
                <a16:creationId xmlns:a16="http://schemas.microsoft.com/office/drawing/2014/main" id="{5DF85947-B289-4B1D-A11A-048FB507627D}"/>
              </a:ext>
            </a:extLst>
          </p:cNvPr>
          <p:cNvSpPr>
            <a:spLocks noGrp="1"/>
          </p:cNvSpPr>
          <p:nvPr/>
        </p:nvSpPr>
        <p:spPr>
          <a:xfrm>
            <a:off x="685800" y="533400"/>
            <a:ext cx="10001250" cy="552450"/>
          </a:xfrm>
          <a:prstGeom prst="rect">
            <a:avLst/>
          </a:prstGeom>
          <a:noFill/>
          <a:ln w="0">
            <a:noFill/>
          </a:ln>
        </p:spPr>
        <p:txBody>
          <a:bodyPr lIns="0" tIns="0" rIns="0" bIns="0" anchor="t">
            <a:normAutofit fontScale="97777"/>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Calibration and decision curves ask whether the score is safe to use</a:t>
            </a:r>
          </a:p>
        </p:txBody>
      </p:sp>
      <p:sp>
        <p:nvSpPr>
          <p:cNvPr id="3" name="Rectangle 2">
            <a:extLst>
              <a:ext uri="{FF2B5EF4-FFF2-40B4-BE49-F238E27FC236}">
                <a16:creationId xmlns:a16="http://schemas.microsoft.com/office/drawing/2014/main" id="{9322B62F-5135-49EC-B2D9-CD0104122B4A}"/>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13</a:t>
            </a:r>
          </a:p>
        </p:txBody>
      </p:sp>
      <p:sp>
        <p:nvSpPr>
          <p:cNvPr id="4" name="Straight Connector 3">
            <a:extLst>
              <a:ext uri="{FF2B5EF4-FFF2-40B4-BE49-F238E27FC236}">
                <a16:creationId xmlns:a16="http://schemas.microsoft.com/office/drawing/2014/main" id="{22164A98-5126-4D59-B934-8ABBAAA84B46}"/>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0" name="Picture 19"/>
          <p:cNvPicPr>
            <a:picLocks noChangeAspect="1"/>
          </p:cNvPicPr>
          <p:nvPr/>
        </p:nvPicPr>
        <p:blipFill>
          <a:blip r:embed="rId3"/>
          <a:stretch/>
        </p:blipFill>
        <p:spPr>
          <a:xfrm>
            <a:off x="685800" y="1694058"/>
            <a:ext cx="5334000" cy="2307834"/>
          </a:xfrm>
          <a:prstGeom prst="roundRect">
            <a:avLst>
              <a:gd name="adj" fmla="val 4444"/>
            </a:avLst>
          </a:prstGeom>
        </p:spPr>
      </p:pic>
      <p:pic>
        <p:nvPicPr>
          <p:cNvPr id="21" name="Picture 20"/>
          <p:cNvPicPr>
            <a:picLocks noChangeAspect="1"/>
          </p:cNvPicPr>
          <p:nvPr/>
        </p:nvPicPr>
        <p:blipFill>
          <a:blip r:embed="rId4"/>
          <a:stretch/>
        </p:blipFill>
        <p:spPr>
          <a:xfrm>
            <a:off x="6419850" y="1572997"/>
            <a:ext cx="5086350" cy="2549957"/>
          </a:xfrm>
          <a:prstGeom prst="roundRect">
            <a:avLst>
              <a:gd name="adj" fmla="val 4444"/>
            </a:avLst>
          </a:prstGeom>
        </p:spPr>
      </p:pic>
      <p:sp>
        <p:nvSpPr>
          <p:cNvPr id="7" name="Rounded Rectangle 6">
            <a:extLst>
              <a:ext uri="{FF2B5EF4-FFF2-40B4-BE49-F238E27FC236}">
                <a16:creationId xmlns:a16="http://schemas.microsoft.com/office/drawing/2014/main" id="{EA4F74AE-2C5C-41FA-85E2-431F672CE3C9}"/>
              </a:ext>
            </a:extLst>
          </p:cNvPr>
          <p:cNvSpPr>
            <a:spLocks noGrp="1"/>
          </p:cNvSpPr>
          <p:nvPr/>
        </p:nvSpPr>
        <p:spPr>
          <a:xfrm>
            <a:off x="685800" y="4438650"/>
            <a:ext cx="5105400" cy="1085850"/>
          </a:xfrm>
          <a:prstGeom prst="roundRect">
            <a:avLst>
              <a:gd name="adj" fmla="val 10526"/>
            </a:avLst>
          </a:prstGeom>
          <a:solidFill>
            <a:srgbClr val="E5EEF6"/>
          </a:solidFill>
          <a:ln w="0">
            <a:noFill/>
            <a:prstDash val="solid"/>
          </a:ln>
        </p:spPr>
      </p:sp>
      <p:sp>
        <p:nvSpPr>
          <p:cNvPr id="8" name="Rectangle 7">
            <a:extLst>
              <a:ext uri="{FF2B5EF4-FFF2-40B4-BE49-F238E27FC236}">
                <a16:creationId xmlns:a16="http://schemas.microsoft.com/office/drawing/2014/main" id="{E912D74F-B7E1-4F04-ADEC-AC92BF89E4D6}"/>
              </a:ext>
            </a:extLst>
          </p:cNvPr>
          <p:cNvSpPr>
            <a:spLocks noGrp="1"/>
          </p:cNvSpPr>
          <p:nvPr/>
        </p:nvSpPr>
        <p:spPr>
          <a:xfrm>
            <a:off x="914400" y="4619625"/>
            <a:ext cx="2095500" cy="219075"/>
          </a:xfrm>
          <a:prstGeom prst="rect">
            <a:avLst/>
          </a:prstGeom>
          <a:noFill/>
          <a:ln w="0">
            <a:noFill/>
          </a:ln>
        </p:spPr>
        <p:txBody>
          <a:bodyPr lIns="0" tIns="0" rIns="0" bIns="0" anchor="t">
            <a:normAutofit fontScale="98594"/>
          </a:bodyPr>
          <a:lstStyle/>
          <a:p>
            <a:pPr algn="l">
              <a:lnSpc>
                <a:spcPct val="108000"/>
              </a:lnSpc>
              <a:buNone/>
              <a:defRPr sz="1350" b="1" i="0">
                <a:solidFill>
                  <a:srgbClr val="102A43"/>
                </a:solidFill>
                <a:latin typeface="Arial"/>
                <a:ea typeface="Arial"/>
                <a:cs typeface="Arial"/>
              </a:defRPr>
            </a:pPr>
            <a:r>
              <a:rPr sz="1350" b="1" i="0">
                <a:solidFill>
                  <a:srgbClr val="102A43"/>
                </a:solidFill>
                <a:latin typeface="Arial"/>
                <a:ea typeface="Arial"/>
                <a:cs typeface="Arial"/>
              </a:rPr>
              <a:t>Calibration guard</a:t>
            </a:r>
          </a:p>
        </p:txBody>
      </p:sp>
      <p:sp>
        <p:nvSpPr>
          <p:cNvPr id="9" name="Rectangle 8">
            <a:extLst>
              <a:ext uri="{FF2B5EF4-FFF2-40B4-BE49-F238E27FC236}">
                <a16:creationId xmlns:a16="http://schemas.microsoft.com/office/drawing/2014/main" id="{62181F27-F997-41B8-88E2-3C54AC1F22B1}"/>
              </a:ext>
            </a:extLst>
          </p:cNvPr>
          <p:cNvSpPr>
            <a:spLocks noGrp="1"/>
          </p:cNvSpPr>
          <p:nvPr/>
        </p:nvSpPr>
        <p:spPr>
          <a:xfrm>
            <a:off x="914400" y="4953000"/>
            <a:ext cx="4476750" cy="457200"/>
          </a:xfrm>
          <a:prstGeom prst="rect">
            <a:avLst/>
          </a:prstGeom>
          <a:noFill/>
          <a:ln w="0">
            <a:noFill/>
          </a:ln>
        </p:spPr>
        <p:txBody>
          <a:bodyPr lIns="0" tIns="0" rIns="0" bIns="0" anchor="t">
            <a:normAutofit fontScale="92154" lnSpcReduction="20000"/>
          </a:bodyPr>
          <a:lstStyle/>
          <a:p>
            <a:pPr algn="l">
              <a:lnSpc>
                <a:spcPct val="107000"/>
              </a:lnSpc>
              <a:buNone/>
              <a:defRPr sz="1238" b="0" i="0">
                <a:solidFill>
                  <a:srgbClr val="52606D"/>
                </a:solidFill>
                <a:latin typeface="Arial"/>
                <a:ea typeface="Arial"/>
                <a:cs typeface="Arial"/>
              </a:defRPr>
            </a:pPr>
            <a:r>
              <a:rPr sz="1238" b="0" i="0">
                <a:solidFill>
                  <a:srgbClr val="52606D"/>
                </a:solidFill>
                <a:latin typeface="Arial"/>
                <a:ea typeface="Arial"/>
                <a:cs typeface="Arial"/>
              </a:rPr>
              <a:t>Keep a calibrator only when it improves both Brier score and calibration-in-the-large. Three of five were refused; raw scores were used downstream.</a:t>
            </a:r>
          </a:p>
        </p:txBody>
      </p:sp>
      <p:sp>
        <p:nvSpPr>
          <p:cNvPr id="10" name="Rounded Rectangle 9">
            <a:extLst>
              <a:ext uri="{FF2B5EF4-FFF2-40B4-BE49-F238E27FC236}">
                <a16:creationId xmlns:a16="http://schemas.microsoft.com/office/drawing/2014/main" id="{E6EE0528-A080-4E2B-A781-7B346CE665C2}"/>
              </a:ext>
            </a:extLst>
          </p:cNvPr>
          <p:cNvSpPr>
            <a:spLocks noGrp="1"/>
          </p:cNvSpPr>
          <p:nvPr/>
        </p:nvSpPr>
        <p:spPr>
          <a:xfrm>
            <a:off x="6057900" y="4438650"/>
            <a:ext cx="5448300" cy="1085850"/>
          </a:xfrm>
          <a:prstGeom prst="roundRect">
            <a:avLst>
              <a:gd name="adj" fmla="val 10526"/>
            </a:avLst>
          </a:prstGeom>
          <a:solidFill>
            <a:srgbClr val="F9E5E5"/>
          </a:solidFill>
          <a:ln w="0">
            <a:noFill/>
            <a:prstDash val="solid"/>
          </a:ln>
        </p:spPr>
      </p:sp>
      <p:sp>
        <p:nvSpPr>
          <p:cNvPr id="11" name="Rectangle 10">
            <a:extLst>
              <a:ext uri="{FF2B5EF4-FFF2-40B4-BE49-F238E27FC236}">
                <a16:creationId xmlns:a16="http://schemas.microsoft.com/office/drawing/2014/main" id="{EEE86E13-8095-4E6A-A6A8-A31204E51743}"/>
              </a:ext>
            </a:extLst>
          </p:cNvPr>
          <p:cNvSpPr>
            <a:spLocks noGrp="1"/>
          </p:cNvSpPr>
          <p:nvPr/>
        </p:nvSpPr>
        <p:spPr>
          <a:xfrm>
            <a:off x="6286500" y="4619625"/>
            <a:ext cx="2476500" cy="219075"/>
          </a:xfrm>
          <a:prstGeom prst="rect">
            <a:avLst/>
          </a:prstGeom>
          <a:noFill/>
          <a:ln w="0">
            <a:noFill/>
          </a:ln>
        </p:spPr>
        <p:txBody>
          <a:bodyPr lIns="0" tIns="0" rIns="0" bIns="0" anchor="t">
            <a:normAutofit fontScale="98594"/>
          </a:bodyPr>
          <a:lstStyle/>
          <a:p>
            <a:pPr algn="l">
              <a:lnSpc>
                <a:spcPct val="108000"/>
              </a:lnSpc>
              <a:buNone/>
              <a:defRPr sz="1350" b="1" i="0">
                <a:solidFill>
                  <a:srgbClr val="102A43"/>
                </a:solidFill>
                <a:latin typeface="Arial"/>
                <a:ea typeface="Arial"/>
                <a:cs typeface="Arial"/>
              </a:defRPr>
            </a:pPr>
            <a:r>
              <a:rPr sz="1350" b="1" i="0">
                <a:solidFill>
                  <a:srgbClr val="102A43"/>
                </a:solidFill>
                <a:latin typeface="Arial"/>
                <a:ea typeface="Arial"/>
                <a:cs typeface="Arial"/>
              </a:rPr>
              <a:t>Decision-curve finding</a:t>
            </a:r>
          </a:p>
        </p:txBody>
      </p:sp>
      <p:sp>
        <p:nvSpPr>
          <p:cNvPr id="12" name="Rectangle 11">
            <a:extLst>
              <a:ext uri="{FF2B5EF4-FFF2-40B4-BE49-F238E27FC236}">
                <a16:creationId xmlns:a16="http://schemas.microsoft.com/office/drawing/2014/main" id="{83CE71F9-BD0E-46B5-862A-7F0529CF7A87}"/>
              </a:ext>
            </a:extLst>
          </p:cNvPr>
          <p:cNvSpPr>
            <a:spLocks noGrp="1"/>
          </p:cNvSpPr>
          <p:nvPr/>
        </p:nvSpPr>
        <p:spPr>
          <a:xfrm>
            <a:off x="6286500" y="4953000"/>
            <a:ext cx="4857750" cy="457200"/>
          </a:xfrm>
          <a:prstGeom prst="rect">
            <a:avLst/>
          </a:prstGeom>
          <a:noFill/>
          <a:ln w="0">
            <a:noFill/>
          </a:ln>
        </p:spPr>
        <p:txBody>
          <a:bodyPr lIns="0" tIns="0" rIns="0" bIns="0" anchor="t">
            <a:normAutofit fontScale="85671" lnSpcReduction="20000"/>
          </a:bodyPr>
          <a:lstStyle/>
          <a:p>
            <a:pPr algn="l">
              <a:lnSpc>
                <a:spcPct val="107000"/>
              </a:lnSpc>
              <a:buNone/>
              <a:defRPr sz="1238" b="0" i="0">
                <a:solidFill>
                  <a:srgbClr val="52606D"/>
                </a:solidFill>
                <a:latin typeface="Arial"/>
                <a:ea typeface="Arial"/>
                <a:cs typeface="Arial"/>
              </a:defRPr>
            </a:pPr>
            <a:r>
              <a:rPr sz="1238" b="0" i="0">
                <a:solidFill>
                  <a:srgbClr val="52606D"/>
                </a:solidFill>
                <a:latin typeface="Arial"/>
                <a:ea typeface="Arial"/>
                <a:cs typeface="Arial"/>
              </a:rPr>
              <a:t>Four outcomes beat treat-all and treat-none across useful ranges. Severe stunting had negative net benefit at its cost-optimal threshold, so it should not be a standalone screen.</a:t>
            </a:r>
          </a:p>
        </p:txBody>
      </p:sp>
      <p:sp>
        <p:nvSpPr>
          <p:cNvPr id="13" name="Rectangle 12">
            <a:extLst>
              <a:ext uri="{FF2B5EF4-FFF2-40B4-BE49-F238E27FC236}">
                <a16:creationId xmlns:a16="http://schemas.microsoft.com/office/drawing/2014/main" id="{855C07E6-A117-4ED0-964A-E27C4756AFAF}"/>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8:24</a:t>
            </a:r>
          </a:p>
        </p:txBody>
      </p:sp>
      <p:sp>
        <p:nvSpPr>
          <p:cNvPr id="14" name="Rectangle 13">
            <a:extLst>
              <a:ext uri="{FF2B5EF4-FFF2-40B4-BE49-F238E27FC236}">
                <a16:creationId xmlns:a16="http://schemas.microsoft.com/office/drawing/2014/main" id="{13E648D1-B5E5-4A95-AD81-125658C7E021}"/>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191-203</a:t>
            </a:r>
          </a:p>
        </p:txBody>
      </p:sp>
      <p:sp>
        <p:nvSpPr>
          <p:cNvPr id="15" name="Rectangle 14">
            <a:extLst>
              <a:ext uri="{FF2B5EF4-FFF2-40B4-BE49-F238E27FC236}">
                <a16:creationId xmlns:a16="http://schemas.microsoft.com/office/drawing/2014/main" id="{FE95FEF4-6973-4E70-9957-D223D330A1D6}"/>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719776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6318D7F-58DA-4E88-A74A-369694D28B34}"/>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UNCERTAINTY AND TRANSPORT</a:t>
            </a:r>
          </a:p>
        </p:txBody>
      </p:sp>
      <p:sp>
        <p:nvSpPr>
          <p:cNvPr id="2" name="Rectangle 1">
            <a:extLst>
              <a:ext uri="{FF2B5EF4-FFF2-40B4-BE49-F238E27FC236}">
                <a16:creationId xmlns:a16="http://schemas.microsoft.com/office/drawing/2014/main" id="{4B6C08C7-5447-4097-A73D-22B4972A934A}"/>
              </a:ext>
            </a:extLst>
          </p:cNvPr>
          <p:cNvSpPr>
            <a:spLocks noGrp="1"/>
          </p:cNvSpPr>
          <p:nvPr/>
        </p:nvSpPr>
        <p:spPr>
          <a:xfrm>
            <a:off x="685800" y="533400"/>
            <a:ext cx="10001250" cy="552450"/>
          </a:xfrm>
          <a:prstGeom prst="rect">
            <a:avLst/>
          </a:prstGeom>
          <a:noFill/>
          <a:ln w="0">
            <a:noFill/>
          </a:ln>
        </p:spPr>
        <p:txBody>
          <a:bodyPr lIns="0" tIns="0" rIns="0" bIns="0" anchor="t">
            <a:normAutofit fontScale="88823"/>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Point estimates need error bars, and internal validation is not enough</a:t>
            </a:r>
          </a:p>
        </p:txBody>
      </p:sp>
      <p:sp>
        <p:nvSpPr>
          <p:cNvPr id="3" name="Rectangle 2">
            <a:extLst>
              <a:ext uri="{FF2B5EF4-FFF2-40B4-BE49-F238E27FC236}">
                <a16:creationId xmlns:a16="http://schemas.microsoft.com/office/drawing/2014/main" id="{40168266-D489-48D5-9BFC-4935415D300C}"/>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14</a:t>
            </a:r>
          </a:p>
        </p:txBody>
      </p:sp>
      <p:sp>
        <p:nvSpPr>
          <p:cNvPr id="4" name="Straight Connector 3">
            <a:extLst>
              <a:ext uri="{FF2B5EF4-FFF2-40B4-BE49-F238E27FC236}">
                <a16:creationId xmlns:a16="http://schemas.microsoft.com/office/drawing/2014/main" id="{CA32E62A-F1E8-4EE6-A822-B20500E5848F}"/>
              </a:ext>
            </a:extLst>
          </p:cNvPr>
          <p:cNvSpPr>
            <a:spLocks noGrp="1"/>
          </p:cNvSpPr>
          <p:nvPr/>
        </p:nvSpPr>
        <p:spPr>
          <a:xfrm>
            <a:off x="685800" y="1181100"/>
            <a:ext cx="10820400" cy="0"/>
          </a:xfrm>
          <a:prstGeom prst="line">
            <a:avLst/>
          </a:prstGeom>
          <a:noFill/>
          <a:ln w="9525">
            <a:solidFill>
              <a:srgbClr val="D9E2EC"/>
            </a:solidFill>
            <a:prstDash val="solid"/>
          </a:ln>
        </p:spPr>
      </p:sp>
      <p:graphicFrame>
        <p:nvGraphicFramePr>
          <p:cNvPr id="16" name="Table 15"/>
          <p:cNvGraphicFramePr/>
          <p:nvPr/>
        </p:nvGraphicFramePr>
        <p:xfrm>
          <a:off x="685800" y="1619250"/>
          <a:ext cx="5334000" cy="2857500"/>
        </p:xfrm>
        <a:graphic>
          <a:graphicData uri="http://schemas.openxmlformats.org/drawingml/2006/table">
            <a:tbl>
              <a:tblPr firstRow="1" bandRow="1"/>
              <a:tblGrid>
                <a:gridCol w="20955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tblGrid>
              <a:tr h="476250">
                <a:tc>
                  <a:txBody>
                    <a:bodyPr/>
                    <a:lstStyle/>
                    <a:p>
                      <a:pPr algn="l"/>
                      <a:r>
                        <a:rPr sz="1050" b="1">
                          <a:solidFill>
                            <a:srgbClr val="FFFFFF"/>
                          </a:solidFill>
                          <a:latin typeface="Arial"/>
                          <a:ea typeface="Arial"/>
                          <a:cs typeface="Arial"/>
                        </a:rPr>
                        <a:t>Outcome</a:t>
                      </a:r>
                    </a:p>
                  </a:txBody>
                  <a:tcPr anchor="ctr">
                    <a:solidFill>
                      <a:srgbClr val="102A43"/>
                    </a:solidFill>
                  </a:tcPr>
                </a:tc>
                <a:tc>
                  <a:txBody>
                    <a:bodyPr/>
                    <a:lstStyle/>
                    <a:p>
                      <a:pPr algn="l"/>
                      <a:r>
                        <a:rPr sz="1050" b="1">
                          <a:solidFill>
                            <a:srgbClr val="FFFFFF"/>
                          </a:solidFill>
                          <a:latin typeface="Arial"/>
                          <a:ea typeface="Arial"/>
                          <a:cs typeface="Arial"/>
                        </a:rPr>
                        <a:t>Test positives</a:t>
                      </a:r>
                    </a:p>
                  </a:txBody>
                  <a:tcPr anchor="ctr">
                    <a:solidFill>
                      <a:srgbClr val="102A43"/>
                    </a:solidFill>
                  </a:tcPr>
                </a:tc>
                <a:tc>
                  <a:txBody>
                    <a:bodyPr/>
                    <a:lstStyle/>
                    <a:p>
                      <a:pPr algn="l"/>
                      <a:r>
                        <a:rPr sz="1050" b="1">
                          <a:solidFill>
                            <a:srgbClr val="FFFFFF"/>
                          </a:solidFill>
                          <a:latin typeface="Arial"/>
                          <a:ea typeface="Arial"/>
                          <a:cs typeface="Arial"/>
                        </a:rPr>
                        <a:t>ROC-AUC 95% CI</a:t>
                      </a:r>
                    </a:p>
                  </a:txBody>
                  <a:tcPr anchor="ctr">
                    <a:solidFill>
                      <a:srgbClr val="102A43"/>
                    </a:solidFill>
                  </a:tcPr>
                </a:tc>
                <a:tc>
                  <a:txBody>
                    <a:bodyPr/>
                    <a:lstStyle/>
                    <a:p>
                      <a:pPr algn="r"/>
                      <a:r>
                        <a:rPr sz="1050" b="1">
                          <a:solidFill>
                            <a:srgbClr val="FFFFFF"/>
                          </a:solidFill>
                          <a:latin typeface="Arial"/>
                          <a:ea typeface="Arial"/>
                          <a:cs typeface="Arial"/>
                        </a:rPr>
                        <a:t>PR-AUC 95% CI</a:t>
                      </a:r>
                    </a:p>
                  </a:txBody>
                  <a:tcPr anchor="ctr">
                    <a:solidFill>
                      <a:srgbClr val="102A43"/>
                    </a:solidFill>
                  </a:tcPr>
                </a:tc>
                <a:extLst>
                  <a:ext uri="{0D108BD9-81ED-4DB2-BD59-A6C34878D82A}">
                    <a16:rowId xmlns:a16="http://schemas.microsoft.com/office/drawing/2014/main" val="10000"/>
                  </a:ext>
                </a:extLst>
              </a:tr>
              <a:tr h="476250">
                <a:tc>
                  <a:txBody>
                    <a:bodyPr/>
                    <a:lstStyle/>
                    <a:p>
                      <a:pPr algn="l"/>
                      <a:r>
                        <a:rPr sz="1013">
                          <a:solidFill>
                            <a:srgbClr val="142735"/>
                          </a:solidFill>
                          <a:latin typeface="Arial"/>
                          <a:ea typeface="Arial"/>
                          <a:cs typeface="Arial"/>
                        </a:rPr>
                        <a:t>Facility delivery</a:t>
                      </a:r>
                    </a:p>
                  </a:txBody>
                  <a:tcPr anchor="ctr"/>
                </a:tc>
                <a:tc>
                  <a:txBody>
                    <a:bodyPr/>
                    <a:lstStyle/>
                    <a:p>
                      <a:pPr algn="l"/>
                      <a:r>
                        <a:rPr sz="1013">
                          <a:solidFill>
                            <a:srgbClr val="142735"/>
                          </a:solidFill>
                          <a:latin typeface="Arial"/>
                          <a:ea typeface="Arial"/>
                          <a:cs typeface="Arial"/>
                        </a:rPr>
                        <a:t>1,240</a:t>
                      </a:r>
                    </a:p>
                  </a:txBody>
                  <a:tcPr anchor="ctr"/>
                </a:tc>
                <a:tc>
                  <a:txBody>
                    <a:bodyPr/>
                    <a:lstStyle/>
                    <a:p>
                      <a:pPr algn="l"/>
                      <a:r>
                        <a:rPr sz="1013">
                          <a:solidFill>
                            <a:srgbClr val="142735"/>
                          </a:solidFill>
                          <a:latin typeface="Arial"/>
                          <a:ea typeface="Arial"/>
                          <a:cs typeface="Arial"/>
                        </a:rPr>
                        <a:t>0.828-0.859</a:t>
                      </a:r>
                    </a:p>
                  </a:txBody>
                  <a:tcPr anchor="ctr"/>
                </a:tc>
                <a:tc>
                  <a:txBody>
                    <a:bodyPr/>
                    <a:lstStyle/>
                    <a:p>
                      <a:pPr algn="r"/>
                      <a:r>
                        <a:rPr sz="1013">
                          <a:solidFill>
                            <a:srgbClr val="142735"/>
                          </a:solidFill>
                          <a:latin typeface="Arial"/>
                          <a:ea typeface="Arial"/>
                          <a:cs typeface="Arial"/>
                        </a:rPr>
                        <a:t>0.860-0.894</a:t>
                      </a:r>
                    </a:p>
                  </a:txBody>
                  <a:tcPr anchor="ctr"/>
                </a:tc>
                <a:extLst>
                  <a:ext uri="{0D108BD9-81ED-4DB2-BD59-A6C34878D82A}">
                    <a16:rowId xmlns:a16="http://schemas.microsoft.com/office/drawing/2014/main" val="10001"/>
                  </a:ext>
                </a:extLst>
              </a:tr>
              <a:tr h="476250">
                <a:tc>
                  <a:txBody>
                    <a:bodyPr/>
                    <a:lstStyle/>
                    <a:p>
                      <a:pPr algn="l"/>
                      <a:r>
                        <a:rPr sz="1013">
                          <a:solidFill>
                            <a:srgbClr val="142735"/>
                          </a:solidFill>
                          <a:latin typeface="Arial"/>
                          <a:ea typeface="Arial"/>
                          <a:cs typeface="Arial"/>
                        </a:rPr>
                        <a:t>Neonatal death</a:t>
                      </a:r>
                    </a:p>
                  </a:txBody>
                  <a:tcPr anchor="ctr"/>
                </a:tc>
                <a:tc>
                  <a:txBody>
                    <a:bodyPr/>
                    <a:lstStyle/>
                    <a:p>
                      <a:pPr algn="l"/>
                      <a:r>
                        <a:rPr sz="1013">
                          <a:solidFill>
                            <a:srgbClr val="142735"/>
                          </a:solidFill>
                          <a:latin typeface="Arial"/>
                          <a:ea typeface="Arial"/>
                          <a:cs typeface="Arial"/>
                        </a:rPr>
                        <a:t>865</a:t>
                      </a:r>
                    </a:p>
                  </a:txBody>
                  <a:tcPr anchor="ctr"/>
                </a:tc>
                <a:tc>
                  <a:txBody>
                    <a:bodyPr/>
                    <a:lstStyle/>
                    <a:p>
                      <a:pPr algn="l"/>
                      <a:r>
                        <a:rPr sz="1013">
                          <a:solidFill>
                            <a:srgbClr val="142735"/>
                          </a:solidFill>
                          <a:latin typeface="Arial"/>
                          <a:ea typeface="Arial"/>
                          <a:cs typeface="Arial"/>
                        </a:rPr>
                        <a:t>0.756-0.789</a:t>
                      </a:r>
                    </a:p>
                  </a:txBody>
                  <a:tcPr anchor="ctr"/>
                </a:tc>
                <a:tc>
                  <a:txBody>
                    <a:bodyPr/>
                    <a:lstStyle/>
                    <a:p>
                      <a:pPr algn="r"/>
                      <a:r>
                        <a:rPr sz="1013">
                          <a:solidFill>
                            <a:srgbClr val="142735"/>
                          </a:solidFill>
                          <a:latin typeface="Arial"/>
                          <a:ea typeface="Arial"/>
                          <a:cs typeface="Arial"/>
                        </a:rPr>
                        <a:t>0.183-0.237</a:t>
                      </a:r>
                    </a:p>
                  </a:txBody>
                  <a:tcPr anchor="ctr"/>
                </a:tc>
                <a:extLst>
                  <a:ext uri="{0D108BD9-81ED-4DB2-BD59-A6C34878D82A}">
                    <a16:rowId xmlns:a16="http://schemas.microsoft.com/office/drawing/2014/main" val="10002"/>
                  </a:ext>
                </a:extLst>
              </a:tr>
              <a:tr h="476250">
                <a:tc>
                  <a:txBody>
                    <a:bodyPr/>
                    <a:lstStyle/>
                    <a:p>
                      <a:pPr algn="l"/>
                      <a:r>
                        <a:rPr sz="1013">
                          <a:solidFill>
                            <a:srgbClr val="142735"/>
                          </a:solidFill>
                          <a:latin typeface="Arial"/>
                          <a:ea typeface="Arial"/>
                          <a:cs typeface="Arial"/>
                        </a:rPr>
                        <a:t>Stunted</a:t>
                      </a:r>
                    </a:p>
                  </a:txBody>
                  <a:tcPr anchor="ctr"/>
                </a:tc>
                <a:tc>
                  <a:txBody>
                    <a:bodyPr/>
                    <a:lstStyle/>
                    <a:p>
                      <a:pPr algn="l"/>
                      <a:r>
                        <a:rPr sz="1013">
                          <a:solidFill>
                            <a:srgbClr val="142735"/>
                          </a:solidFill>
                          <a:latin typeface="Arial"/>
                          <a:ea typeface="Arial"/>
                          <a:cs typeface="Arial"/>
                        </a:rPr>
                        <a:t>724</a:t>
                      </a:r>
                    </a:p>
                  </a:txBody>
                  <a:tcPr anchor="ctr"/>
                </a:tc>
                <a:tc>
                  <a:txBody>
                    <a:bodyPr/>
                    <a:lstStyle/>
                    <a:p>
                      <a:pPr algn="l"/>
                      <a:r>
                        <a:rPr sz="1013">
                          <a:solidFill>
                            <a:srgbClr val="142735"/>
                          </a:solidFill>
                          <a:latin typeface="Arial"/>
                          <a:ea typeface="Arial"/>
                          <a:cs typeface="Arial"/>
                        </a:rPr>
                        <a:t>0.687-0.730</a:t>
                      </a:r>
                    </a:p>
                  </a:txBody>
                  <a:tcPr anchor="ctr"/>
                </a:tc>
                <a:tc>
                  <a:txBody>
                    <a:bodyPr/>
                    <a:lstStyle/>
                    <a:p>
                      <a:pPr algn="r"/>
                      <a:r>
                        <a:rPr sz="1013">
                          <a:solidFill>
                            <a:srgbClr val="142735"/>
                          </a:solidFill>
                          <a:latin typeface="Arial"/>
                          <a:ea typeface="Arial"/>
                          <a:cs typeface="Arial"/>
                        </a:rPr>
                        <a:t>0.489-0.561</a:t>
                      </a:r>
                    </a:p>
                  </a:txBody>
                  <a:tcPr anchor="ctr"/>
                </a:tc>
                <a:extLst>
                  <a:ext uri="{0D108BD9-81ED-4DB2-BD59-A6C34878D82A}">
                    <a16:rowId xmlns:a16="http://schemas.microsoft.com/office/drawing/2014/main" val="10003"/>
                  </a:ext>
                </a:extLst>
              </a:tr>
              <a:tr h="476250">
                <a:tc>
                  <a:txBody>
                    <a:bodyPr/>
                    <a:lstStyle/>
                    <a:p>
                      <a:pPr algn="l"/>
                      <a:r>
                        <a:rPr sz="1013">
                          <a:solidFill>
                            <a:srgbClr val="142735"/>
                          </a:solidFill>
                          <a:latin typeface="Arial"/>
                          <a:ea typeface="Arial"/>
                          <a:cs typeface="Arial"/>
                        </a:rPr>
                        <a:t>Severe stunting</a:t>
                      </a:r>
                    </a:p>
                  </a:txBody>
                  <a:tcPr anchor="ctr"/>
                </a:tc>
                <a:tc>
                  <a:txBody>
                    <a:bodyPr/>
                    <a:lstStyle/>
                    <a:p>
                      <a:pPr algn="l"/>
                      <a:r>
                        <a:rPr sz="1013">
                          <a:solidFill>
                            <a:srgbClr val="142735"/>
                          </a:solidFill>
                          <a:latin typeface="Arial"/>
                          <a:ea typeface="Arial"/>
                          <a:cs typeface="Arial"/>
                        </a:rPr>
                        <a:t>179</a:t>
                      </a:r>
                    </a:p>
                  </a:txBody>
                  <a:tcPr anchor="ctr"/>
                </a:tc>
                <a:tc>
                  <a:txBody>
                    <a:bodyPr/>
                    <a:lstStyle/>
                    <a:p>
                      <a:pPr algn="l"/>
                      <a:r>
                        <a:rPr sz="1013">
                          <a:solidFill>
                            <a:srgbClr val="142735"/>
                          </a:solidFill>
                          <a:latin typeface="Arial"/>
                          <a:ea typeface="Arial"/>
                          <a:cs typeface="Arial"/>
                        </a:rPr>
                        <a:t>0.660-0.738</a:t>
                      </a:r>
                    </a:p>
                  </a:txBody>
                  <a:tcPr anchor="ctr"/>
                </a:tc>
                <a:tc>
                  <a:txBody>
                    <a:bodyPr/>
                    <a:lstStyle/>
                    <a:p>
                      <a:pPr algn="r"/>
                      <a:r>
                        <a:rPr sz="1013">
                          <a:solidFill>
                            <a:srgbClr val="142735"/>
                          </a:solidFill>
                          <a:latin typeface="Arial"/>
                          <a:ea typeface="Arial"/>
                          <a:cs typeface="Arial"/>
                        </a:rPr>
                        <a:t>0.144-0.246</a:t>
                      </a:r>
                    </a:p>
                  </a:txBody>
                  <a:tcPr anchor="ctr"/>
                </a:tc>
                <a:extLst>
                  <a:ext uri="{0D108BD9-81ED-4DB2-BD59-A6C34878D82A}">
                    <a16:rowId xmlns:a16="http://schemas.microsoft.com/office/drawing/2014/main" val="10004"/>
                  </a:ext>
                </a:extLst>
              </a:tr>
              <a:tr h="476250">
                <a:tc>
                  <a:txBody>
                    <a:bodyPr/>
                    <a:lstStyle/>
                    <a:p>
                      <a:pPr algn="l"/>
                      <a:r>
                        <a:rPr sz="1013">
                          <a:solidFill>
                            <a:srgbClr val="142735"/>
                          </a:solidFill>
                          <a:latin typeface="Arial"/>
                          <a:ea typeface="Arial"/>
                          <a:cs typeface="Arial"/>
                        </a:rPr>
                        <a:t>Underweight</a:t>
                      </a:r>
                    </a:p>
                  </a:txBody>
                  <a:tcPr anchor="ctr"/>
                </a:tc>
                <a:tc>
                  <a:txBody>
                    <a:bodyPr/>
                    <a:lstStyle/>
                    <a:p>
                      <a:pPr algn="l"/>
                      <a:r>
                        <a:rPr sz="1013">
                          <a:solidFill>
                            <a:srgbClr val="142735"/>
                          </a:solidFill>
                          <a:latin typeface="Arial"/>
                          <a:ea typeface="Arial"/>
                          <a:cs typeface="Arial"/>
                        </a:rPr>
                        <a:t>540</a:t>
                      </a:r>
                    </a:p>
                  </a:txBody>
                  <a:tcPr anchor="ctr"/>
                </a:tc>
                <a:tc>
                  <a:txBody>
                    <a:bodyPr/>
                    <a:lstStyle/>
                    <a:p>
                      <a:pPr algn="l"/>
                      <a:r>
                        <a:rPr sz="1013">
                          <a:solidFill>
                            <a:srgbClr val="142735"/>
                          </a:solidFill>
                          <a:latin typeface="Arial"/>
                          <a:ea typeface="Arial"/>
                          <a:cs typeface="Arial"/>
                        </a:rPr>
                        <a:t>0.661-0.712</a:t>
                      </a:r>
                    </a:p>
                  </a:txBody>
                  <a:tcPr anchor="ctr"/>
                </a:tc>
                <a:tc>
                  <a:txBody>
                    <a:bodyPr/>
                    <a:lstStyle/>
                    <a:p>
                      <a:pPr algn="r"/>
                      <a:r>
                        <a:rPr sz="1013">
                          <a:solidFill>
                            <a:srgbClr val="142735"/>
                          </a:solidFill>
                          <a:latin typeface="Arial"/>
                          <a:ea typeface="Arial"/>
                          <a:cs typeface="Arial"/>
                        </a:rPr>
                        <a:t>0.374-0.456</a:t>
                      </a:r>
                    </a:p>
                  </a:txBody>
                  <a:tcPr anchor="ctr"/>
                </a:tc>
                <a:extLst>
                  <a:ext uri="{0D108BD9-81ED-4DB2-BD59-A6C34878D82A}">
                    <a16:rowId xmlns:a16="http://schemas.microsoft.com/office/drawing/2014/main" val="10005"/>
                  </a:ext>
                </a:extLst>
              </a:tr>
            </a:tbl>
          </a:graphicData>
        </a:graphic>
      </p:graphicFrame>
      <p:pic>
        <p:nvPicPr>
          <p:cNvPr id="17" name="Picture 16"/>
          <p:cNvPicPr>
            <a:picLocks noChangeAspect="1"/>
          </p:cNvPicPr>
          <p:nvPr/>
        </p:nvPicPr>
        <p:blipFill>
          <a:blip r:embed="rId3"/>
          <a:stretch/>
        </p:blipFill>
        <p:spPr>
          <a:xfrm>
            <a:off x="6419850" y="2306101"/>
            <a:ext cx="5086350" cy="1483797"/>
          </a:xfrm>
          <a:prstGeom prst="roundRect">
            <a:avLst>
              <a:gd name="adj" fmla="val 4000"/>
            </a:avLst>
          </a:prstGeom>
        </p:spPr>
      </p:pic>
      <p:sp>
        <p:nvSpPr>
          <p:cNvPr id="7" name="Rounded Rectangle 6">
            <a:extLst>
              <a:ext uri="{FF2B5EF4-FFF2-40B4-BE49-F238E27FC236}">
                <a16:creationId xmlns:a16="http://schemas.microsoft.com/office/drawing/2014/main" id="{80CF0C9F-1A0A-4EDA-91BB-7B65305EFE02}"/>
              </a:ext>
            </a:extLst>
          </p:cNvPr>
          <p:cNvSpPr>
            <a:spLocks noGrp="1"/>
          </p:cNvSpPr>
          <p:nvPr/>
        </p:nvSpPr>
        <p:spPr>
          <a:xfrm>
            <a:off x="685800" y="4800600"/>
            <a:ext cx="10820400" cy="742950"/>
          </a:xfrm>
          <a:prstGeom prst="roundRect">
            <a:avLst>
              <a:gd name="adj" fmla="val 15385"/>
            </a:avLst>
          </a:prstGeom>
          <a:solidFill>
            <a:srgbClr val="FFFFFF"/>
          </a:solidFill>
          <a:ln w="9525">
            <a:solidFill>
              <a:srgbClr val="D9E2EC"/>
            </a:solidFill>
            <a:prstDash val="solid"/>
          </a:ln>
        </p:spPr>
      </p:sp>
      <p:sp>
        <p:nvSpPr>
          <p:cNvPr id="8" name="Rectangle 7">
            <a:extLst>
              <a:ext uri="{FF2B5EF4-FFF2-40B4-BE49-F238E27FC236}">
                <a16:creationId xmlns:a16="http://schemas.microsoft.com/office/drawing/2014/main" id="{832B52DB-4D9F-48F6-A434-C0DA7DE0C527}"/>
              </a:ext>
            </a:extLst>
          </p:cNvPr>
          <p:cNvSpPr>
            <a:spLocks noGrp="1"/>
          </p:cNvSpPr>
          <p:nvPr/>
        </p:nvSpPr>
        <p:spPr>
          <a:xfrm>
            <a:off x="895350" y="4972050"/>
            <a:ext cx="10382250" cy="400050"/>
          </a:xfrm>
          <a:prstGeom prst="rect">
            <a:avLst/>
          </a:prstGeom>
          <a:noFill/>
          <a:ln w="0">
            <a:noFill/>
          </a:ln>
        </p:spPr>
        <p:txBody>
          <a:bodyPr lIns="0" tIns="0" rIns="0" bIns="0" anchor="t">
            <a:normAutofit fontScale="95316"/>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400 bootstrap resamples show wider intervals for rare outcomes. Training on 2017-18 and testing on 2022 kept nutrition ranking relatively stable, but calibration drifted: neonatal predicted-to-observed ratio was 5.90x.</a:t>
            </a:r>
          </a:p>
        </p:txBody>
      </p:sp>
      <p:sp>
        <p:nvSpPr>
          <p:cNvPr id="9" name="Rectangle 8">
            <a:extLst>
              <a:ext uri="{FF2B5EF4-FFF2-40B4-BE49-F238E27FC236}">
                <a16:creationId xmlns:a16="http://schemas.microsoft.com/office/drawing/2014/main" id="{2C2FC0D0-BB10-4CE0-B2EE-386570809BF0}"/>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9:06</a:t>
            </a:r>
          </a:p>
        </p:txBody>
      </p:sp>
      <p:sp>
        <p:nvSpPr>
          <p:cNvPr id="10" name="Rectangle 9">
            <a:extLst>
              <a:ext uri="{FF2B5EF4-FFF2-40B4-BE49-F238E27FC236}">
                <a16:creationId xmlns:a16="http://schemas.microsoft.com/office/drawing/2014/main" id="{D187B7D0-8E99-4862-A997-3B7A761B31E6}"/>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204-209</a:t>
            </a:r>
          </a:p>
        </p:txBody>
      </p:sp>
      <p:sp>
        <p:nvSpPr>
          <p:cNvPr id="11" name="Rectangle 10">
            <a:extLst>
              <a:ext uri="{FF2B5EF4-FFF2-40B4-BE49-F238E27FC236}">
                <a16:creationId xmlns:a16="http://schemas.microsoft.com/office/drawing/2014/main" id="{C7163DD0-9AF9-4C82-9C45-06937CD58DAB}"/>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127302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E249A9C-EA19-4EA9-9988-D2D04B44FCD3}"/>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SUBGROUP PERFORMANCE AND EQUITY</a:t>
            </a:r>
          </a:p>
        </p:txBody>
      </p:sp>
      <p:sp>
        <p:nvSpPr>
          <p:cNvPr id="2" name="Rectangle 1">
            <a:extLst>
              <a:ext uri="{FF2B5EF4-FFF2-40B4-BE49-F238E27FC236}">
                <a16:creationId xmlns:a16="http://schemas.microsoft.com/office/drawing/2014/main" id="{AF91BE80-6A81-403A-8349-EAB57BEACD29}"/>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A global threshold does not affect every group equally</a:t>
            </a:r>
          </a:p>
        </p:txBody>
      </p:sp>
      <p:sp>
        <p:nvSpPr>
          <p:cNvPr id="3" name="Rectangle 2">
            <a:extLst>
              <a:ext uri="{FF2B5EF4-FFF2-40B4-BE49-F238E27FC236}">
                <a16:creationId xmlns:a16="http://schemas.microsoft.com/office/drawing/2014/main" id="{C68523C7-5680-438F-900F-591950F46BE7}"/>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15</a:t>
            </a:r>
          </a:p>
        </p:txBody>
      </p:sp>
      <p:sp>
        <p:nvSpPr>
          <p:cNvPr id="4" name="Straight Connector 3">
            <a:extLst>
              <a:ext uri="{FF2B5EF4-FFF2-40B4-BE49-F238E27FC236}">
                <a16:creationId xmlns:a16="http://schemas.microsoft.com/office/drawing/2014/main" id="{818F17A5-CD63-46C8-8BFD-9E2B30A622D6}"/>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0" name="Picture 19"/>
          <p:cNvPicPr>
            <a:picLocks noChangeAspect="1"/>
          </p:cNvPicPr>
          <p:nvPr/>
        </p:nvPicPr>
        <p:blipFill>
          <a:blip r:embed="rId3"/>
          <a:stretch/>
        </p:blipFill>
        <p:spPr>
          <a:xfrm>
            <a:off x="685800" y="2395744"/>
            <a:ext cx="6953250" cy="2028412"/>
          </a:xfrm>
          <a:prstGeom prst="roundRect">
            <a:avLst>
              <a:gd name="adj" fmla="val 3158"/>
            </a:avLst>
          </a:prstGeom>
        </p:spPr>
      </p:pic>
      <p:sp>
        <p:nvSpPr>
          <p:cNvPr id="6" name="Rounded Rectangle 5">
            <a:extLst>
              <a:ext uri="{FF2B5EF4-FFF2-40B4-BE49-F238E27FC236}">
                <a16:creationId xmlns:a16="http://schemas.microsoft.com/office/drawing/2014/main" id="{F8B6E69D-97F4-43FE-9540-6B68CF490C55}"/>
              </a:ext>
            </a:extLst>
          </p:cNvPr>
          <p:cNvSpPr>
            <a:spLocks noGrp="1"/>
          </p:cNvSpPr>
          <p:nvPr/>
        </p:nvSpPr>
        <p:spPr>
          <a:xfrm>
            <a:off x="8039100" y="1600200"/>
            <a:ext cx="3467100" cy="3619500"/>
          </a:xfrm>
          <a:prstGeom prst="roundRect">
            <a:avLst>
              <a:gd name="adj" fmla="val 4396"/>
            </a:avLst>
          </a:prstGeom>
          <a:solidFill>
            <a:srgbClr val="F9E5E5"/>
          </a:solidFill>
          <a:ln w="0">
            <a:noFill/>
            <a:prstDash val="solid"/>
          </a:ln>
        </p:spPr>
      </p:sp>
      <p:sp>
        <p:nvSpPr>
          <p:cNvPr id="7" name="Rectangle 6">
            <a:extLst>
              <a:ext uri="{FF2B5EF4-FFF2-40B4-BE49-F238E27FC236}">
                <a16:creationId xmlns:a16="http://schemas.microsoft.com/office/drawing/2014/main" id="{843ECC0C-C0C4-4188-B8AE-C0CCB19492EF}"/>
              </a:ext>
            </a:extLst>
          </p:cNvPr>
          <p:cNvSpPr>
            <a:spLocks noGrp="1"/>
          </p:cNvSpPr>
          <p:nvPr/>
        </p:nvSpPr>
        <p:spPr>
          <a:xfrm>
            <a:off x="8343900" y="1924050"/>
            <a:ext cx="2762250" cy="266700"/>
          </a:xfrm>
          <a:prstGeom prst="rect">
            <a:avLst/>
          </a:prstGeom>
          <a:noFill/>
          <a:ln w="0">
            <a:noFill/>
          </a:ln>
        </p:spPr>
        <p:txBody>
          <a:bodyPr lIns="0" tIns="0" rIns="0" bIns="0" anchor="t">
            <a:normAutofit/>
          </a:bodyPr>
          <a:lstStyle/>
          <a:p>
            <a:pPr algn="l">
              <a:lnSpc>
                <a:spcPct val="108000"/>
              </a:lnSpc>
              <a:buNone/>
              <a:defRPr sz="1500" b="1" i="0">
                <a:solidFill>
                  <a:srgbClr val="102A43"/>
                </a:solidFill>
                <a:latin typeface="Arial"/>
                <a:ea typeface="Arial"/>
                <a:cs typeface="Arial"/>
              </a:defRPr>
            </a:pPr>
            <a:r>
              <a:rPr sz="1500" b="1" i="0">
                <a:solidFill>
                  <a:srgbClr val="102A43"/>
                </a:solidFill>
                <a:latin typeface="Arial"/>
                <a:ea typeface="Arial"/>
                <a:cs typeface="Arial"/>
              </a:rPr>
              <a:t>The important distinction</a:t>
            </a:r>
          </a:p>
        </p:txBody>
      </p:sp>
      <p:sp>
        <p:nvSpPr>
          <p:cNvPr id="8" name="Rectangle 7">
            <a:extLst>
              <a:ext uri="{FF2B5EF4-FFF2-40B4-BE49-F238E27FC236}">
                <a16:creationId xmlns:a16="http://schemas.microsoft.com/office/drawing/2014/main" id="{F970B36D-3877-4A81-9DB8-27020A24E71B}"/>
              </a:ext>
            </a:extLst>
          </p:cNvPr>
          <p:cNvSpPr>
            <a:spLocks noGrp="1"/>
          </p:cNvSpPr>
          <p:nvPr/>
        </p:nvSpPr>
        <p:spPr>
          <a:xfrm>
            <a:off x="8343900" y="2457450"/>
            <a:ext cx="2000250" cy="209550"/>
          </a:xfrm>
          <a:prstGeom prst="rect">
            <a:avLst/>
          </a:prstGeom>
          <a:noFill/>
          <a:ln w="0">
            <a:noFill/>
          </a:ln>
        </p:spPr>
        <p:txBody>
          <a:bodyPr lIns="0" tIns="0" rIns="0" bIns="0" anchor="t">
            <a:normAutofit/>
          </a:bodyPr>
          <a:lstStyle/>
          <a:p>
            <a:pPr algn="l">
              <a:lnSpc>
                <a:spcPct val="108000"/>
              </a:lnSpc>
              <a:buNone/>
              <a:defRPr sz="1200" b="1" i="0">
                <a:solidFill>
                  <a:srgbClr val="52606D"/>
                </a:solidFill>
                <a:latin typeface="Arial"/>
                <a:ea typeface="Arial"/>
                <a:cs typeface="Arial"/>
              </a:defRPr>
            </a:pPr>
            <a:r>
              <a:rPr sz="1200" b="1" i="0">
                <a:solidFill>
                  <a:srgbClr val="52606D"/>
                </a:solidFill>
                <a:latin typeface="Arial"/>
                <a:ea typeface="Arial"/>
                <a:cs typeface="Arial"/>
              </a:rPr>
              <a:t>Discrimination</a:t>
            </a:r>
          </a:p>
        </p:txBody>
      </p:sp>
      <p:sp>
        <p:nvSpPr>
          <p:cNvPr id="9" name="Rectangle 8">
            <a:extLst>
              <a:ext uri="{FF2B5EF4-FFF2-40B4-BE49-F238E27FC236}">
                <a16:creationId xmlns:a16="http://schemas.microsoft.com/office/drawing/2014/main" id="{A0712B1C-AEFC-4054-A7C5-4E015BD976E1}"/>
              </a:ext>
            </a:extLst>
          </p:cNvPr>
          <p:cNvSpPr>
            <a:spLocks noGrp="1"/>
          </p:cNvSpPr>
          <p:nvPr/>
        </p:nvSpPr>
        <p:spPr>
          <a:xfrm>
            <a:off x="8343900" y="2733675"/>
            <a:ext cx="2762250" cy="400050"/>
          </a:xfrm>
          <a:prstGeom prst="rect">
            <a:avLst/>
          </a:prstGeom>
          <a:noFill/>
          <a:ln w="0">
            <a:noFill/>
          </a:ln>
        </p:spPr>
        <p:txBody>
          <a:bodyPr lIns="0" tIns="0" rIns="0" bIns="0" anchor="t">
            <a:normAutofit fontScale="95316"/>
          </a:bodyPr>
          <a:lstStyle/>
          <a:p>
            <a:pPr algn="l">
              <a:lnSpc>
                <a:spcPct val="108000"/>
              </a:lnSpc>
              <a:buNone/>
              <a:defRPr sz="1275" b="0" i="0">
                <a:solidFill>
                  <a:srgbClr val="142735"/>
                </a:solidFill>
                <a:latin typeface="Arial"/>
                <a:ea typeface="Arial"/>
                <a:cs typeface="Arial"/>
              </a:defRPr>
            </a:pPr>
            <a:r>
              <a:rPr sz="1275" b="0" i="0">
                <a:solidFill>
                  <a:srgbClr val="142735"/>
                </a:solidFill>
                <a:latin typeface="Arial"/>
                <a:ea typeface="Arial"/>
                <a:cs typeface="Arial"/>
              </a:rPr>
              <a:t>Within-group ROC-AUC was comparatively stable.</a:t>
            </a:r>
          </a:p>
        </p:txBody>
      </p:sp>
      <p:sp>
        <p:nvSpPr>
          <p:cNvPr id="10" name="Rectangle 9">
            <a:extLst>
              <a:ext uri="{FF2B5EF4-FFF2-40B4-BE49-F238E27FC236}">
                <a16:creationId xmlns:a16="http://schemas.microsoft.com/office/drawing/2014/main" id="{B786EE21-5F2D-4BEA-A001-8487B98BF25B}"/>
              </a:ext>
            </a:extLst>
          </p:cNvPr>
          <p:cNvSpPr>
            <a:spLocks noGrp="1"/>
          </p:cNvSpPr>
          <p:nvPr/>
        </p:nvSpPr>
        <p:spPr>
          <a:xfrm>
            <a:off x="8343900" y="3381375"/>
            <a:ext cx="2000250" cy="209550"/>
          </a:xfrm>
          <a:prstGeom prst="rect">
            <a:avLst/>
          </a:prstGeom>
          <a:noFill/>
          <a:ln w="0">
            <a:noFill/>
          </a:ln>
        </p:spPr>
        <p:txBody>
          <a:bodyPr lIns="0" tIns="0" rIns="0" bIns="0" anchor="t">
            <a:normAutofit/>
          </a:bodyPr>
          <a:lstStyle/>
          <a:p>
            <a:pPr algn="l">
              <a:lnSpc>
                <a:spcPct val="108000"/>
              </a:lnSpc>
              <a:buNone/>
              <a:defRPr sz="1200" b="1" i="0">
                <a:solidFill>
                  <a:srgbClr val="52606D"/>
                </a:solidFill>
                <a:latin typeface="Arial"/>
                <a:ea typeface="Arial"/>
                <a:cs typeface="Arial"/>
              </a:defRPr>
            </a:pPr>
            <a:r>
              <a:rPr sz="1200" b="1" i="0">
                <a:solidFill>
                  <a:srgbClr val="52606D"/>
                </a:solidFill>
                <a:latin typeface="Arial"/>
                <a:ea typeface="Arial"/>
                <a:cs typeface="Arial"/>
              </a:rPr>
              <a:t>Sensitivity</a:t>
            </a:r>
          </a:p>
        </p:txBody>
      </p:sp>
      <p:sp>
        <p:nvSpPr>
          <p:cNvPr id="11" name="Rectangle 10">
            <a:extLst>
              <a:ext uri="{FF2B5EF4-FFF2-40B4-BE49-F238E27FC236}">
                <a16:creationId xmlns:a16="http://schemas.microsoft.com/office/drawing/2014/main" id="{860081FB-2202-4A0C-95D2-E4259F78D6EB}"/>
              </a:ext>
            </a:extLst>
          </p:cNvPr>
          <p:cNvSpPr>
            <a:spLocks noGrp="1"/>
          </p:cNvSpPr>
          <p:nvPr/>
        </p:nvSpPr>
        <p:spPr>
          <a:xfrm>
            <a:off x="8343900" y="3657600"/>
            <a:ext cx="2762250" cy="666750"/>
          </a:xfrm>
          <a:prstGeom prst="rect">
            <a:avLst/>
          </a:prstGeom>
          <a:noFill/>
          <a:ln w="0">
            <a:noFill/>
          </a:ln>
        </p:spPr>
        <p:txBody>
          <a:bodyPr lIns="0" tIns="0" rIns="0" bIns="0" anchor="t">
            <a:normAutofit fontScale="95638"/>
          </a:bodyPr>
          <a:lstStyle/>
          <a:p>
            <a:pPr algn="l">
              <a:lnSpc>
                <a:spcPct val="108000"/>
              </a:lnSpc>
              <a:buNone/>
              <a:defRPr sz="1275" b="1" i="0">
                <a:solidFill>
                  <a:srgbClr val="C75C5C"/>
                </a:solidFill>
                <a:latin typeface="Arial"/>
                <a:ea typeface="Arial"/>
                <a:cs typeface="Arial"/>
              </a:defRPr>
            </a:pPr>
            <a:r>
              <a:rPr sz="1275" b="1" i="0">
                <a:solidFill>
                  <a:srgbClr val="C75C5C"/>
                </a:solidFill>
                <a:latin typeface="Arial"/>
                <a:ea typeface="Arial"/>
                <a:cs typeface="Arial"/>
              </a:rPr>
              <a:t>At one global cut-off, recall could range from 0.685 to 0.121 for stunting across the poorest to richest group.</a:t>
            </a:r>
          </a:p>
        </p:txBody>
      </p:sp>
      <p:sp>
        <p:nvSpPr>
          <p:cNvPr id="12" name="Rectangle 11">
            <a:extLst>
              <a:ext uri="{FF2B5EF4-FFF2-40B4-BE49-F238E27FC236}">
                <a16:creationId xmlns:a16="http://schemas.microsoft.com/office/drawing/2014/main" id="{48C869CA-D075-4526-AA1B-B3C85237A7F6}"/>
              </a:ext>
            </a:extLst>
          </p:cNvPr>
          <p:cNvSpPr>
            <a:spLocks noGrp="1"/>
          </p:cNvSpPr>
          <p:nvPr/>
        </p:nvSpPr>
        <p:spPr>
          <a:xfrm>
            <a:off x="685800" y="5619750"/>
            <a:ext cx="10668000" cy="266700"/>
          </a:xfrm>
          <a:prstGeom prst="rect">
            <a:avLst/>
          </a:prstGeom>
          <a:noFill/>
          <a:ln w="0">
            <a:noFill/>
          </a:ln>
        </p:spPr>
        <p:txBody>
          <a:bodyPr lIns="0" tIns="0" rIns="0" bIns="0" anchor="t">
            <a:normAutofit/>
          </a:bodyPr>
          <a:lstStyle/>
          <a:p>
            <a:pPr algn="l">
              <a:lnSpc>
                <a:spcPct val="108000"/>
              </a:lnSpc>
              <a:buNone/>
              <a:defRPr sz="1388" b="1" i="0">
                <a:solidFill>
                  <a:srgbClr val="0F766E"/>
                </a:solidFill>
                <a:latin typeface="Arial"/>
                <a:ea typeface="Arial"/>
                <a:cs typeface="Arial"/>
              </a:defRPr>
            </a:pPr>
            <a:r>
              <a:rPr sz="1388" b="1" i="0">
                <a:solidFill>
                  <a:srgbClr val="0F766E"/>
                </a:solidFill>
                <a:latin typeface="Arial"/>
                <a:ea typeface="Arial"/>
                <a:cs typeface="Arial"/>
              </a:rPr>
              <a:t>Report subgroup recall, consider stratified thresholds, and state whether prioritising poorer households is an intended policy.</a:t>
            </a:r>
          </a:p>
        </p:txBody>
      </p:sp>
      <p:sp>
        <p:nvSpPr>
          <p:cNvPr id="13" name="Rectangle 12">
            <a:extLst>
              <a:ext uri="{FF2B5EF4-FFF2-40B4-BE49-F238E27FC236}">
                <a16:creationId xmlns:a16="http://schemas.microsoft.com/office/drawing/2014/main" id="{8052E537-2B39-4E86-BB64-707A7F89029D}"/>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9:47</a:t>
            </a:r>
          </a:p>
        </p:txBody>
      </p:sp>
      <p:sp>
        <p:nvSpPr>
          <p:cNvPr id="14" name="Rectangle 13">
            <a:extLst>
              <a:ext uri="{FF2B5EF4-FFF2-40B4-BE49-F238E27FC236}">
                <a16:creationId xmlns:a16="http://schemas.microsoft.com/office/drawing/2014/main" id="{2502C642-55D6-4760-B2FC-F37904A7ECCC}"/>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210-212</a:t>
            </a:r>
          </a:p>
        </p:txBody>
      </p:sp>
      <p:sp>
        <p:nvSpPr>
          <p:cNvPr id="15" name="Rectangle 14">
            <a:extLst>
              <a:ext uri="{FF2B5EF4-FFF2-40B4-BE49-F238E27FC236}">
                <a16:creationId xmlns:a16="http://schemas.microsoft.com/office/drawing/2014/main" id="{F6BFEEC8-B917-4F3E-929C-8A77477A3BD8}"/>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761285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E32EFC8-507A-4109-944A-4237F630634D}"/>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EXPLAINABILITY</a:t>
            </a:r>
          </a:p>
        </p:txBody>
      </p:sp>
      <p:sp>
        <p:nvSpPr>
          <p:cNvPr id="2" name="Rectangle 1">
            <a:extLst>
              <a:ext uri="{FF2B5EF4-FFF2-40B4-BE49-F238E27FC236}">
                <a16:creationId xmlns:a16="http://schemas.microsoft.com/office/drawing/2014/main" id="{704B7029-C2FE-4461-A507-09896B04737B}"/>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Permutation importance shows reliance; SHAP shows direction</a:t>
            </a:r>
          </a:p>
        </p:txBody>
      </p:sp>
      <p:sp>
        <p:nvSpPr>
          <p:cNvPr id="3" name="Rectangle 2">
            <a:extLst>
              <a:ext uri="{FF2B5EF4-FFF2-40B4-BE49-F238E27FC236}">
                <a16:creationId xmlns:a16="http://schemas.microsoft.com/office/drawing/2014/main" id="{96638824-C13D-486F-AB24-537F2A27A561}"/>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16</a:t>
            </a:r>
          </a:p>
        </p:txBody>
      </p:sp>
      <p:sp>
        <p:nvSpPr>
          <p:cNvPr id="4" name="Straight Connector 3">
            <a:extLst>
              <a:ext uri="{FF2B5EF4-FFF2-40B4-BE49-F238E27FC236}">
                <a16:creationId xmlns:a16="http://schemas.microsoft.com/office/drawing/2014/main" id="{D9B69AE6-A75F-4CA0-93E9-A249128A3140}"/>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2" name="Picture 21"/>
          <p:cNvPicPr>
            <a:picLocks noChangeAspect="1"/>
          </p:cNvPicPr>
          <p:nvPr/>
        </p:nvPicPr>
        <p:blipFill>
          <a:blip r:embed="rId3"/>
          <a:stretch/>
        </p:blipFill>
        <p:spPr>
          <a:xfrm>
            <a:off x="1162234" y="1562100"/>
            <a:ext cx="4266832" cy="2428875"/>
          </a:xfrm>
          <a:prstGeom prst="roundRect">
            <a:avLst>
              <a:gd name="adj" fmla="val 4706"/>
            </a:avLst>
          </a:prstGeom>
        </p:spPr>
      </p:pic>
      <p:pic>
        <p:nvPicPr>
          <p:cNvPr id="23" name="Picture 22"/>
          <p:cNvPicPr>
            <a:picLocks noChangeAspect="1"/>
          </p:cNvPicPr>
          <p:nvPr/>
        </p:nvPicPr>
        <p:blipFill>
          <a:blip r:embed="rId4"/>
          <a:stretch/>
        </p:blipFill>
        <p:spPr>
          <a:xfrm>
            <a:off x="7649023" y="1562100"/>
            <a:ext cx="2380355" cy="2428875"/>
          </a:xfrm>
          <a:prstGeom prst="roundRect">
            <a:avLst>
              <a:gd name="adj" fmla="val 4706"/>
            </a:avLst>
          </a:prstGeom>
        </p:spPr>
      </p:pic>
      <p:sp>
        <p:nvSpPr>
          <p:cNvPr id="7" name="Rounded Rectangle 6">
            <a:extLst>
              <a:ext uri="{FF2B5EF4-FFF2-40B4-BE49-F238E27FC236}">
                <a16:creationId xmlns:a16="http://schemas.microsoft.com/office/drawing/2014/main" id="{07D3AECD-0555-4AC4-8496-2602EF068B6E}"/>
              </a:ext>
            </a:extLst>
          </p:cNvPr>
          <p:cNvSpPr>
            <a:spLocks noGrp="1"/>
          </p:cNvSpPr>
          <p:nvPr/>
        </p:nvSpPr>
        <p:spPr>
          <a:xfrm>
            <a:off x="685800" y="4267200"/>
            <a:ext cx="10820400" cy="1143000"/>
          </a:xfrm>
          <a:prstGeom prst="roundRect">
            <a:avLst>
              <a:gd name="adj" fmla="val 10000"/>
            </a:avLst>
          </a:prstGeom>
          <a:solidFill>
            <a:srgbClr val="FFFFFF"/>
          </a:solidFill>
          <a:ln w="9525">
            <a:solidFill>
              <a:srgbClr val="D9E2EC"/>
            </a:solidFill>
            <a:prstDash val="solid"/>
          </a:ln>
        </p:spPr>
      </p:sp>
      <p:sp>
        <p:nvSpPr>
          <p:cNvPr id="8" name="Rounded Rectangle 7">
            <a:extLst>
              <a:ext uri="{FF2B5EF4-FFF2-40B4-BE49-F238E27FC236}">
                <a16:creationId xmlns:a16="http://schemas.microsoft.com/office/drawing/2014/main" id="{6B050B47-D915-491B-86BA-9738E212E639}"/>
              </a:ext>
            </a:extLst>
          </p:cNvPr>
          <p:cNvSpPr>
            <a:spLocks noGrp="1"/>
          </p:cNvSpPr>
          <p:nvPr/>
        </p:nvSpPr>
        <p:spPr>
          <a:xfrm>
            <a:off x="914400" y="4495800"/>
            <a:ext cx="76200" cy="76200"/>
          </a:xfrm>
          <a:prstGeom prst="roundRect">
            <a:avLst>
              <a:gd name="adj" fmla="val 50000"/>
            </a:avLst>
          </a:prstGeom>
          <a:solidFill>
            <a:srgbClr val="0F766E"/>
          </a:solidFill>
          <a:ln w="0">
            <a:noFill/>
            <a:prstDash val="solid"/>
          </a:ln>
        </p:spPr>
      </p:sp>
      <p:sp>
        <p:nvSpPr>
          <p:cNvPr id="9" name="Rectangle 8">
            <a:extLst>
              <a:ext uri="{FF2B5EF4-FFF2-40B4-BE49-F238E27FC236}">
                <a16:creationId xmlns:a16="http://schemas.microsoft.com/office/drawing/2014/main" id="{EB3B480D-1AAC-447C-898A-20F37F168390}"/>
              </a:ext>
            </a:extLst>
          </p:cNvPr>
          <p:cNvSpPr>
            <a:spLocks noGrp="1"/>
          </p:cNvSpPr>
          <p:nvPr/>
        </p:nvSpPr>
        <p:spPr>
          <a:xfrm>
            <a:off x="1143000" y="4429125"/>
            <a:ext cx="10153650" cy="266700"/>
          </a:xfrm>
          <a:prstGeom prst="rect">
            <a:avLst/>
          </a:prstGeom>
          <a:noFill/>
          <a:ln w="0">
            <a:noFill/>
          </a:ln>
        </p:spPr>
        <p:txBody>
          <a:bodyPr lIns="0" tIns="0" rIns="0" bIns="0" anchor="t">
            <a:normAutofit/>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Permutation importance is measured on held-out data, so it reflects what generalises rather than what was memorised.</a:t>
            </a:r>
          </a:p>
        </p:txBody>
      </p:sp>
      <p:sp>
        <p:nvSpPr>
          <p:cNvPr id="10" name="Rounded Rectangle 9">
            <a:extLst>
              <a:ext uri="{FF2B5EF4-FFF2-40B4-BE49-F238E27FC236}">
                <a16:creationId xmlns:a16="http://schemas.microsoft.com/office/drawing/2014/main" id="{F60959A0-E61C-462E-B60A-AAB923A1F6BB}"/>
              </a:ext>
            </a:extLst>
          </p:cNvPr>
          <p:cNvSpPr>
            <a:spLocks noGrp="1"/>
          </p:cNvSpPr>
          <p:nvPr/>
        </p:nvSpPr>
        <p:spPr>
          <a:xfrm>
            <a:off x="914400" y="4791075"/>
            <a:ext cx="76200" cy="76200"/>
          </a:xfrm>
          <a:prstGeom prst="roundRect">
            <a:avLst>
              <a:gd name="adj" fmla="val 50000"/>
            </a:avLst>
          </a:prstGeom>
          <a:solidFill>
            <a:srgbClr val="0F766E"/>
          </a:solidFill>
          <a:ln w="0">
            <a:noFill/>
            <a:prstDash val="solid"/>
          </a:ln>
        </p:spPr>
      </p:sp>
      <p:sp>
        <p:nvSpPr>
          <p:cNvPr id="11" name="Rectangle 10">
            <a:extLst>
              <a:ext uri="{FF2B5EF4-FFF2-40B4-BE49-F238E27FC236}">
                <a16:creationId xmlns:a16="http://schemas.microsoft.com/office/drawing/2014/main" id="{316000B9-CDA0-4DE1-AEC5-F2C1FA05E4B0}"/>
              </a:ext>
            </a:extLst>
          </p:cNvPr>
          <p:cNvSpPr>
            <a:spLocks noGrp="1"/>
          </p:cNvSpPr>
          <p:nvPr/>
        </p:nvSpPr>
        <p:spPr>
          <a:xfrm>
            <a:off x="1143000" y="4724400"/>
            <a:ext cx="10153650" cy="266700"/>
          </a:xfrm>
          <a:prstGeom prst="rect">
            <a:avLst/>
          </a:prstGeom>
          <a:noFill/>
          <a:ln w="0">
            <a:noFill/>
          </a:ln>
        </p:spPr>
        <p:txBody>
          <a:bodyPr lIns="0" tIns="0" rIns="0" bIns="0" anchor="t">
            <a:normAutofit/>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SHAP dots show whether a high or low feature value pushes a record toward higher predicted risk.</a:t>
            </a:r>
          </a:p>
        </p:txBody>
      </p:sp>
      <p:sp>
        <p:nvSpPr>
          <p:cNvPr id="12" name="Rounded Rectangle 11">
            <a:extLst>
              <a:ext uri="{FF2B5EF4-FFF2-40B4-BE49-F238E27FC236}">
                <a16:creationId xmlns:a16="http://schemas.microsoft.com/office/drawing/2014/main" id="{C6D6386F-1AC6-4FFB-9E9B-1B435A57AED1}"/>
              </a:ext>
            </a:extLst>
          </p:cNvPr>
          <p:cNvSpPr>
            <a:spLocks noGrp="1"/>
          </p:cNvSpPr>
          <p:nvPr/>
        </p:nvSpPr>
        <p:spPr>
          <a:xfrm>
            <a:off x="914400" y="5086350"/>
            <a:ext cx="76200" cy="76200"/>
          </a:xfrm>
          <a:prstGeom prst="roundRect">
            <a:avLst>
              <a:gd name="adj" fmla="val 50000"/>
            </a:avLst>
          </a:prstGeom>
          <a:solidFill>
            <a:srgbClr val="0F766E"/>
          </a:solidFill>
          <a:ln w="0">
            <a:noFill/>
            <a:prstDash val="solid"/>
          </a:ln>
        </p:spPr>
      </p:sp>
      <p:sp>
        <p:nvSpPr>
          <p:cNvPr id="13" name="Rectangle 12">
            <a:extLst>
              <a:ext uri="{FF2B5EF4-FFF2-40B4-BE49-F238E27FC236}">
                <a16:creationId xmlns:a16="http://schemas.microsoft.com/office/drawing/2014/main" id="{6864BA7D-924B-4A64-86D0-6897EF7E7B81}"/>
              </a:ext>
            </a:extLst>
          </p:cNvPr>
          <p:cNvSpPr>
            <a:spLocks noGrp="1"/>
          </p:cNvSpPr>
          <p:nvPr/>
        </p:nvSpPr>
        <p:spPr>
          <a:xfrm>
            <a:off x="1143000" y="5019675"/>
            <a:ext cx="10153650" cy="266700"/>
          </a:xfrm>
          <a:prstGeom prst="rect">
            <a:avLst/>
          </a:prstGeom>
          <a:noFill/>
          <a:ln w="0">
            <a:noFill/>
          </a:ln>
        </p:spPr>
        <p:txBody>
          <a:bodyPr lIns="0" tIns="0" rIns="0" bIns="0" anchor="t">
            <a:normAutofit/>
          </a:bodyPr>
          <a:lstStyle/>
          <a:p>
            <a:pPr algn="l">
              <a:lnSpc>
                <a:spcPct val="103000"/>
              </a:lnSpc>
              <a:buNone/>
              <a:defRPr sz="1238" b="0" i="0">
                <a:solidFill>
                  <a:srgbClr val="142735"/>
                </a:solidFill>
                <a:latin typeface="Arial"/>
                <a:ea typeface="Arial"/>
                <a:cs typeface="Arial"/>
              </a:defRPr>
            </a:pPr>
            <a:r>
              <a:rPr sz="1238" b="0" i="0">
                <a:solidFill>
                  <a:srgbClr val="142735"/>
                </a:solidFill>
                <a:latin typeface="Arial"/>
                <a:ea typeface="Arial"/>
                <a:cs typeface="Arial"/>
              </a:rPr>
              <a:t>For the neonatal outcome, the fertility-accounting family was checked explicitly and should not return near the top.</a:t>
            </a:r>
          </a:p>
        </p:txBody>
      </p:sp>
      <p:sp>
        <p:nvSpPr>
          <p:cNvPr id="14" name="Rectangle 13">
            <a:extLst>
              <a:ext uri="{FF2B5EF4-FFF2-40B4-BE49-F238E27FC236}">
                <a16:creationId xmlns:a16="http://schemas.microsoft.com/office/drawing/2014/main" id="{7F362DBD-5706-43E7-960F-127595CA98A8}"/>
              </a:ext>
            </a:extLst>
          </p:cNvPr>
          <p:cNvSpPr>
            <a:spLocks noGrp="1"/>
          </p:cNvSpPr>
          <p:nvPr/>
        </p:nvSpPr>
        <p:spPr>
          <a:xfrm>
            <a:off x="685800" y="5676900"/>
            <a:ext cx="10668000" cy="247650"/>
          </a:xfrm>
          <a:prstGeom prst="rect">
            <a:avLst/>
          </a:prstGeom>
          <a:noFill/>
          <a:ln w="0">
            <a:noFill/>
          </a:ln>
        </p:spPr>
        <p:txBody>
          <a:bodyPr lIns="0" tIns="0" rIns="0" bIns="0" anchor="t">
            <a:normAutofit fontScale="90758"/>
          </a:bodyPr>
          <a:lstStyle/>
          <a:p>
            <a:pPr algn="l">
              <a:lnSpc>
                <a:spcPct val="108000"/>
              </a:lnSpc>
              <a:buNone/>
              <a:defRPr sz="1350" b="1" i="0">
                <a:solidFill>
                  <a:srgbClr val="102A43"/>
                </a:solidFill>
                <a:latin typeface="Arial"/>
                <a:ea typeface="Arial"/>
                <a:cs typeface="Arial"/>
              </a:defRPr>
            </a:pPr>
            <a:r>
              <a:rPr sz="1350" b="1" i="0">
                <a:solidFill>
                  <a:srgbClr val="102A43"/>
                </a:solidFill>
                <a:latin typeface="Arial"/>
                <a:ea typeface="Arial"/>
                <a:cs typeface="Arial"/>
              </a:rPr>
              <a:t>Examples from the notebook: height and weight features dominate nutrition outcomes; social and maternity variables matter for facility delivery.</a:t>
            </a:r>
          </a:p>
        </p:txBody>
      </p:sp>
      <p:sp>
        <p:nvSpPr>
          <p:cNvPr id="15" name="Rectangle 14">
            <a:extLst>
              <a:ext uri="{FF2B5EF4-FFF2-40B4-BE49-F238E27FC236}">
                <a16:creationId xmlns:a16="http://schemas.microsoft.com/office/drawing/2014/main" id="{39257D75-CEF0-4DD0-B133-084B284325E8}"/>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10:24</a:t>
            </a:r>
          </a:p>
        </p:txBody>
      </p:sp>
      <p:sp>
        <p:nvSpPr>
          <p:cNvPr id="16" name="Rectangle 15">
            <a:extLst>
              <a:ext uri="{FF2B5EF4-FFF2-40B4-BE49-F238E27FC236}">
                <a16:creationId xmlns:a16="http://schemas.microsoft.com/office/drawing/2014/main" id="{35FC37BB-43A7-43AD-A010-7FD1545A42E1}"/>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213-218</a:t>
            </a:r>
          </a:p>
        </p:txBody>
      </p:sp>
      <p:sp>
        <p:nvSpPr>
          <p:cNvPr id="17" name="Rectangle 16">
            <a:extLst>
              <a:ext uri="{FF2B5EF4-FFF2-40B4-BE49-F238E27FC236}">
                <a16:creationId xmlns:a16="http://schemas.microsoft.com/office/drawing/2014/main" id="{7D717C41-0C60-48A0-9048-7094047615B0}"/>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657103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AD8C910-E437-4168-B047-313B8B9E0C33}"/>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ADDITIONAL LEARNING VIEWS</a:t>
            </a:r>
          </a:p>
        </p:txBody>
      </p:sp>
      <p:sp>
        <p:nvSpPr>
          <p:cNvPr id="2" name="Rectangle 1">
            <a:extLst>
              <a:ext uri="{FF2B5EF4-FFF2-40B4-BE49-F238E27FC236}">
                <a16:creationId xmlns:a16="http://schemas.microsoft.com/office/drawing/2014/main" id="{9F4F8B7B-950A-4490-88BB-E8B9981E2659}"/>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The notebook also models time and shared child outcomes</a:t>
            </a:r>
          </a:p>
        </p:txBody>
      </p:sp>
      <p:sp>
        <p:nvSpPr>
          <p:cNvPr id="3" name="Rectangle 2">
            <a:extLst>
              <a:ext uri="{FF2B5EF4-FFF2-40B4-BE49-F238E27FC236}">
                <a16:creationId xmlns:a16="http://schemas.microsoft.com/office/drawing/2014/main" id="{31180C7E-5378-4B03-8D5B-FED8AD2AAD11}"/>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17</a:t>
            </a:r>
          </a:p>
        </p:txBody>
      </p:sp>
      <p:sp>
        <p:nvSpPr>
          <p:cNvPr id="4" name="Straight Connector 3">
            <a:extLst>
              <a:ext uri="{FF2B5EF4-FFF2-40B4-BE49-F238E27FC236}">
                <a16:creationId xmlns:a16="http://schemas.microsoft.com/office/drawing/2014/main" id="{1C3BD82A-978C-4432-B6E9-BBD161853EF8}"/>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0" name="Picture 19"/>
          <p:cNvPicPr>
            <a:picLocks noChangeAspect="1"/>
          </p:cNvPicPr>
          <p:nvPr/>
        </p:nvPicPr>
        <p:blipFill>
          <a:blip r:embed="rId3"/>
          <a:stretch/>
        </p:blipFill>
        <p:spPr>
          <a:xfrm>
            <a:off x="685800" y="2213808"/>
            <a:ext cx="5562600" cy="1668385"/>
          </a:xfrm>
          <a:prstGeom prst="roundRect">
            <a:avLst>
              <a:gd name="adj" fmla="val 4000"/>
            </a:avLst>
          </a:prstGeom>
        </p:spPr>
      </p:pic>
      <p:sp>
        <p:nvSpPr>
          <p:cNvPr id="6" name="Rounded Rectangle 5">
            <a:extLst>
              <a:ext uri="{FF2B5EF4-FFF2-40B4-BE49-F238E27FC236}">
                <a16:creationId xmlns:a16="http://schemas.microsoft.com/office/drawing/2014/main" id="{A9F0BF6D-9CA7-472A-918F-EBF3BB8B4C48}"/>
              </a:ext>
            </a:extLst>
          </p:cNvPr>
          <p:cNvSpPr>
            <a:spLocks noGrp="1"/>
          </p:cNvSpPr>
          <p:nvPr/>
        </p:nvSpPr>
        <p:spPr>
          <a:xfrm>
            <a:off x="6705600" y="1619250"/>
            <a:ext cx="4800600" cy="2857500"/>
          </a:xfrm>
          <a:prstGeom prst="roundRect">
            <a:avLst>
              <a:gd name="adj" fmla="val 5333"/>
            </a:avLst>
          </a:prstGeom>
          <a:solidFill>
            <a:srgbClr val="E5EEF6"/>
          </a:solidFill>
          <a:ln w="0">
            <a:noFill/>
            <a:prstDash val="solid"/>
          </a:ln>
        </p:spPr>
      </p:sp>
      <p:sp>
        <p:nvSpPr>
          <p:cNvPr id="7" name="Rectangle 6">
            <a:extLst>
              <a:ext uri="{FF2B5EF4-FFF2-40B4-BE49-F238E27FC236}">
                <a16:creationId xmlns:a16="http://schemas.microsoft.com/office/drawing/2014/main" id="{F267B895-C7E5-409C-9C92-A0927E4E1F05}"/>
              </a:ext>
            </a:extLst>
          </p:cNvPr>
          <p:cNvSpPr>
            <a:spLocks noGrp="1"/>
          </p:cNvSpPr>
          <p:nvPr/>
        </p:nvSpPr>
        <p:spPr>
          <a:xfrm>
            <a:off x="6991350" y="1905000"/>
            <a:ext cx="2857500" cy="228600"/>
          </a:xfrm>
          <a:prstGeom prst="rect">
            <a:avLst/>
          </a:prstGeom>
          <a:noFill/>
          <a:ln w="0">
            <a:noFill/>
          </a:ln>
        </p:spPr>
        <p:txBody>
          <a:bodyPr lIns="0" tIns="0" rIns="0" bIns="0" anchor="t">
            <a:normAutofit fontScale="97466" lnSpcReduction="10000"/>
          </a:bodyPr>
          <a:lstStyle/>
          <a:p>
            <a:pPr algn="l">
              <a:lnSpc>
                <a:spcPct val="108000"/>
              </a:lnSpc>
              <a:buNone/>
              <a:defRPr sz="1425" b="1" i="0">
                <a:solidFill>
                  <a:srgbClr val="102A43"/>
                </a:solidFill>
                <a:latin typeface="Arial"/>
                <a:ea typeface="Arial"/>
                <a:cs typeface="Arial"/>
              </a:defRPr>
            </a:pPr>
            <a:r>
              <a:rPr sz="1425" b="1" i="0">
                <a:solidFill>
                  <a:srgbClr val="102A43"/>
                </a:solidFill>
                <a:latin typeface="Arial"/>
                <a:ea typeface="Arial"/>
                <a:cs typeface="Arial"/>
              </a:rPr>
              <a:t>Time-to-event view</a:t>
            </a:r>
          </a:p>
        </p:txBody>
      </p:sp>
      <p:sp>
        <p:nvSpPr>
          <p:cNvPr id="8" name="Rectangle 7">
            <a:extLst>
              <a:ext uri="{FF2B5EF4-FFF2-40B4-BE49-F238E27FC236}">
                <a16:creationId xmlns:a16="http://schemas.microsoft.com/office/drawing/2014/main" id="{A9FEC06F-1D35-42A6-A185-E987B5B20E84}"/>
              </a:ext>
            </a:extLst>
          </p:cNvPr>
          <p:cNvSpPr>
            <a:spLocks noGrp="1"/>
          </p:cNvSpPr>
          <p:nvPr/>
        </p:nvSpPr>
        <p:spPr>
          <a:xfrm>
            <a:off x="6991350" y="2305050"/>
            <a:ext cx="4095750" cy="666750"/>
          </a:xfrm>
          <a:prstGeom prst="rect">
            <a:avLst/>
          </a:prstGeom>
          <a:noFill/>
          <a:ln w="0">
            <a:noFill/>
          </a:ln>
        </p:spPr>
        <p:txBody>
          <a:bodyPr lIns="0" tIns="0" rIns="0" bIns="0" anchor="t">
            <a:normAutofit/>
          </a:bodyPr>
          <a:lstStyle/>
          <a:p>
            <a:pPr algn="l">
              <a:lnSpc>
                <a:spcPct val="110000"/>
              </a:lnSpc>
              <a:buNone/>
              <a:defRPr sz="1275" b="0" i="0">
                <a:solidFill>
                  <a:srgbClr val="142735"/>
                </a:solidFill>
                <a:latin typeface="Arial"/>
                <a:ea typeface="Arial"/>
                <a:cs typeface="Arial"/>
              </a:defRPr>
            </a:pPr>
            <a:r>
              <a:rPr sz="1275" b="0" i="0">
                <a:solidFill>
                  <a:srgbClr val="142735"/>
                </a:solidFill>
                <a:latin typeface="Arial"/>
                <a:ea typeface="Arial"/>
                <a:cs typeface="Arial"/>
              </a:rPr>
              <a:t>A person-period model expands 104,025 births to 388,016 interval rows and handles right censoring correctly.</a:t>
            </a:r>
          </a:p>
        </p:txBody>
      </p:sp>
      <p:sp>
        <p:nvSpPr>
          <p:cNvPr id="9" name="Rectangle 8">
            <a:extLst>
              <a:ext uri="{FF2B5EF4-FFF2-40B4-BE49-F238E27FC236}">
                <a16:creationId xmlns:a16="http://schemas.microsoft.com/office/drawing/2014/main" id="{FC73F18F-63EF-48FD-A46D-9CF6A04072D5}"/>
              </a:ext>
            </a:extLst>
          </p:cNvPr>
          <p:cNvSpPr>
            <a:spLocks noGrp="1"/>
          </p:cNvSpPr>
          <p:nvPr/>
        </p:nvSpPr>
        <p:spPr>
          <a:xfrm>
            <a:off x="6991350" y="3219450"/>
            <a:ext cx="2381250" cy="209550"/>
          </a:xfrm>
          <a:prstGeom prst="rect">
            <a:avLst/>
          </a:prstGeom>
          <a:noFill/>
          <a:ln w="0">
            <a:noFill/>
          </a:ln>
        </p:spPr>
        <p:txBody>
          <a:bodyPr lIns="0" tIns="0" rIns="0" bIns="0" anchor="t">
            <a:normAutofit/>
          </a:bodyPr>
          <a:lstStyle/>
          <a:p>
            <a:pPr algn="l">
              <a:lnSpc>
                <a:spcPct val="108000"/>
              </a:lnSpc>
              <a:buNone/>
              <a:defRPr sz="1200" b="1" i="0">
                <a:solidFill>
                  <a:srgbClr val="0F766E"/>
                </a:solidFill>
                <a:latin typeface="Arial"/>
                <a:ea typeface="Arial"/>
                <a:cs typeface="Arial"/>
              </a:defRPr>
            </a:pPr>
            <a:r>
              <a:rPr sz="1200" b="1" i="0">
                <a:solidFill>
                  <a:srgbClr val="0F766E"/>
                </a:solidFill>
                <a:latin typeface="Arial"/>
                <a:ea typeface="Arial"/>
                <a:cs typeface="Arial"/>
              </a:rPr>
              <a:t>Hazard is front-loaded:</a:t>
            </a:r>
          </a:p>
        </p:txBody>
      </p:sp>
      <p:sp>
        <p:nvSpPr>
          <p:cNvPr id="10" name="Rectangle 9">
            <a:extLst>
              <a:ext uri="{FF2B5EF4-FFF2-40B4-BE49-F238E27FC236}">
                <a16:creationId xmlns:a16="http://schemas.microsoft.com/office/drawing/2014/main" id="{C59366E9-C47C-4156-BA31-7FB49D442BD2}"/>
              </a:ext>
            </a:extLst>
          </p:cNvPr>
          <p:cNvSpPr>
            <a:spLocks noGrp="1"/>
          </p:cNvSpPr>
          <p:nvPr/>
        </p:nvSpPr>
        <p:spPr>
          <a:xfrm>
            <a:off x="6991350" y="3524250"/>
            <a:ext cx="2857500" cy="704850"/>
          </a:xfrm>
          <a:prstGeom prst="rect">
            <a:avLst/>
          </a:prstGeom>
          <a:noFill/>
          <a:ln w="0">
            <a:noFill/>
          </a:ln>
        </p:spPr>
        <p:txBody>
          <a:bodyPr lIns="0" tIns="0" rIns="0" bIns="0" anchor="t">
            <a:normAutofit/>
          </a:bodyPr>
          <a:lstStyle/>
          <a:p>
            <a:pPr algn="l">
              <a:lnSpc>
                <a:spcPct val="110000"/>
              </a:lnSpc>
              <a:buNone/>
              <a:defRPr sz="1275" b="0" i="0">
                <a:solidFill>
                  <a:srgbClr val="52606D"/>
                </a:solidFill>
                <a:latin typeface="Arial"/>
                <a:ea typeface="Arial"/>
                <a:cs typeface="Arial"/>
              </a:defRPr>
            </a:pPr>
            <a:r>
              <a:rPr sz="1275" b="0" i="0">
                <a:solidFill>
                  <a:srgbClr val="52606D"/>
                </a:solidFill>
                <a:latin typeface="Arial"/>
                <a:ea typeface="Arial"/>
                <a:cs typeface="Arial"/>
              </a:rPr>
              <a:t>3.99% in month 0-1</a:t>
            </a:r>
          </a:p>
          <a:p>
            <a:pPr algn="l">
              <a:lnSpc>
                <a:spcPct val="110000"/>
              </a:lnSpc>
              <a:buNone/>
              <a:defRPr sz="1275" b="0" i="0">
                <a:solidFill>
                  <a:srgbClr val="52606D"/>
                </a:solidFill>
                <a:latin typeface="Arial"/>
                <a:ea typeface="Arial"/>
                <a:cs typeface="Arial"/>
              </a:defRPr>
            </a:pPr>
            <a:r>
              <a:rPr sz="1275" b="0" i="0">
                <a:solidFill>
                  <a:srgbClr val="52606D"/>
                </a:solidFill>
                <a:latin typeface="Arial"/>
                <a:ea typeface="Arial"/>
                <a:cs typeface="Arial"/>
              </a:rPr>
              <a:t>1.49% in months 1-12</a:t>
            </a:r>
          </a:p>
          <a:p>
            <a:pPr algn="l">
              <a:lnSpc>
                <a:spcPct val="110000"/>
              </a:lnSpc>
              <a:buNone/>
              <a:defRPr sz="1275" b="0" i="0">
                <a:solidFill>
                  <a:srgbClr val="52606D"/>
                </a:solidFill>
                <a:latin typeface="Arial"/>
                <a:ea typeface="Arial"/>
                <a:cs typeface="Arial"/>
              </a:defRPr>
            </a:pPr>
            <a:r>
              <a:rPr sz="1275" b="0" i="0">
                <a:solidFill>
                  <a:srgbClr val="52606D"/>
                </a:solidFill>
                <a:latin typeface="Arial"/>
                <a:ea typeface="Arial"/>
                <a:cs typeface="Arial"/>
              </a:rPr>
              <a:t>0.46% in months 12-24</a:t>
            </a:r>
          </a:p>
        </p:txBody>
      </p:sp>
      <p:sp>
        <p:nvSpPr>
          <p:cNvPr id="11" name="Rounded Rectangle 10">
            <a:extLst>
              <a:ext uri="{FF2B5EF4-FFF2-40B4-BE49-F238E27FC236}">
                <a16:creationId xmlns:a16="http://schemas.microsoft.com/office/drawing/2014/main" id="{1AE6E7F1-ED83-44B2-A8F4-3E1381D3ACAF}"/>
              </a:ext>
            </a:extLst>
          </p:cNvPr>
          <p:cNvSpPr>
            <a:spLocks noGrp="1"/>
          </p:cNvSpPr>
          <p:nvPr/>
        </p:nvSpPr>
        <p:spPr>
          <a:xfrm>
            <a:off x="685800" y="4838700"/>
            <a:ext cx="10820400" cy="723900"/>
          </a:xfrm>
          <a:prstGeom prst="roundRect">
            <a:avLst>
              <a:gd name="adj" fmla="val 15789"/>
            </a:avLst>
          </a:prstGeom>
          <a:solidFill>
            <a:srgbClr val="FEF3C7"/>
          </a:solidFill>
          <a:ln w="0">
            <a:noFill/>
            <a:prstDash val="solid"/>
          </a:ln>
        </p:spPr>
      </p:sp>
      <p:sp>
        <p:nvSpPr>
          <p:cNvPr id="12" name="Rectangle 11">
            <a:extLst>
              <a:ext uri="{FF2B5EF4-FFF2-40B4-BE49-F238E27FC236}">
                <a16:creationId xmlns:a16="http://schemas.microsoft.com/office/drawing/2014/main" id="{8B7EFD81-7F0E-4A77-AD65-16D15753B7D2}"/>
              </a:ext>
            </a:extLst>
          </p:cNvPr>
          <p:cNvSpPr>
            <a:spLocks noGrp="1"/>
          </p:cNvSpPr>
          <p:nvPr/>
        </p:nvSpPr>
        <p:spPr>
          <a:xfrm>
            <a:off x="895350" y="5010150"/>
            <a:ext cx="10382250" cy="381000"/>
          </a:xfrm>
          <a:prstGeom prst="rect">
            <a:avLst/>
          </a:prstGeom>
          <a:noFill/>
          <a:ln w="0">
            <a:noFill/>
          </a:ln>
        </p:spPr>
        <p:txBody>
          <a:bodyPr lIns="0" tIns="0" rIns="0" bIns="0" anchor="t">
            <a:normAutofit fontScale="90777" lnSpcReduction="10000"/>
          </a:bodyPr>
          <a:lstStyle/>
          <a:p>
            <a:pPr algn="l">
              <a:lnSpc>
                <a:spcPct val="108000"/>
              </a:lnSpc>
              <a:buNone/>
              <a:defRPr sz="1275" b="1" i="0">
                <a:solidFill>
                  <a:srgbClr val="102A43"/>
                </a:solidFill>
                <a:latin typeface="Arial"/>
                <a:ea typeface="Arial"/>
                <a:cs typeface="Arial"/>
              </a:defRPr>
            </a:pPr>
            <a:r>
              <a:rPr sz="1275" b="1" i="0">
                <a:solidFill>
                  <a:srgbClr val="102A43"/>
                </a:solidFill>
                <a:latin typeface="Arial"/>
                <a:ea typeface="Arial"/>
                <a:cs typeface="Arial"/>
              </a:rPr>
              <a:t>Multi-task learning shared a trunk across stunting, severe stunting and underweight. Pairwise outcome association was moderate, but the shared model improved only about 0.010 over its ablation and remained below the best single-task model.</a:t>
            </a:r>
          </a:p>
        </p:txBody>
      </p:sp>
      <p:sp>
        <p:nvSpPr>
          <p:cNvPr id="13" name="Rectangle 12">
            <a:extLst>
              <a:ext uri="{FF2B5EF4-FFF2-40B4-BE49-F238E27FC236}">
                <a16:creationId xmlns:a16="http://schemas.microsoft.com/office/drawing/2014/main" id="{6FE6FB46-6B1B-40D6-9EAF-06B19B2556C4}"/>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11:01</a:t>
            </a:r>
          </a:p>
        </p:txBody>
      </p:sp>
      <p:sp>
        <p:nvSpPr>
          <p:cNvPr id="14" name="Rectangle 13">
            <a:extLst>
              <a:ext uri="{FF2B5EF4-FFF2-40B4-BE49-F238E27FC236}">
                <a16:creationId xmlns:a16="http://schemas.microsoft.com/office/drawing/2014/main" id="{15181F5C-4791-4B4F-AC8F-FF6B5ED1CF98}"/>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219-224</a:t>
            </a:r>
          </a:p>
        </p:txBody>
      </p:sp>
      <p:sp>
        <p:nvSpPr>
          <p:cNvPr id="15" name="Rectangle 14">
            <a:extLst>
              <a:ext uri="{FF2B5EF4-FFF2-40B4-BE49-F238E27FC236}">
                <a16:creationId xmlns:a16="http://schemas.microsoft.com/office/drawing/2014/main" id="{B2355E55-DDC2-4476-BF81-F3FB3FE8D6D9}"/>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285059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5651E4A-24F3-4AF0-AFE0-939365CE8639}"/>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UNSUPERVISED LEARNING</a:t>
            </a:r>
          </a:p>
        </p:txBody>
      </p:sp>
      <p:sp>
        <p:nvSpPr>
          <p:cNvPr id="2" name="Rectangle 1">
            <a:extLst>
              <a:ext uri="{FF2B5EF4-FFF2-40B4-BE49-F238E27FC236}">
                <a16:creationId xmlns:a16="http://schemas.microsoft.com/office/drawing/2014/main" id="{322262BB-7B00-49A6-8F6D-E101CA6A029E}"/>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The population is a diffuse cloud, not a set of natural risk classes</a:t>
            </a:r>
          </a:p>
        </p:txBody>
      </p:sp>
      <p:sp>
        <p:nvSpPr>
          <p:cNvPr id="3" name="Rectangle 2">
            <a:extLst>
              <a:ext uri="{FF2B5EF4-FFF2-40B4-BE49-F238E27FC236}">
                <a16:creationId xmlns:a16="http://schemas.microsoft.com/office/drawing/2014/main" id="{972BA1E9-97B5-4D68-9BE2-F29B2749BEA0}"/>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18</a:t>
            </a:r>
          </a:p>
        </p:txBody>
      </p:sp>
      <p:sp>
        <p:nvSpPr>
          <p:cNvPr id="4" name="Straight Connector 3">
            <a:extLst>
              <a:ext uri="{FF2B5EF4-FFF2-40B4-BE49-F238E27FC236}">
                <a16:creationId xmlns:a16="http://schemas.microsoft.com/office/drawing/2014/main" id="{A2B30729-E85A-47AC-885C-5ECA9876F438}"/>
              </a:ext>
            </a:extLst>
          </p:cNvPr>
          <p:cNvSpPr>
            <a:spLocks noGrp="1"/>
          </p:cNvSpPr>
          <p:nvPr/>
        </p:nvSpPr>
        <p:spPr>
          <a:xfrm>
            <a:off x="685800" y="1181100"/>
            <a:ext cx="10820400" cy="0"/>
          </a:xfrm>
          <a:prstGeom prst="line">
            <a:avLst/>
          </a:prstGeom>
          <a:noFill/>
          <a:ln w="9525">
            <a:solidFill>
              <a:srgbClr val="D9E2EC"/>
            </a:solidFill>
            <a:prstDash val="solid"/>
          </a:ln>
        </p:spPr>
      </p:sp>
      <p:pic>
        <p:nvPicPr>
          <p:cNvPr id="24" name="Picture 23"/>
          <p:cNvPicPr>
            <a:picLocks noChangeAspect="1"/>
          </p:cNvPicPr>
          <p:nvPr/>
        </p:nvPicPr>
        <p:blipFill>
          <a:blip r:embed="rId3"/>
          <a:stretch/>
        </p:blipFill>
        <p:spPr>
          <a:xfrm>
            <a:off x="685800" y="1874723"/>
            <a:ext cx="5219700" cy="1851254"/>
          </a:xfrm>
          <a:prstGeom prst="roundRect">
            <a:avLst>
              <a:gd name="adj" fmla="val 4615"/>
            </a:avLst>
          </a:prstGeom>
        </p:spPr>
      </p:pic>
      <p:pic>
        <p:nvPicPr>
          <p:cNvPr id="25" name="Picture 24"/>
          <p:cNvPicPr>
            <a:picLocks noChangeAspect="1"/>
          </p:cNvPicPr>
          <p:nvPr/>
        </p:nvPicPr>
        <p:blipFill>
          <a:blip r:embed="rId4"/>
          <a:stretch/>
        </p:blipFill>
        <p:spPr>
          <a:xfrm>
            <a:off x="6172200" y="1866900"/>
            <a:ext cx="5334000" cy="1866900"/>
          </a:xfrm>
          <a:prstGeom prst="roundRect">
            <a:avLst>
              <a:gd name="adj" fmla="val 4615"/>
            </a:avLst>
          </a:prstGeom>
        </p:spPr>
      </p:pic>
      <p:sp>
        <p:nvSpPr>
          <p:cNvPr id="7" name="Rounded Rectangle 6">
            <a:extLst>
              <a:ext uri="{FF2B5EF4-FFF2-40B4-BE49-F238E27FC236}">
                <a16:creationId xmlns:a16="http://schemas.microsoft.com/office/drawing/2014/main" id="{02F0354C-028F-429F-8244-FED1ADFAF6BA}"/>
              </a:ext>
            </a:extLst>
          </p:cNvPr>
          <p:cNvSpPr>
            <a:spLocks noGrp="1"/>
          </p:cNvSpPr>
          <p:nvPr/>
        </p:nvSpPr>
        <p:spPr>
          <a:xfrm>
            <a:off x="685800" y="4305300"/>
            <a:ext cx="10820400" cy="1200150"/>
          </a:xfrm>
          <a:prstGeom prst="roundRect">
            <a:avLst>
              <a:gd name="adj" fmla="val 9524"/>
            </a:avLst>
          </a:prstGeom>
          <a:solidFill>
            <a:srgbClr val="FFFFFF"/>
          </a:solidFill>
          <a:ln w="9525">
            <a:solidFill>
              <a:srgbClr val="D9E2EC"/>
            </a:solidFill>
            <a:prstDash val="solid"/>
          </a:ln>
        </p:spPr>
      </p:sp>
      <p:sp>
        <p:nvSpPr>
          <p:cNvPr id="8" name="Rectangle 7">
            <a:extLst>
              <a:ext uri="{FF2B5EF4-FFF2-40B4-BE49-F238E27FC236}">
                <a16:creationId xmlns:a16="http://schemas.microsoft.com/office/drawing/2014/main" id="{62370991-E58D-4C6A-A4AA-E504F1341572}"/>
              </a:ext>
            </a:extLst>
          </p:cNvPr>
          <p:cNvSpPr>
            <a:spLocks noGrp="1"/>
          </p:cNvSpPr>
          <p:nvPr/>
        </p:nvSpPr>
        <p:spPr>
          <a:xfrm>
            <a:off x="914400" y="4476750"/>
            <a:ext cx="1190625" cy="209550"/>
          </a:xfrm>
          <a:prstGeom prst="rect">
            <a:avLst/>
          </a:prstGeom>
          <a:noFill/>
          <a:ln w="0">
            <a:noFill/>
          </a:ln>
        </p:spPr>
        <p:txBody>
          <a:bodyPr lIns="0" tIns="0" rIns="0" bIns="0" anchor="t">
            <a:normAutofit/>
          </a:bodyPr>
          <a:lstStyle/>
          <a:p>
            <a:pPr algn="l">
              <a:lnSpc>
                <a:spcPct val="108000"/>
              </a:lnSpc>
              <a:buNone/>
              <a:defRPr sz="1163" b="1" i="0">
                <a:solidFill>
                  <a:srgbClr val="0F766E"/>
                </a:solidFill>
                <a:latin typeface="Arial"/>
                <a:ea typeface="Arial"/>
                <a:cs typeface="Arial"/>
              </a:defRPr>
            </a:pPr>
            <a:r>
              <a:rPr sz="1163" b="1" i="0">
                <a:solidFill>
                  <a:srgbClr val="0F766E"/>
                </a:solidFill>
                <a:latin typeface="Arial"/>
                <a:ea typeface="Arial"/>
                <a:cs typeface="Arial"/>
              </a:rPr>
              <a:t>PCA</a:t>
            </a:r>
          </a:p>
        </p:txBody>
      </p:sp>
      <p:sp>
        <p:nvSpPr>
          <p:cNvPr id="9" name="Rectangle 8">
            <a:extLst>
              <a:ext uri="{FF2B5EF4-FFF2-40B4-BE49-F238E27FC236}">
                <a16:creationId xmlns:a16="http://schemas.microsoft.com/office/drawing/2014/main" id="{F8C82C65-F01C-4825-843D-C55621AE4D9C}"/>
              </a:ext>
            </a:extLst>
          </p:cNvPr>
          <p:cNvSpPr>
            <a:spLocks noGrp="1"/>
          </p:cNvSpPr>
          <p:nvPr/>
        </p:nvSpPr>
        <p:spPr>
          <a:xfrm>
            <a:off x="2171700" y="4476750"/>
            <a:ext cx="3714750" cy="209550"/>
          </a:xfrm>
          <a:prstGeom prst="rect">
            <a:avLst/>
          </a:prstGeom>
          <a:noFill/>
          <a:ln w="0">
            <a:noFill/>
          </a:ln>
        </p:spPr>
        <p:txBody>
          <a:bodyPr lIns="0" tIns="0" rIns="0" bIns="0" anchor="t">
            <a:normAutofit/>
          </a:bodyPr>
          <a:lstStyle/>
          <a:p>
            <a:pPr algn="l">
              <a:lnSpc>
                <a:spcPct val="108000"/>
              </a:lnSpc>
              <a:buNone/>
              <a:defRPr sz="1163" b="0" i="0">
                <a:solidFill>
                  <a:srgbClr val="142735"/>
                </a:solidFill>
                <a:latin typeface="Arial"/>
                <a:ea typeface="Arial"/>
                <a:cs typeface="Arial"/>
              </a:defRPr>
            </a:pPr>
            <a:r>
              <a:rPr sz="1163" b="0" i="0">
                <a:solidFill>
                  <a:srgbClr val="142735"/>
                </a:solidFill>
                <a:latin typeface="Arial"/>
                <a:ea typeface="Arial"/>
                <a:cs typeface="Arial"/>
              </a:rPr>
              <a:t>36.6% of variance in two components</a:t>
            </a:r>
          </a:p>
        </p:txBody>
      </p:sp>
      <p:sp>
        <p:nvSpPr>
          <p:cNvPr id="10" name="Rectangle 9">
            <a:extLst>
              <a:ext uri="{FF2B5EF4-FFF2-40B4-BE49-F238E27FC236}">
                <a16:creationId xmlns:a16="http://schemas.microsoft.com/office/drawing/2014/main" id="{E8747A51-4834-4FDE-9059-6AF90E9832A4}"/>
              </a:ext>
            </a:extLst>
          </p:cNvPr>
          <p:cNvSpPr>
            <a:spLocks noGrp="1"/>
          </p:cNvSpPr>
          <p:nvPr/>
        </p:nvSpPr>
        <p:spPr>
          <a:xfrm>
            <a:off x="6248400" y="4476750"/>
            <a:ext cx="1190625" cy="209550"/>
          </a:xfrm>
          <a:prstGeom prst="rect">
            <a:avLst/>
          </a:prstGeom>
          <a:noFill/>
          <a:ln w="0">
            <a:noFill/>
          </a:ln>
        </p:spPr>
        <p:txBody>
          <a:bodyPr lIns="0" tIns="0" rIns="0" bIns="0" anchor="t">
            <a:normAutofit/>
          </a:bodyPr>
          <a:lstStyle/>
          <a:p>
            <a:pPr algn="l">
              <a:lnSpc>
                <a:spcPct val="108000"/>
              </a:lnSpc>
              <a:buNone/>
              <a:defRPr sz="1163" b="1" i="0">
                <a:solidFill>
                  <a:srgbClr val="0F766E"/>
                </a:solidFill>
                <a:latin typeface="Arial"/>
                <a:ea typeface="Arial"/>
                <a:cs typeface="Arial"/>
              </a:defRPr>
            </a:pPr>
            <a:r>
              <a:rPr sz="1163" b="1" i="0">
                <a:solidFill>
                  <a:srgbClr val="0F766E"/>
                </a:solidFill>
                <a:latin typeface="Arial"/>
                <a:ea typeface="Arial"/>
                <a:cs typeface="Arial"/>
              </a:rPr>
              <a:t>DBSCAN</a:t>
            </a:r>
          </a:p>
        </p:txBody>
      </p:sp>
      <p:sp>
        <p:nvSpPr>
          <p:cNvPr id="11" name="Rectangle 10">
            <a:extLst>
              <a:ext uri="{FF2B5EF4-FFF2-40B4-BE49-F238E27FC236}">
                <a16:creationId xmlns:a16="http://schemas.microsoft.com/office/drawing/2014/main" id="{8A3C581D-F840-46A1-82F8-C7BFDB4EEB8A}"/>
              </a:ext>
            </a:extLst>
          </p:cNvPr>
          <p:cNvSpPr>
            <a:spLocks noGrp="1"/>
          </p:cNvSpPr>
          <p:nvPr/>
        </p:nvSpPr>
        <p:spPr>
          <a:xfrm>
            <a:off x="7505700" y="4476750"/>
            <a:ext cx="3714750" cy="209550"/>
          </a:xfrm>
          <a:prstGeom prst="rect">
            <a:avLst/>
          </a:prstGeom>
          <a:noFill/>
          <a:ln w="0">
            <a:noFill/>
          </a:ln>
        </p:spPr>
        <p:txBody>
          <a:bodyPr lIns="0" tIns="0" rIns="0" bIns="0" anchor="t">
            <a:normAutofit/>
          </a:bodyPr>
          <a:lstStyle/>
          <a:p>
            <a:pPr algn="l">
              <a:lnSpc>
                <a:spcPct val="108000"/>
              </a:lnSpc>
              <a:buNone/>
              <a:defRPr sz="1163" b="0" i="0">
                <a:solidFill>
                  <a:srgbClr val="142735"/>
                </a:solidFill>
                <a:latin typeface="Arial"/>
                <a:ea typeface="Arial"/>
                <a:cs typeface="Arial"/>
              </a:defRPr>
            </a:pPr>
            <a:r>
              <a:rPr sz="1163" b="0" i="0">
                <a:solidFill>
                  <a:srgbClr val="142735"/>
                </a:solidFill>
                <a:latin typeface="Arial"/>
                <a:ea typeface="Arial"/>
                <a:cs typeface="Arial"/>
              </a:rPr>
              <a:t>84.3% of points marked noise; only 2 clusters</a:t>
            </a:r>
          </a:p>
        </p:txBody>
      </p:sp>
      <p:sp>
        <p:nvSpPr>
          <p:cNvPr id="12" name="Rectangle 11">
            <a:extLst>
              <a:ext uri="{FF2B5EF4-FFF2-40B4-BE49-F238E27FC236}">
                <a16:creationId xmlns:a16="http://schemas.microsoft.com/office/drawing/2014/main" id="{90D946C4-2D8C-480D-BF64-7902AAB47AF1}"/>
              </a:ext>
            </a:extLst>
          </p:cNvPr>
          <p:cNvSpPr>
            <a:spLocks noGrp="1"/>
          </p:cNvSpPr>
          <p:nvPr/>
        </p:nvSpPr>
        <p:spPr>
          <a:xfrm>
            <a:off x="914400" y="4914900"/>
            <a:ext cx="1190625" cy="209550"/>
          </a:xfrm>
          <a:prstGeom prst="rect">
            <a:avLst/>
          </a:prstGeom>
          <a:noFill/>
          <a:ln w="0">
            <a:noFill/>
          </a:ln>
        </p:spPr>
        <p:txBody>
          <a:bodyPr lIns="0" tIns="0" rIns="0" bIns="0" anchor="t">
            <a:normAutofit/>
          </a:bodyPr>
          <a:lstStyle/>
          <a:p>
            <a:pPr algn="l">
              <a:lnSpc>
                <a:spcPct val="108000"/>
              </a:lnSpc>
              <a:buNone/>
              <a:defRPr sz="1163" b="1" i="0">
                <a:solidFill>
                  <a:srgbClr val="0F766E"/>
                </a:solidFill>
                <a:latin typeface="Arial"/>
                <a:ea typeface="Arial"/>
                <a:cs typeface="Arial"/>
              </a:defRPr>
            </a:pPr>
            <a:r>
              <a:rPr sz="1163" b="1" i="0">
                <a:solidFill>
                  <a:srgbClr val="0F766E"/>
                </a:solidFill>
                <a:latin typeface="Arial"/>
                <a:ea typeface="Arial"/>
                <a:cs typeface="Arial"/>
              </a:rPr>
              <a:t>KMeans</a:t>
            </a:r>
          </a:p>
        </p:txBody>
      </p:sp>
      <p:sp>
        <p:nvSpPr>
          <p:cNvPr id="13" name="Rectangle 12">
            <a:extLst>
              <a:ext uri="{FF2B5EF4-FFF2-40B4-BE49-F238E27FC236}">
                <a16:creationId xmlns:a16="http://schemas.microsoft.com/office/drawing/2014/main" id="{9D9D7775-E6F3-450B-9123-75C80F9A79CB}"/>
              </a:ext>
            </a:extLst>
          </p:cNvPr>
          <p:cNvSpPr>
            <a:spLocks noGrp="1"/>
          </p:cNvSpPr>
          <p:nvPr/>
        </p:nvSpPr>
        <p:spPr>
          <a:xfrm>
            <a:off x="2171700" y="4914900"/>
            <a:ext cx="3714750" cy="209550"/>
          </a:xfrm>
          <a:prstGeom prst="rect">
            <a:avLst/>
          </a:prstGeom>
          <a:noFill/>
          <a:ln w="0">
            <a:noFill/>
          </a:ln>
        </p:spPr>
        <p:txBody>
          <a:bodyPr lIns="0" tIns="0" rIns="0" bIns="0" anchor="t">
            <a:normAutofit/>
          </a:bodyPr>
          <a:lstStyle/>
          <a:p>
            <a:pPr algn="l">
              <a:lnSpc>
                <a:spcPct val="108000"/>
              </a:lnSpc>
              <a:buNone/>
              <a:defRPr sz="1163" b="0" i="0">
                <a:solidFill>
                  <a:srgbClr val="142735"/>
                </a:solidFill>
                <a:latin typeface="Arial"/>
                <a:ea typeface="Arial"/>
                <a:cs typeface="Arial"/>
              </a:defRPr>
            </a:pPr>
            <a:r>
              <a:rPr sz="1163" b="0" i="0">
                <a:solidFill>
                  <a:srgbClr val="142735"/>
                </a:solidFill>
                <a:latin typeface="Arial"/>
                <a:ea typeface="Arial"/>
                <a:cs typeface="Arial"/>
              </a:rPr>
              <a:t>k=2 wins with silhouette 0.183, a weak split</a:t>
            </a:r>
          </a:p>
        </p:txBody>
      </p:sp>
      <p:sp>
        <p:nvSpPr>
          <p:cNvPr id="14" name="Rectangle 13">
            <a:extLst>
              <a:ext uri="{FF2B5EF4-FFF2-40B4-BE49-F238E27FC236}">
                <a16:creationId xmlns:a16="http://schemas.microsoft.com/office/drawing/2014/main" id="{4DE7D669-CA8E-461F-BE73-8AE9C4DDEF39}"/>
              </a:ext>
            </a:extLst>
          </p:cNvPr>
          <p:cNvSpPr>
            <a:spLocks noGrp="1"/>
          </p:cNvSpPr>
          <p:nvPr/>
        </p:nvSpPr>
        <p:spPr>
          <a:xfrm>
            <a:off x="6248400" y="4914900"/>
            <a:ext cx="1190625" cy="209550"/>
          </a:xfrm>
          <a:prstGeom prst="rect">
            <a:avLst/>
          </a:prstGeom>
          <a:noFill/>
          <a:ln w="0">
            <a:noFill/>
          </a:ln>
        </p:spPr>
        <p:txBody>
          <a:bodyPr lIns="0" tIns="0" rIns="0" bIns="0" anchor="t">
            <a:normAutofit fontScale="89777"/>
          </a:bodyPr>
          <a:lstStyle/>
          <a:p>
            <a:pPr algn="l">
              <a:lnSpc>
                <a:spcPct val="108000"/>
              </a:lnSpc>
              <a:buNone/>
              <a:defRPr sz="1163" b="1" i="0">
                <a:solidFill>
                  <a:srgbClr val="0F766E"/>
                </a:solidFill>
                <a:latin typeface="Arial"/>
                <a:ea typeface="Arial"/>
                <a:cs typeface="Arial"/>
              </a:defRPr>
            </a:pPr>
            <a:r>
              <a:rPr sz="1163" b="1" i="0">
                <a:solidFill>
                  <a:srgbClr val="0F766E"/>
                </a:solidFill>
                <a:latin typeface="Arial"/>
                <a:ea typeface="Arial"/>
                <a:cs typeface="Arial"/>
              </a:rPr>
              <a:t>Anomaly detectors</a:t>
            </a:r>
          </a:p>
        </p:txBody>
      </p:sp>
      <p:sp>
        <p:nvSpPr>
          <p:cNvPr id="15" name="Rectangle 14">
            <a:extLst>
              <a:ext uri="{FF2B5EF4-FFF2-40B4-BE49-F238E27FC236}">
                <a16:creationId xmlns:a16="http://schemas.microsoft.com/office/drawing/2014/main" id="{443256FE-C072-4E7B-9A27-0CABEE8774C9}"/>
              </a:ext>
            </a:extLst>
          </p:cNvPr>
          <p:cNvSpPr>
            <a:spLocks noGrp="1"/>
          </p:cNvSpPr>
          <p:nvPr/>
        </p:nvSpPr>
        <p:spPr>
          <a:xfrm>
            <a:off x="7505700" y="4914900"/>
            <a:ext cx="3714750" cy="209550"/>
          </a:xfrm>
          <a:prstGeom prst="rect">
            <a:avLst/>
          </a:prstGeom>
          <a:noFill/>
          <a:ln w="0">
            <a:noFill/>
          </a:ln>
        </p:spPr>
        <p:txBody>
          <a:bodyPr lIns="0" tIns="0" rIns="0" bIns="0" anchor="t">
            <a:normAutofit/>
          </a:bodyPr>
          <a:lstStyle/>
          <a:p>
            <a:pPr algn="l">
              <a:lnSpc>
                <a:spcPct val="108000"/>
              </a:lnSpc>
              <a:buNone/>
              <a:defRPr sz="1163" b="0" i="0">
                <a:solidFill>
                  <a:srgbClr val="142735"/>
                </a:solidFill>
                <a:latin typeface="Arial"/>
                <a:ea typeface="Arial"/>
                <a:cs typeface="Arial"/>
              </a:defRPr>
            </a:pPr>
            <a:r>
              <a:rPr sz="1163" b="0" i="0">
                <a:solidFill>
                  <a:srgbClr val="142735"/>
                </a:solidFill>
                <a:latin typeface="Arial"/>
                <a:ea typeface="Arial"/>
                <a:cs typeface="Arial"/>
              </a:rPr>
              <a:t>5% flagged across several algorithms</a:t>
            </a:r>
          </a:p>
        </p:txBody>
      </p:sp>
      <p:sp>
        <p:nvSpPr>
          <p:cNvPr id="16" name="Rectangle 15">
            <a:extLst>
              <a:ext uri="{FF2B5EF4-FFF2-40B4-BE49-F238E27FC236}">
                <a16:creationId xmlns:a16="http://schemas.microsoft.com/office/drawing/2014/main" id="{ADB420A0-B63A-447B-AD27-6555D68EDB33}"/>
              </a:ext>
            </a:extLst>
          </p:cNvPr>
          <p:cNvSpPr>
            <a:spLocks noGrp="1"/>
          </p:cNvSpPr>
          <p:nvPr/>
        </p:nvSpPr>
        <p:spPr>
          <a:xfrm>
            <a:off x="685800" y="5715000"/>
            <a:ext cx="10668000" cy="257175"/>
          </a:xfrm>
          <a:prstGeom prst="rect">
            <a:avLst/>
          </a:prstGeom>
          <a:noFill/>
          <a:ln w="0">
            <a:noFill/>
          </a:ln>
        </p:spPr>
        <p:txBody>
          <a:bodyPr lIns="0" tIns="0" rIns="0" bIns="0" anchor="t">
            <a:normAutofit fontScale="76514" lnSpcReduction="20000"/>
          </a:bodyPr>
          <a:lstStyle/>
          <a:p>
            <a:pPr algn="l">
              <a:lnSpc>
                <a:spcPct val="108000"/>
              </a:lnSpc>
              <a:buNone/>
              <a:defRPr sz="1350" b="1" i="0">
                <a:solidFill>
                  <a:srgbClr val="102A43"/>
                </a:solidFill>
                <a:latin typeface="Arial"/>
                <a:ea typeface="Arial"/>
                <a:cs typeface="Arial"/>
              </a:defRPr>
            </a:pPr>
            <a:r>
              <a:rPr sz="1350" b="1" i="0">
                <a:solidFill>
                  <a:srgbClr val="102A43"/>
                </a:solidFill>
                <a:latin typeface="Arial"/>
                <a:ea typeface="Arial"/>
                <a:cs typeface="Arial"/>
              </a:rPr>
              <a:t>KMeans recovered a socioeconomic axis, but the soft boundary is not a clinical class. Unsupervised outputs are cross-checks and anomaly flags, not replacement targets.</a:t>
            </a:r>
          </a:p>
        </p:txBody>
      </p:sp>
      <p:sp>
        <p:nvSpPr>
          <p:cNvPr id="17" name="Rectangle 16">
            <a:extLst>
              <a:ext uri="{FF2B5EF4-FFF2-40B4-BE49-F238E27FC236}">
                <a16:creationId xmlns:a16="http://schemas.microsoft.com/office/drawing/2014/main" id="{B871CDDC-91B8-46D7-B415-5113B10A14BF}"/>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11:40</a:t>
            </a:r>
          </a:p>
        </p:txBody>
      </p:sp>
      <p:sp>
        <p:nvSpPr>
          <p:cNvPr id="18" name="Rectangle 17">
            <a:extLst>
              <a:ext uri="{FF2B5EF4-FFF2-40B4-BE49-F238E27FC236}">
                <a16:creationId xmlns:a16="http://schemas.microsoft.com/office/drawing/2014/main" id="{5E183BA5-5F7F-4744-BB2A-F16A2ED53E36}"/>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225-241</a:t>
            </a:r>
          </a:p>
        </p:txBody>
      </p:sp>
      <p:sp>
        <p:nvSpPr>
          <p:cNvPr id="19" name="Rectangle 18">
            <a:extLst>
              <a:ext uri="{FF2B5EF4-FFF2-40B4-BE49-F238E27FC236}">
                <a16:creationId xmlns:a16="http://schemas.microsoft.com/office/drawing/2014/main" id="{A4B95B1D-3D55-4659-B154-B148C5D7654F}"/>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971563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5A83B80-09E3-490A-BDDF-CA9EB5B3DC3F}"/>
              </a:ext>
            </a:extLst>
          </p:cNvPr>
          <p:cNvSpPr>
            <a:spLocks noGrp="1"/>
          </p:cNvSpPr>
          <p:nvPr/>
        </p:nvSpPr>
        <p:spPr>
          <a:xfrm>
            <a:off x="685800" y="266700"/>
            <a:ext cx="6096000" cy="209550"/>
          </a:xfrm>
          <a:prstGeom prst="rect">
            <a:avLst/>
          </a:prstGeom>
          <a:noFill/>
          <a:ln w="0">
            <a:noFill/>
          </a:ln>
        </p:spPr>
        <p:txBody>
          <a:bodyPr lIns="0" tIns="0" rIns="0" bIns="0" anchor="t">
            <a:normAutofit/>
          </a:bodyPr>
          <a:lstStyle/>
          <a:p>
            <a:pPr algn="l">
              <a:lnSpc>
                <a:spcPct val="100000"/>
              </a:lnSpc>
              <a:buNone/>
              <a:defRPr sz="900" b="1" i="0">
                <a:solidFill>
                  <a:srgbClr val="0F766E"/>
                </a:solidFill>
                <a:latin typeface="Arial"/>
                <a:ea typeface="Arial"/>
                <a:cs typeface="Arial"/>
              </a:defRPr>
            </a:pPr>
            <a:r>
              <a:rPr sz="900" b="1" i="0">
                <a:solidFill>
                  <a:srgbClr val="0F766E"/>
                </a:solidFill>
                <a:latin typeface="Arial"/>
                <a:ea typeface="Arial"/>
                <a:cs typeface="Arial"/>
              </a:rPr>
              <a:t>RISK CASCADE</a:t>
            </a:r>
          </a:p>
        </p:txBody>
      </p:sp>
      <p:sp>
        <p:nvSpPr>
          <p:cNvPr id="2" name="Rectangle 1">
            <a:extLst>
              <a:ext uri="{FF2B5EF4-FFF2-40B4-BE49-F238E27FC236}">
                <a16:creationId xmlns:a16="http://schemas.microsoft.com/office/drawing/2014/main" id="{E1FD3C0B-1B85-4C42-B89F-140B7C4874E4}"/>
              </a:ext>
            </a:extLst>
          </p:cNvPr>
          <p:cNvSpPr>
            <a:spLocks noGrp="1"/>
          </p:cNvSpPr>
          <p:nvPr/>
        </p:nvSpPr>
        <p:spPr>
          <a:xfrm>
            <a:off x="685800" y="533400"/>
            <a:ext cx="10001250" cy="552450"/>
          </a:xfrm>
          <a:prstGeom prst="rect">
            <a:avLst/>
          </a:prstGeom>
          <a:noFill/>
          <a:ln w="0">
            <a:noFill/>
          </a:ln>
        </p:spPr>
        <p:txBody>
          <a:bodyPr lIns="0" tIns="0" rIns="0" bIns="0" anchor="t">
            <a:normAutofit/>
          </a:bodyPr>
          <a:lstStyle/>
          <a:p>
            <a:pPr algn="l">
              <a:lnSpc>
                <a:spcPct val="96000"/>
              </a:lnSpc>
              <a:buNone/>
              <a:defRPr sz="2475" b="1" i="0">
                <a:solidFill>
                  <a:srgbClr val="102A43"/>
                </a:solidFill>
                <a:latin typeface="Arial"/>
                <a:ea typeface="Arial"/>
                <a:cs typeface="Arial"/>
              </a:defRPr>
            </a:pPr>
            <a:r>
              <a:rPr sz="2475" b="1" i="0">
                <a:solidFill>
                  <a:srgbClr val="102A43"/>
                </a:solidFill>
                <a:latin typeface="Arial"/>
                <a:ea typeface="Arial"/>
                <a:cs typeface="Arial"/>
              </a:rPr>
              <a:t>Five predictions become one phased assessment</a:t>
            </a:r>
          </a:p>
        </p:txBody>
      </p:sp>
      <p:sp>
        <p:nvSpPr>
          <p:cNvPr id="3" name="Rectangle 2">
            <a:extLst>
              <a:ext uri="{FF2B5EF4-FFF2-40B4-BE49-F238E27FC236}">
                <a16:creationId xmlns:a16="http://schemas.microsoft.com/office/drawing/2014/main" id="{8299C2B4-610D-4397-B039-0F59624DE6E0}"/>
              </a:ext>
            </a:extLst>
          </p:cNvPr>
          <p:cNvSpPr>
            <a:spLocks noGrp="1"/>
          </p:cNvSpPr>
          <p:nvPr/>
        </p:nvSpPr>
        <p:spPr>
          <a:xfrm>
            <a:off x="10953750" y="323850"/>
            <a:ext cx="552450" cy="285750"/>
          </a:xfrm>
          <a:prstGeom prst="rect">
            <a:avLst/>
          </a:prstGeom>
          <a:noFill/>
          <a:ln w="0">
            <a:noFill/>
          </a:ln>
        </p:spPr>
        <p:txBody>
          <a:bodyPr lIns="0" tIns="0" rIns="0" bIns="0" anchor="t">
            <a:normAutofit/>
          </a:bodyPr>
          <a:lstStyle/>
          <a:p>
            <a:pPr algn="r">
              <a:lnSpc>
                <a:spcPct val="108000"/>
              </a:lnSpc>
              <a:buNone/>
              <a:defRPr sz="1200" b="1" i="0">
                <a:solidFill>
                  <a:srgbClr val="7B8794"/>
                </a:solidFill>
                <a:latin typeface="Arial"/>
                <a:ea typeface="Arial"/>
                <a:cs typeface="Arial"/>
              </a:defRPr>
            </a:pPr>
            <a:r>
              <a:rPr sz="1200" b="1" i="0">
                <a:solidFill>
                  <a:srgbClr val="7B8794"/>
                </a:solidFill>
                <a:latin typeface="Arial"/>
                <a:ea typeface="Arial"/>
                <a:cs typeface="Arial"/>
              </a:rPr>
              <a:t>19</a:t>
            </a:r>
          </a:p>
        </p:txBody>
      </p:sp>
      <p:sp>
        <p:nvSpPr>
          <p:cNvPr id="4" name="Straight Connector 3">
            <a:extLst>
              <a:ext uri="{FF2B5EF4-FFF2-40B4-BE49-F238E27FC236}">
                <a16:creationId xmlns:a16="http://schemas.microsoft.com/office/drawing/2014/main" id="{001A067A-8203-4A49-9638-2FA92A4342DA}"/>
              </a:ext>
            </a:extLst>
          </p:cNvPr>
          <p:cNvSpPr>
            <a:spLocks noGrp="1"/>
          </p:cNvSpPr>
          <p:nvPr/>
        </p:nvSpPr>
        <p:spPr>
          <a:xfrm>
            <a:off x="685800" y="1181100"/>
            <a:ext cx="10820400" cy="0"/>
          </a:xfrm>
          <a:prstGeom prst="line">
            <a:avLst/>
          </a:prstGeom>
          <a:noFill/>
          <a:ln w="9525">
            <a:solidFill>
              <a:srgbClr val="D9E2EC"/>
            </a:solidFill>
            <a:prstDash val="solid"/>
          </a:ln>
        </p:spPr>
      </p:sp>
      <p:sp>
        <p:nvSpPr>
          <p:cNvPr id="5" name="Rounded Rectangle 4">
            <a:extLst>
              <a:ext uri="{FF2B5EF4-FFF2-40B4-BE49-F238E27FC236}">
                <a16:creationId xmlns:a16="http://schemas.microsoft.com/office/drawing/2014/main" id="{0B8287B9-6620-41EB-B4BD-A76B39AA739D}"/>
              </a:ext>
            </a:extLst>
          </p:cNvPr>
          <p:cNvSpPr>
            <a:spLocks noGrp="1"/>
          </p:cNvSpPr>
          <p:nvPr/>
        </p:nvSpPr>
        <p:spPr>
          <a:xfrm>
            <a:off x="685800" y="1600200"/>
            <a:ext cx="7429500" cy="3333750"/>
          </a:xfrm>
          <a:prstGeom prst="roundRect">
            <a:avLst>
              <a:gd name="adj" fmla="val 4571"/>
            </a:avLst>
          </a:prstGeom>
          <a:solidFill>
            <a:srgbClr val="F7FAFC"/>
          </a:solidFill>
          <a:ln w="9525">
            <a:solidFill>
              <a:srgbClr val="D9E2EC"/>
            </a:solidFill>
            <a:prstDash val="solid"/>
          </a:ln>
        </p:spPr>
      </p:sp>
      <p:sp>
        <p:nvSpPr>
          <p:cNvPr id="6" name="Rectangle 5">
            <a:extLst>
              <a:ext uri="{FF2B5EF4-FFF2-40B4-BE49-F238E27FC236}">
                <a16:creationId xmlns:a16="http://schemas.microsoft.com/office/drawing/2014/main" id="{F4E53720-EC5B-4013-BA5E-4CE652C3A433}"/>
              </a:ext>
            </a:extLst>
          </p:cNvPr>
          <p:cNvSpPr>
            <a:spLocks noGrp="1"/>
          </p:cNvSpPr>
          <p:nvPr/>
        </p:nvSpPr>
        <p:spPr>
          <a:xfrm>
            <a:off x="952500" y="1847850"/>
            <a:ext cx="2095500" cy="190500"/>
          </a:xfrm>
          <a:prstGeom prst="rect">
            <a:avLst/>
          </a:prstGeom>
          <a:noFill/>
          <a:ln w="0">
            <a:noFill/>
          </a:ln>
        </p:spPr>
        <p:txBody>
          <a:bodyPr lIns="0" tIns="0" rIns="0" bIns="0" anchor="t">
            <a:normAutofit/>
          </a:bodyPr>
          <a:lstStyle/>
          <a:p>
            <a:pPr algn="l">
              <a:lnSpc>
                <a:spcPct val="108000"/>
              </a:lnSpc>
              <a:buNone/>
              <a:defRPr sz="900" b="1" i="0">
                <a:solidFill>
                  <a:srgbClr val="0F766E"/>
                </a:solidFill>
                <a:latin typeface="Arial"/>
                <a:ea typeface="Arial"/>
                <a:cs typeface="Arial"/>
              </a:defRPr>
            </a:pPr>
            <a:r>
              <a:rPr sz="900" b="1" i="0">
                <a:solidFill>
                  <a:srgbClr val="0F766E"/>
                </a:solidFill>
                <a:latin typeface="Arial"/>
                <a:ea typeface="Arial"/>
                <a:cs typeface="Arial"/>
              </a:rPr>
              <a:t>CLINICAL PHASES</a:t>
            </a:r>
          </a:p>
        </p:txBody>
      </p:sp>
      <p:sp>
        <p:nvSpPr>
          <p:cNvPr id="7" name="Rounded Rectangle 6">
            <a:extLst>
              <a:ext uri="{FF2B5EF4-FFF2-40B4-BE49-F238E27FC236}">
                <a16:creationId xmlns:a16="http://schemas.microsoft.com/office/drawing/2014/main" id="{549AFA8F-34B0-4ECB-BB5C-EBAB1F08CE15}"/>
              </a:ext>
            </a:extLst>
          </p:cNvPr>
          <p:cNvSpPr>
            <a:spLocks noGrp="1"/>
          </p:cNvSpPr>
          <p:nvPr/>
        </p:nvSpPr>
        <p:spPr>
          <a:xfrm>
            <a:off x="971550" y="2305050"/>
            <a:ext cx="2000250" cy="933450"/>
          </a:xfrm>
          <a:prstGeom prst="roundRect">
            <a:avLst>
              <a:gd name="adj" fmla="val 12245"/>
            </a:avLst>
          </a:prstGeom>
          <a:solidFill>
            <a:srgbClr val="D9F0ED"/>
          </a:solidFill>
          <a:ln w="0">
            <a:noFill/>
            <a:prstDash val="solid"/>
          </a:ln>
        </p:spPr>
      </p:sp>
      <p:sp>
        <p:nvSpPr>
          <p:cNvPr id="8" name="Rectangle 7">
            <a:extLst>
              <a:ext uri="{FF2B5EF4-FFF2-40B4-BE49-F238E27FC236}">
                <a16:creationId xmlns:a16="http://schemas.microsoft.com/office/drawing/2014/main" id="{87ED1988-A578-4CF8-9E99-C86BA3B87E75}"/>
              </a:ext>
            </a:extLst>
          </p:cNvPr>
          <p:cNvSpPr>
            <a:spLocks noGrp="1"/>
          </p:cNvSpPr>
          <p:nvPr/>
        </p:nvSpPr>
        <p:spPr>
          <a:xfrm>
            <a:off x="1123950" y="2457450"/>
            <a:ext cx="1695450" cy="190500"/>
          </a:xfrm>
          <a:prstGeom prst="rect">
            <a:avLst/>
          </a:prstGeom>
          <a:noFill/>
          <a:ln w="0">
            <a:noFill/>
          </a:ln>
        </p:spPr>
        <p:txBody>
          <a:bodyPr lIns="0" tIns="0" rIns="0" bIns="0" anchor="t">
            <a:normAutofit/>
          </a:bodyPr>
          <a:lstStyle/>
          <a:p>
            <a:pPr algn="l">
              <a:lnSpc>
                <a:spcPct val="108000"/>
              </a:lnSpc>
              <a:buNone/>
              <a:defRPr sz="975" b="1" i="0">
                <a:solidFill>
                  <a:srgbClr val="0F766E"/>
                </a:solidFill>
                <a:latin typeface="Arial"/>
                <a:ea typeface="Arial"/>
                <a:cs typeface="Arial"/>
              </a:defRPr>
            </a:pPr>
            <a:r>
              <a:rPr sz="975" b="1" i="0">
                <a:solidFill>
                  <a:srgbClr val="0F766E"/>
                </a:solidFill>
                <a:latin typeface="Arial"/>
                <a:ea typeface="Arial"/>
                <a:cs typeface="Arial"/>
              </a:rPr>
              <a:t>DELIVERY</a:t>
            </a:r>
          </a:p>
        </p:txBody>
      </p:sp>
      <p:sp>
        <p:nvSpPr>
          <p:cNvPr id="9" name="Rectangle 8">
            <a:extLst>
              <a:ext uri="{FF2B5EF4-FFF2-40B4-BE49-F238E27FC236}">
                <a16:creationId xmlns:a16="http://schemas.microsoft.com/office/drawing/2014/main" id="{C6013CE7-45FA-412E-A220-26B3927C0DEA}"/>
              </a:ext>
            </a:extLst>
          </p:cNvPr>
          <p:cNvSpPr>
            <a:spLocks noGrp="1"/>
          </p:cNvSpPr>
          <p:nvPr/>
        </p:nvSpPr>
        <p:spPr>
          <a:xfrm>
            <a:off x="1123950" y="2762250"/>
            <a:ext cx="1695450" cy="323850"/>
          </a:xfrm>
          <a:prstGeom prst="rect">
            <a:avLst/>
          </a:prstGeom>
          <a:noFill/>
          <a:ln w="0">
            <a:noFill/>
          </a:ln>
        </p:spPr>
        <p:txBody>
          <a:bodyPr lIns="0" tIns="0" rIns="0" bIns="0" anchor="t">
            <a:normAutofit/>
          </a:bodyPr>
          <a:lstStyle/>
          <a:p>
            <a:pPr algn="l">
              <a:lnSpc>
                <a:spcPct val="103000"/>
              </a:lnSpc>
              <a:buNone/>
              <a:defRPr sz="1238" b="1" i="0">
                <a:solidFill>
                  <a:srgbClr val="102A43"/>
                </a:solidFill>
                <a:latin typeface="Arial"/>
                <a:ea typeface="Arial"/>
                <a:cs typeface="Arial"/>
              </a:defRPr>
            </a:pPr>
            <a:r>
              <a:rPr sz="1238" b="1" i="0">
                <a:solidFill>
                  <a:srgbClr val="102A43"/>
                </a:solidFill>
                <a:latin typeface="Arial"/>
                <a:ea typeface="Arial"/>
                <a:cs typeface="Arial"/>
              </a:rPr>
              <a:t>facility delivery</a:t>
            </a:r>
          </a:p>
        </p:txBody>
      </p:sp>
      <p:sp>
        <p:nvSpPr>
          <p:cNvPr id="10" name="Straight Connector 9">
            <a:extLst>
              <a:ext uri="{FF2B5EF4-FFF2-40B4-BE49-F238E27FC236}">
                <a16:creationId xmlns:a16="http://schemas.microsoft.com/office/drawing/2014/main" id="{FBB7BFD5-92CE-4DE7-946F-4AC7E4B66DBA}"/>
              </a:ext>
            </a:extLst>
          </p:cNvPr>
          <p:cNvSpPr>
            <a:spLocks noGrp="1"/>
          </p:cNvSpPr>
          <p:nvPr/>
        </p:nvSpPr>
        <p:spPr>
          <a:xfrm>
            <a:off x="2990850" y="2752725"/>
            <a:ext cx="209550" cy="0"/>
          </a:xfrm>
          <a:prstGeom prst="line">
            <a:avLst/>
          </a:prstGeom>
          <a:noFill/>
          <a:ln w="28575">
            <a:solidFill>
              <a:srgbClr val="0F766E"/>
            </a:solidFill>
            <a:prstDash val="solid"/>
          </a:ln>
        </p:spPr>
      </p:sp>
      <p:sp>
        <p:nvSpPr>
          <p:cNvPr id="11" name="Rounded Rectangle 10">
            <a:extLst>
              <a:ext uri="{FF2B5EF4-FFF2-40B4-BE49-F238E27FC236}">
                <a16:creationId xmlns:a16="http://schemas.microsoft.com/office/drawing/2014/main" id="{0374F633-7E49-4007-84F7-86ABCDE61333}"/>
              </a:ext>
            </a:extLst>
          </p:cNvPr>
          <p:cNvSpPr>
            <a:spLocks noGrp="1"/>
          </p:cNvSpPr>
          <p:nvPr/>
        </p:nvSpPr>
        <p:spPr>
          <a:xfrm>
            <a:off x="3219450" y="2305050"/>
            <a:ext cx="2000250" cy="933450"/>
          </a:xfrm>
          <a:prstGeom prst="roundRect">
            <a:avLst>
              <a:gd name="adj" fmla="val 12245"/>
            </a:avLst>
          </a:prstGeom>
          <a:solidFill>
            <a:srgbClr val="F9E5E5"/>
          </a:solidFill>
          <a:ln w="0">
            <a:noFill/>
            <a:prstDash val="solid"/>
          </a:ln>
        </p:spPr>
      </p:sp>
      <p:sp>
        <p:nvSpPr>
          <p:cNvPr id="12" name="Rectangle 11">
            <a:extLst>
              <a:ext uri="{FF2B5EF4-FFF2-40B4-BE49-F238E27FC236}">
                <a16:creationId xmlns:a16="http://schemas.microsoft.com/office/drawing/2014/main" id="{48EE8273-4DF9-41A6-B50D-D688ED96E4D9}"/>
              </a:ext>
            </a:extLst>
          </p:cNvPr>
          <p:cNvSpPr>
            <a:spLocks noGrp="1"/>
          </p:cNvSpPr>
          <p:nvPr/>
        </p:nvSpPr>
        <p:spPr>
          <a:xfrm>
            <a:off x="3371850" y="2457450"/>
            <a:ext cx="1695450" cy="190500"/>
          </a:xfrm>
          <a:prstGeom prst="rect">
            <a:avLst/>
          </a:prstGeom>
          <a:noFill/>
          <a:ln w="0">
            <a:noFill/>
          </a:ln>
        </p:spPr>
        <p:txBody>
          <a:bodyPr lIns="0" tIns="0" rIns="0" bIns="0" anchor="t">
            <a:normAutofit/>
          </a:bodyPr>
          <a:lstStyle/>
          <a:p>
            <a:pPr algn="l">
              <a:lnSpc>
                <a:spcPct val="108000"/>
              </a:lnSpc>
              <a:buNone/>
              <a:defRPr sz="975" b="1" i="0">
                <a:solidFill>
                  <a:srgbClr val="C75C5C"/>
                </a:solidFill>
                <a:latin typeface="Arial"/>
                <a:ea typeface="Arial"/>
                <a:cs typeface="Arial"/>
              </a:defRPr>
            </a:pPr>
            <a:r>
              <a:rPr sz="975" b="1" i="0">
                <a:solidFill>
                  <a:srgbClr val="C75C5C"/>
                </a:solidFill>
                <a:latin typeface="Arial"/>
                <a:ea typeface="Arial"/>
                <a:cs typeface="Arial"/>
              </a:rPr>
              <a:t>NEWBORN</a:t>
            </a:r>
          </a:p>
        </p:txBody>
      </p:sp>
      <p:sp>
        <p:nvSpPr>
          <p:cNvPr id="13" name="Rectangle 12">
            <a:extLst>
              <a:ext uri="{FF2B5EF4-FFF2-40B4-BE49-F238E27FC236}">
                <a16:creationId xmlns:a16="http://schemas.microsoft.com/office/drawing/2014/main" id="{E8A7AF7E-C697-45B6-AEA5-DA72C6F3D7F4}"/>
              </a:ext>
            </a:extLst>
          </p:cNvPr>
          <p:cNvSpPr>
            <a:spLocks noGrp="1"/>
          </p:cNvSpPr>
          <p:nvPr/>
        </p:nvSpPr>
        <p:spPr>
          <a:xfrm>
            <a:off x="3371850" y="2762250"/>
            <a:ext cx="1695450" cy="323850"/>
          </a:xfrm>
          <a:prstGeom prst="rect">
            <a:avLst/>
          </a:prstGeom>
          <a:noFill/>
          <a:ln w="0">
            <a:noFill/>
          </a:ln>
        </p:spPr>
        <p:txBody>
          <a:bodyPr lIns="0" tIns="0" rIns="0" bIns="0" anchor="t">
            <a:normAutofit/>
          </a:bodyPr>
          <a:lstStyle/>
          <a:p>
            <a:pPr algn="l">
              <a:lnSpc>
                <a:spcPct val="103000"/>
              </a:lnSpc>
              <a:buNone/>
              <a:defRPr sz="1238" b="1" i="0">
                <a:solidFill>
                  <a:srgbClr val="102A43"/>
                </a:solidFill>
                <a:latin typeface="Arial"/>
                <a:ea typeface="Arial"/>
                <a:cs typeface="Arial"/>
              </a:defRPr>
            </a:pPr>
            <a:r>
              <a:rPr sz="1238" b="1" i="0">
                <a:solidFill>
                  <a:srgbClr val="102A43"/>
                </a:solidFill>
                <a:latin typeface="Arial"/>
                <a:ea typeface="Arial"/>
                <a:cs typeface="Arial"/>
              </a:rPr>
              <a:t>neonatal death</a:t>
            </a:r>
          </a:p>
        </p:txBody>
      </p:sp>
      <p:sp>
        <p:nvSpPr>
          <p:cNvPr id="14" name="Straight Connector 13">
            <a:extLst>
              <a:ext uri="{FF2B5EF4-FFF2-40B4-BE49-F238E27FC236}">
                <a16:creationId xmlns:a16="http://schemas.microsoft.com/office/drawing/2014/main" id="{715D47CC-95CD-43B0-858A-44EA182FEAC5}"/>
              </a:ext>
            </a:extLst>
          </p:cNvPr>
          <p:cNvSpPr>
            <a:spLocks noGrp="1"/>
          </p:cNvSpPr>
          <p:nvPr/>
        </p:nvSpPr>
        <p:spPr>
          <a:xfrm>
            <a:off x="5238750" y="2752725"/>
            <a:ext cx="209550" cy="0"/>
          </a:xfrm>
          <a:prstGeom prst="line">
            <a:avLst/>
          </a:prstGeom>
          <a:noFill/>
          <a:ln w="28575">
            <a:solidFill>
              <a:srgbClr val="0F766E"/>
            </a:solidFill>
            <a:prstDash val="solid"/>
          </a:ln>
        </p:spPr>
      </p:sp>
      <p:sp>
        <p:nvSpPr>
          <p:cNvPr id="15" name="Rounded Rectangle 14">
            <a:extLst>
              <a:ext uri="{FF2B5EF4-FFF2-40B4-BE49-F238E27FC236}">
                <a16:creationId xmlns:a16="http://schemas.microsoft.com/office/drawing/2014/main" id="{4223CC31-9645-4E5D-BDAF-F2396F1053A6}"/>
              </a:ext>
            </a:extLst>
          </p:cNvPr>
          <p:cNvSpPr>
            <a:spLocks noGrp="1"/>
          </p:cNvSpPr>
          <p:nvPr/>
        </p:nvSpPr>
        <p:spPr>
          <a:xfrm>
            <a:off x="5467350" y="2305050"/>
            <a:ext cx="2000250" cy="933450"/>
          </a:xfrm>
          <a:prstGeom prst="roundRect">
            <a:avLst>
              <a:gd name="adj" fmla="val 12245"/>
            </a:avLst>
          </a:prstGeom>
          <a:solidFill>
            <a:srgbClr val="FEF3C7"/>
          </a:solidFill>
          <a:ln w="0">
            <a:noFill/>
            <a:prstDash val="solid"/>
          </a:ln>
        </p:spPr>
      </p:sp>
      <p:sp>
        <p:nvSpPr>
          <p:cNvPr id="16" name="Rectangle 15">
            <a:extLst>
              <a:ext uri="{FF2B5EF4-FFF2-40B4-BE49-F238E27FC236}">
                <a16:creationId xmlns:a16="http://schemas.microsoft.com/office/drawing/2014/main" id="{60EB77B2-7C95-42AE-82C3-B117924BA2ED}"/>
              </a:ext>
            </a:extLst>
          </p:cNvPr>
          <p:cNvSpPr>
            <a:spLocks noGrp="1"/>
          </p:cNvSpPr>
          <p:nvPr/>
        </p:nvSpPr>
        <p:spPr>
          <a:xfrm>
            <a:off x="5619750" y="2457450"/>
            <a:ext cx="1695450" cy="190500"/>
          </a:xfrm>
          <a:prstGeom prst="rect">
            <a:avLst/>
          </a:prstGeom>
          <a:noFill/>
          <a:ln w="0">
            <a:noFill/>
          </a:ln>
        </p:spPr>
        <p:txBody>
          <a:bodyPr lIns="0" tIns="0" rIns="0" bIns="0" anchor="t">
            <a:normAutofit/>
          </a:bodyPr>
          <a:lstStyle/>
          <a:p>
            <a:pPr algn="l">
              <a:lnSpc>
                <a:spcPct val="108000"/>
              </a:lnSpc>
              <a:buNone/>
              <a:defRPr sz="975" b="1" i="0">
                <a:solidFill>
                  <a:srgbClr val="D97706"/>
                </a:solidFill>
                <a:latin typeface="Arial"/>
                <a:ea typeface="Arial"/>
                <a:cs typeface="Arial"/>
              </a:defRPr>
            </a:pPr>
            <a:r>
              <a:rPr sz="975" b="1" i="0">
                <a:solidFill>
                  <a:srgbClr val="D97706"/>
                </a:solidFill>
                <a:latin typeface="Arial"/>
                <a:ea typeface="Arial"/>
                <a:cs typeface="Arial"/>
              </a:rPr>
              <a:t>CHILD 0-59 MONTHS</a:t>
            </a:r>
          </a:p>
        </p:txBody>
      </p:sp>
      <p:sp>
        <p:nvSpPr>
          <p:cNvPr id="17" name="Rectangle 16">
            <a:extLst>
              <a:ext uri="{FF2B5EF4-FFF2-40B4-BE49-F238E27FC236}">
                <a16:creationId xmlns:a16="http://schemas.microsoft.com/office/drawing/2014/main" id="{CBFE26DE-4F4A-4E73-8136-304218E4C0D1}"/>
              </a:ext>
            </a:extLst>
          </p:cNvPr>
          <p:cNvSpPr>
            <a:spLocks noGrp="1"/>
          </p:cNvSpPr>
          <p:nvPr/>
        </p:nvSpPr>
        <p:spPr>
          <a:xfrm>
            <a:off x="5619750" y="2762250"/>
            <a:ext cx="1695450" cy="323850"/>
          </a:xfrm>
          <a:prstGeom prst="rect">
            <a:avLst/>
          </a:prstGeom>
          <a:noFill/>
          <a:ln w="0">
            <a:noFill/>
          </a:ln>
        </p:spPr>
        <p:txBody>
          <a:bodyPr lIns="0" tIns="0" rIns="0" bIns="0" anchor="t">
            <a:normAutofit fontScale="90824" lnSpcReduction="10000"/>
          </a:bodyPr>
          <a:lstStyle/>
          <a:p>
            <a:pPr algn="l">
              <a:lnSpc>
                <a:spcPct val="103000"/>
              </a:lnSpc>
              <a:buNone/>
              <a:defRPr sz="1238" b="1" i="0">
                <a:solidFill>
                  <a:srgbClr val="102A43"/>
                </a:solidFill>
                <a:latin typeface="Arial"/>
                <a:ea typeface="Arial"/>
                <a:cs typeface="Arial"/>
              </a:defRPr>
            </a:pPr>
            <a:r>
              <a:rPr sz="1238" b="1" i="0">
                <a:solidFill>
                  <a:srgbClr val="102A43"/>
                </a:solidFill>
                <a:latin typeface="Arial"/>
                <a:ea typeface="Arial"/>
                <a:cs typeface="Arial"/>
              </a:rPr>
              <a:t>stunted • severe stunting • underweight</a:t>
            </a:r>
          </a:p>
        </p:txBody>
      </p:sp>
      <p:sp>
        <p:nvSpPr>
          <p:cNvPr id="18" name="Straight Connector 17">
            <a:extLst>
              <a:ext uri="{FF2B5EF4-FFF2-40B4-BE49-F238E27FC236}">
                <a16:creationId xmlns:a16="http://schemas.microsoft.com/office/drawing/2014/main" id="{1DF4FDD3-D838-4577-916E-37C07ED312A8}"/>
              </a:ext>
            </a:extLst>
          </p:cNvPr>
          <p:cNvSpPr>
            <a:spLocks noGrp="1"/>
          </p:cNvSpPr>
          <p:nvPr/>
        </p:nvSpPr>
        <p:spPr>
          <a:xfrm>
            <a:off x="4591050" y="3238500"/>
            <a:ext cx="0" cy="0"/>
          </a:xfrm>
          <a:prstGeom prst="line">
            <a:avLst/>
          </a:prstGeom>
          <a:noFill/>
          <a:ln w="28575">
            <a:solidFill>
              <a:srgbClr val="0F766E"/>
            </a:solidFill>
            <a:prstDash val="solid"/>
          </a:ln>
        </p:spPr>
      </p:sp>
      <p:sp>
        <p:nvSpPr>
          <p:cNvPr id="19" name="Rounded Rectangle 18">
            <a:extLst>
              <a:ext uri="{FF2B5EF4-FFF2-40B4-BE49-F238E27FC236}">
                <a16:creationId xmlns:a16="http://schemas.microsoft.com/office/drawing/2014/main" id="{E5A3276F-61D4-4AA2-9EC9-294FC46A63BA}"/>
              </a:ext>
            </a:extLst>
          </p:cNvPr>
          <p:cNvSpPr>
            <a:spLocks noGrp="1"/>
          </p:cNvSpPr>
          <p:nvPr/>
        </p:nvSpPr>
        <p:spPr>
          <a:xfrm>
            <a:off x="2381250" y="3638550"/>
            <a:ext cx="4038600" cy="781050"/>
          </a:xfrm>
          <a:prstGeom prst="roundRect">
            <a:avLst>
              <a:gd name="adj" fmla="val 14634"/>
            </a:avLst>
          </a:prstGeom>
          <a:solidFill>
            <a:srgbClr val="163A5F"/>
          </a:solidFill>
          <a:ln w="0">
            <a:noFill/>
            <a:prstDash val="solid"/>
          </a:ln>
        </p:spPr>
      </p:sp>
      <p:sp>
        <p:nvSpPr>
          <p:cNvPr id="20" name="Rectangle 19">
            <a:extLst>
              <a:ext uri="{FF2B5EF4-FFF2-40B4-BE49-F238E27FC236}">
                <a16:creationId xmlns:a16="http://schemas.microsoft.com/office/drawing/2014/main" id="{AEA7E817-ACBF-4625-97C1-DACED4290079}"/>
              </a:ext>
            </a:extLst>
          </p:cNvPr>
          <p:cNvSpPr>
            <a:spLocks noGrp="1"/>
          </p:cNvSpPr>
          <p:nvPr/>
        </p:nvSpPr>
        <p:spPr>
          <a:xfrm>
            <a:off x="2609850" y="3800475"/>
            <a:ext cx="3581400" cy="457200"/>
          </a:xfrm>
          <a:prstGeom prst="rect">
            <a:avLst/>
          </a:prstGeom>
          <a:noFill/>
          <a:ln w="0">
            <a:noFill/>
          </a:ln>
        </p:spPr>
        <p:txBody>
          <a:bodyPr lIns="0" tIns="0" rIns="0" bIns="0" anchor="t">
            <a:normAutofit fontScale="94268"/>
          </a:bodyPr>
          <a:lstStyle/>
          <a:p>
            <a:pPr algn="ctr">
              <a:lnSpc>
                <a:spcPct val="108000"/>
              </a:lnSpc>
              <a:buNone/>
              <a:defRPr sz="1275" b="1" i="0">
                <a:solidFill>
                  <a:srgbClr val="FFFFFF"/>
                </a:solidFill>
                <a:latin typeface="Arial"/>
                <a:ea typeface="Arial"/>
                <a:cs typeface="Arial"/>
              </a:defRPr>
            </a:pPr>
            <a:r>
              <a:rPr sz="1275" b="1" i="0">
                <a:solidFill>
                  <a:srgbClr val="FFFFFF"/>
                </a:solidFill>
                <a:latin typeface="Arial"/>
                <a:ea typeface="Arial"/>
                <a:cs typeface="Arial"/>
              </a:rPr>
              <a:t>calibrated probabilities + cost-optimal thresholds</a:t>
            </a:r>
          </a:p>
          <a:p>
            <a:pPr algn="ctr">
              <a:lnSpc>
                <a:spcPct val="108000"/>
              </a:lnSpc>
              <a:buNone/>
              <a:defRPr sz="1275" b="1" i="0">
                <a:solidFill>
                  <a:srgbClr val="FFFFFF"/>
                </a:solidFill>
                <a:latin typeface="Arial"/>
                <a:ea typeface="Arial"/>
                <a:cs typeface="Arial"/>
              </a:defRPr>
            </a:pPr>
            <a:r>
              <a:rPr sz="1275" b="1" i="0">
                <a:solidFill>
                  <a:srgbClr val="FFFFFF"/>
                </a:solidFill>
                <a:latin typeface="Arial"/>
                <a:ea typeface="Arial"/>
                <a:cs typeface="Arial"/>
              </a:rPr>
              <a:t>+ composite risk index + anomaly check</a:t>
            </a:r>
          </a:p>
        </p:txBody>
      </p:sp>
      <p:sp>
        <p:nvSpPr>
          <p:cNvPr id="21" name="Rounded Rectangle 20">
            <a:extLst>
              <a:ext uri="{FF2B5EF4-FFF2-40B4-BE49-F238E27FC236}">
                <a16:creationId xmlns:a16="http://schemas.microsoft.com/office/drawing/2014/main" id="{712BE6E5-BE38-4612-8443-1D9FF6C7C667}"/>
              </a:ext>
            </a:extLst>
          </p:cNvPr>
          <p:cNvSpPr>
            <a:spLocks noGrp="1"/>
          </p:cNvSpPr>
          <p:nvPr/>
        </p:nvSpPr>
        <p:spPr>
          <a:xfrm>
            <a:off x="2895600" y="4572000"/>
            <a:ext cx="3009900" cy="361950"/>
          </a:xfrm>
          <a:prstGeom prst="roundRect">
            <a:avLst>
              <a:gd name="adj" fmla="val 31579"/>
            </a:avLst>
          </a:prstGeom>
          <a:solidFill>
            <a:srgbClr val="0F766E"/>
          </a:solidFill>
          <a:ln w="0">
            <a:noFill/>
            <a:prstDash val="solid"/>
          </a:ln>
        </p:spPr>
      </p:sp>
      <p:sp>
        <p:nvSpPr>
          <p:cNvPr id="22" name="Rectangle 21">
            <a:extLst>
              <a:ext uri="{FF2B5EF4-FFF2-40B4-BE49-F238E27FC236}">
                <a16:creationId xmlns:a16="http://schemas.microsoft.com/office/drawing/2014/main" id="{D885B7C0-DD02-46C9-993F-FBD0CBD8387D}"/>
              </a:ext>
            </a:extLst>
          </p:cNvPr>
          <p:cNvSpPr>
            <a:spLocks noGrp="1"/>
          </p:cNvSpPr>
          <p:nvPr/>
        </p:nvSpPr>
        <p:spPr>
          <a:xfrm>
            <a:off x="2895600" y="4667250"/>
            <a:ext cx="3009900" cy="190500"/>
          </a:xfrm>
          <a:prstGeom prst="rect">
            <a:avLst/>
          </a:prstGeom>
          <a:noFill/>
          <a:ln w="0">
            <a:noFill/>
          </a:ln>
        </p:spPr>
        <p:txBody>
          <a:bodyPr lIns="0" tIns="0" rIns="0" bIns="0" anchor="t">
            <a:normAutofit fontScale="90777" lnSpcReduction="10000"/>
          </a:bodyPr>
          <a:lstStyle/>
          <a:p>
            <a:pPr algn="ctr">
              <a:lnSpc>
                <a:spcPct val="108000"/>
              </a:lnSpc>
              <a:buNone/>
              <a:defRPr sz="1275" b="1" i="0">
                <a:solidFill>
                  <a:srgbClr val="FFFFFF"/>
                </a:solidFill>
                <a:latin typeface="Arial"/>
                <a:ea typeface="Arial"/>
                <a:cs typeface="Arial"/>
              </a:defRPr>
            </a:pPr>
            <a:r>
              <a:rPr sz="1275" b="1" i="0">
                <a:solidFill>
                  <a:srgbClr val="FFFFFF"/>
                </a:solidFill>
                <a:latin typeface="Arial"/>
                <a:ea typeface="Arial"/>
                <a:cs typeface="Arial"/>
              </a:rPr>
              <a:t>triage band + drivers</a:t>
            </a:r>
          </a:p>
        </p:txBody>
      </p:sp>
      <p:pic>
        <p:nvPicPr>
          <p:cNvPr id="50" name="Picture 49"/>
          <p:cNvPicPr>
            <a:picLocks noChangeAspect="1"/>
          </p:cNvPicPr>
          <p:nvPr/>
        </p:nvPicPr>
        <p:blipFill>
          <a:blip r:embed="rId3"/>
          <a:stretch/>
        </p:blipFill>
        <p:spPr>
          <a:xfrm>
            <a:off x="8496300" y="2224907"/>
            <a:ext cx="3009900" cy="941335"/>
          </a:xfrm>
          <a:prstGeom prst="roundRect">
            <a:avLst>
              <a:gd name="adj" fmla="val 5217"/>
            </a:avLst>
          </a:prstGeom>
        </p:spPr>
      </p:pic>
      <p:pic>
        <p:nvPicPr>
          <p:cNvPr id="51" name="Picture 50"/>
          <p:cNvPicPr>
            <a:picLocks noChangeAspect="1"/>
          </p:cNvPicPr>
          <p:nvPr/>
        </p:nvPicPr>
        <p:blipFill>
          <a:blip r:embed="rId4"/>
          <a:stretch/>
        </p:blipFill>
        <p:spPr>
          <a:xfrm>
            <a:off x="8496300" y="4270862"/>
            <a:ext cx="3009900" cy="945176"/>
          </a:xfrm>
          <a:prstGeom prst="roundRect">
            <a:avLst>
              <a:gd name="adj" fmla="val 7500"/>
            </a:avLst>
          </a:prstGeom>
        </p:spPr>
      </p:pic>
      <p:sp>
        <p:nvSpPr>
          <p:cNvPr id="25" name="Rectangle 24">
            <a:extLst>
              <a:ext uri="{FF2B5EF4-FFF2-40B4-BE49-F238E27FC236}">
                <a16:creationId xmlns:a16="http://schemas.microsoft.com/office/drawing/2014/main" id="{A17551A6-C192-4634-9921-79B987E6D8E7}"/>
              </a:ext>
            </a:extLst>
          </p:cNvPr>
          <p:cNvSpPr>
            <a:spLocks noGrp="1"/>
          </p:cNvSpPr>
          <p:nvPr/>
        </p:nvSpPr>
        <p:spPr>
          <a:xfrm>
            <a:off x="685800" y="6515100"/>
            <a:ext cx="2381250" cy="171450"/>
          </a:xfrm>
          <a:prstGeom prst="rect">
            <a:avLst/>
          </a:prstGeom>
          <a:noFill/>
          <a:ln w="0">
            <a:noFill/>
          </a:ln>
        </p:spPr>
        <p:txBody>
          <a:bodyPr lIns="0" tIns="0" rIns="0" bIns="0" anchor="t">
            <a:normAutofit/>
          </a:bodyPr>
          <a:lstStyle/>
          <a:p>
            <a:pPr algn="l">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Sakib  |  12:19</a:t>
            </a:r>
          </a:p>
        </p:txBody>
      </p:sp>
      <p:sp>
        <p:nvSpPr>
          <p:cNvPr id="26" name="Rectangle 25">
            <a:extLst>
              <a:ext uri="{FF2B5EF4-FFF2-40B4-BE49-F238E27FC236}">
                <a16:creationId xmlns:a16="http://schemas.microsoft.com/office/drawing/2014/main" id="{BDF07B89-4CDD-4467-8616-FCF0DB35E73C}"/>
              </a:ext>
            </a:extLst>
          </p:cNvPr>
          <p:cNvSpPr>
            <a:spLocks noGrp="1"/>
          </p:cNvSpPr>
          <p:nvPr/>
        </p:nvSpPr>
        <p:spPr>
          <a:xfrm>
            <a:off x="3095625" y="6515100"/>
            <a:ext cx="5905500" cy="171450"/>
          </a:xfrm>
          <a:prstGeom prst="rect">
            <a:avLst/>
          </a:prstGeom>
          <a:noFill/>
          <a:ln w="0">
            <a:noFill/>
          </a:ln>
        </p:spPr>
        <p:txBody>
          <a:bodyPr lIns="0" tIns="0" rIns="0" bIns="0" anchor="t">
            <a:normAutofit/>
          </a:bodyPr>
          <a:lstStyle/>
          <a:p>
            <a:pPr algn="ctr">
              <a:lnSpc>
                <a:spcPct val="100000"/>
              </a:lnSpc>
              <a:buNone/>
              <a:defRPr sz="713" b="0" i="0">
                <a:solidFill>
                  <a:srgbClr val="7B8794"/>
                </a:solidFill>
                <a:latin typeface="Arial"/>
                <a:ea typeface="Arial"/>
                <a:cs typeface="Arial"/>
              </a:defRPr>
            </a:pPr>
            <a:r>
              <a:rPr sz="713" b="0" i="0">
                <a:solidFill>
                  <a:srgbClr val="7B8794"/>
                </a:solidFill>
                <a:latin typeface="Arial"/>
                <a:ea typeface="Arial"/>
                <a:cs typeface="Arial"/>
              </a:rPr>
              <a:t>Source: notebook cells 242-248, 253-284</a:t>
            </a:r>
          </a:p>
        </p:txBody>
      </p:sp>
      <p:sp>
        <p:nvSpPr>
          <p:cNvPr id="27" name="Rectangle 26">
            <a:extLst>
              <a:ext uri="{FF2B5EF4-FFF2-40B4-BE49-F238E27FC236}">
                <a16:creationId xmlns:a16="http://schemas.microsoft.com/office/drawing/2014/main" id="{0F91382E-36DB-41AC-9DE0-54B9AED5D01D}"/>
              </a:ext>
            </a:extLst>
          </p:cNvPr>
          <p:cNvSpPr>
            <a:spLocks noGrp="1"/>
          </p:cNvSpPr>
          <p:nvPr/>
        </p:nvSpPr>
        <p:spPr>
          <a:xfrm>
            <a:off x="9191625" y="6515100"/>
            <a:ext cx="2314575" cy="171450"/>
          </a:xfrm>
          <a:prstGeom prst="rect">
            <a:avLst/>
          </a:prstGeom>
          <a:noFill/>
          <a:ln w="0">
            <a:noFill/>
          </a:ln>
        </p:spPr>
        <p:txBody>
          <a:bodyPr lIns="0" tIns="0" rIns="0" bIns="0" anchor="t">
            <a:normAutofit/>
          </a:bodyPr>
          <a:lstStyle/>
          <a:p>
            <a:pPr algn="r">
              <a:lnSpc>
                <a:spcPct val="100000"/>
              </a:lnSpc>
              <a:buNone/>
              <a:defRPr sz="788" b="0" i="0">
                <a:solidFill>
                  <a:srgbClr val="7B8794"/>
                </a:solidFill>
                <a:latin typeface="Arial"/>
                <a:ea typeface="Arial"/>
                <a:cs typeface="Arial"/>
              </a:defRPr>
            </a:pPr>
            <a:r>
              <a:rPr sz="788" b="0" i="0">
                <a:solidFill>
                  <a:srgbClr val="7B8794"/>
                </a:solidFill>
                <a:latin typeface="Arial"/>
                <a:ea typeface="Arial"/>
                <a:cs typeface="Arial"/>
              </a:rPr>
              <a:t>BDHS 2017-18 + 2022</a:t>
            </a:r>
          </a:p>
        </p:txBody>
      </p:sp>
    </p:spTree>
    <p:extLst>
      <p:ext uri="{BB962C8B-B14F-4D97-AF65-F5344CB8AC3E}">
        <p14:creationId xmlns:p14="http://schemas.microsoft.com/office/powerpoint/2010/main" val="1341110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838EDBB-5D34-45AA-B8EC-CCC81B079A5C}"/>
              </a:ext>
            </a:extLst>
          </p:cNvPr>
          <p:cNvSpPr>
            <a:spLocks noGrp="1"/>
          </p:cNvSpPr>
          <p:nvPr/>
        </p:nvSpPr>
        <p:spPr>
          <a:xfrm>
            <a:off x="685800" y="552450"/>
            <a:ext cx="2857500" cy="228600"/>
          </a:xfrm>
          <a:prstGeom prst="rect">
            <a:avLst/>
          </a:prstGeom>
          <a:noFill/>
          <a:ln w="0">
            <a:noFill/>
          </a:ln>
        </p:spPr>
        <p:txBody>
          <a:bodyPr lIns="0" tIns="0" rIns="0" bIns="0" anchor="t">
            <a:normAutofit/>
          </a:bodyPr>
          <a:lstStyle/>
          <a:p>
            <a:pPr algn="l">
              <a:lnSpc>
                <a:spcPct val="108000"/>
              </a:lnSpc>
              <a:buNone/>
              <a:defRPr sz="975" b="1" i="0">
                <a:solidFill>
                  <a:srgbClr val="8FE3D9"/>
                </a:solidFill>
                <a:latin typeface="Arial"/>
                <a:ea typeface="Arial"/>
                <a:cs typeface="Arial"/>
              </a:defRPr>
            </a:pPr>
            <a:r>
              <a:rPr sz="975" b="1" i="0">
                <a:solidFill>
                  <a:srgbClr val="8FE3D9"/>
                </a:solidFill>
                <a:latin typeface="Arial"/>
                <a:ea typeface="Arial"/>
                <a:cs typeface="Arial"/>
              </a:rPr>
              <a:t>CONCLUSION</a:t>
            </a:r>
          </a:p>
        </p:txBody>
      </p:sp>
      <p:sp>
        <p:nvSpPr>
          <p:cNvPr id="2" name="Rectangle 1">
            <a:extLst>
              <a:ext uri="{FF2B5EF4-FFF2-40B4-BE49-F238E27FC236}">
                <a16:creationId xmlns:a16="http://schemas.microsoft.com/office/drawing/2014/main" id="{CC8FEA82-1A76-4EF3-A81D-8681D59A4F04}"/>
              </a:ext>
            </a:extLst>
          </p:cNvPr>
          <p:cNvSpPr>
            <a:spLocks noGrp="1"/>
          </p:cNvSpPr>
          <p:nvPr/>
        </p:nvSpPr>
        <p:spPr>
          <a:xfrm>
            <a:off x="685800" y="971550"/>
            <a:ext cx="8382000" cy="514350"/>
          </a:xfrm>
          <a:prstGeom prst="rect">
            <a:avLst/>
          </a:prstGeom>
          <a:noFill/>
          <a:ln w="0">
            <a:noFill/>
          </a:ln>
        </p:spPr>
        <p:txBody>
          <a:bodyPr lIns="0" tIns="0" rIns="0" bIns="0" anchor="t">
            <a:normAutofit/>
          </a:bodyPr>
          <a:lstStyle/>
          <a:p>
            <a:pPr algn="l">
              <a:lnSpc>
                <a:spcPct val="98000"/>
              </a:lnSpc>
              <a:buNone/>
              <a:defRPr sz="2700" b="1" i="0">
                <a:solidFill>
                  <a:srgbClr val="FFFFFF"/>
                </a:solidFill>
                <a:latin typeface="Arial"/>
                <a:ea typeface="Arial"/>
                <a:cs typeface="Arial"/>
              </a:defRPr>
            </a:pPr>
            <a:r>
              <a:rPr sz="2700" b="1" i="0">
                <a:solidFill>
                  <a:srgbClr val="FFFFFF"/>
                </a:solidFill>
                <a:latin typeface="Arial"/>
                <a:ea typeface="Arial"/>
                <a:cs typeface="Arial"/>
              </a:rPr>
              <a:t>What the full project shows</a:t>
            </a:r>
          </a:p>
        </p:txBody>
      </p:sp>
      <p:sp>
        <p:nvSpPr>
          <p:cNvPr id="3" name="Straight Connector 2">
            <a:extLst>
              <a:ext uri="{FF2B5EF4-FFF2-40B4-BE49-F238E27FC236}">
                <a16:creationId xmlns:a16="http://schemas.microsoft.com/office/drawing/2014/main" id="{D3C25B80-AF96-4102-83D5-05015319F72E}"/>
              </a:ext>
            </a:extLst>
          </p:cNvPr>
          <p:cNvSpPr>
            <a:spLocks noGrp="1"/>
          </p:cNvSpPr>
          <p:nvPr/>
        </p:nvSpPr>
        <p:spPr>
          <a:xfrm>
            <a:off x="685800" y="1714500"/>
            <a:ext cx="10820400" cy="0"/>
          </a:xfrm>
          <a:prstGeom prst="line">
            <a:avLst/>
          </a:prstGeom>
          <a:noFill/>
          <a:ln w="9525">
            <a:solidFill>
              <a:srgbClr val="41627F"/>
            </a:solidFill>
            <a:prstDash val="solid"/>
          </a:ln>
        </p:spPr>
      </p:sp>
      <p:sp>
        <p:nvSpPr>
          <p:cNvPr id="4" name="Rectangle 3">
            <a:extLst>
              <a:ext uri="{FF2B5EF4-FFF2-40B4-BE49-F238E27FC236}">
                <a16:creationId xmlns:a16="http://schemas.microsoft.com/office/drawing/2014/main" id="{16FF629A-A8FF-424D-9905-8251887BF206}"/>
              </a:ext>
            </a:extLst>
          </p:cNvPr>
          <p:cNvSpPr>
            <a:spLocks noGrp="1"/>
          </p:cNvSpPr>
          <p:nvPr/>
        </p:nvSpPr>
        <p:spPr>
          <a:xfrm>
            <a:off x="685800" y="2095500"/>
            <a:ext cx="400050" cy="285750"/>
          </a:xfrm>
          <a:prstGeom prst="rect">
            <a:avLst/>
          </a:prstGeom>
          <a:noFill/>
          <a:ln w="0">
            <a:noFill/>
          </a:ln>
        </p:spPr>
        <p:txBody>
          <a:bodyPr lIns="0" tIns="0" rIns="0" bIns="0" anchor="t">
            <a:normAutofit/>
          </a:bodyPr>
          <a:lstStyle/>
          <a:p>
            <a:pPr algn="ctr">
              <a:lnSpc>
                <a:spcPct val="108000"/>
              </a:lnSpc>
              <a:buNone/>
              <a:defRPr sz="1725" b="1" i="0">
                <a:solidFill>
                  <a:srgbClr val="8FE3D9"/>
                </a:solidFill>
                <a:latin typeface="Arial"/>
                <a:ea typeface="Arial"/>
                <a:cs typeface="Arial"/>
              </a:defRPr>
            </a:pPr>
            <a:r>
              <a:rPr sz="1725" b="1" i="0">
                <a:solidFill>
                  <a:srgbClr val="8FE3D9"/>
                </a:solidFill>
                <a:latin typeface="Arial"/>
                <a:ea typeface="Arial"/>
                <a:cs typeface="Arial"/>
              </a:rPr>
              <a:t>1</a:t>
            </a:r>
          </a:p>
        </p:txBody>
      </p:sp>
      <p:sp>
        <p:nvSpPr>
          <p:cNvPr id="5" name="Rectangle 4">
            <a:extLst>
              <a:ext uri="{FF2B5EF4-FFF2-40B4-BE49-F238E27FC236}">
                <a16:creationId xmlns:a16="http://schemas.microsoft.com/office/drawing/2014/main" id="{A4928536-B400-401D-B7C1-440823917BB0}"/>
              </a:ext>
            </a:extLst>
          </p:cNvPr>
          <p:cNvSpPr>
            <a:spLocks noGrp="1"/>
          </p:cNvSpPr>
          <p:nvPr/>
        </p:nvSpPr>
        <p:spPr>
          <a:xfrm>
            <a:off x="1314450" y="2095500"/>
            <a:ext cx="3381375" cy="238125"/>
          </a:xfrm>
          <a:prstGeom prst="rect">
            <a:avLst/>
          </a:prstGeom>
          <a:noFill/>
          <a:ln w="0">
            <a:noFill/>
          </a:ln>
        </p:spPr>
        <p:txBody>
          <a:bodyPr lIns="0" tIns="0" rIns="0" bIns="0" anchor="t">
            <a:normAutofit/>
          </a:bodyPr>
          <a:lstStyle/>
          <a:p>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The denominator is a result.</a:t>
            </a:r>
          </a:p>
        </p:txBody>
      </p:sp>
      <p:sp>
        <p:nvSpPr>
          <p:cNvPr id="6" name="Rectangle 5">
            <a:extLst>
              <a:ext uri="{FF2B5EF4-FFF2-40B4-BE49-F238E27FC236}">
                <a16:creationId xmlns:a16="http://schemas.microsoft.com/office/drawing/2014/main" id="{C8F84DF7-AED2-4F70-B6D7-A259B3CBA028}"/>
              </a:ext>
            </a:extLst>
          </p:cNvPr>
          <p:cNvSpPr>
            <a:spLocks noGrp="1"/>
          </p:cNvSpPr>
          <p:nvPr/>
        </p:nvSpPr>
        <p:spPr>
          <a:xfrm>
            <a:off x="4895850" y="2114550"/>
            <a:ext cx="6191250" cy="238125"/>
          </a:xfrm>
          <a:prstGeom prst="rect">
            <a:avLst/>
          </a:prstGeom>
          <a:noFill/>
          <a:ln w="0">
            <a:noFill/>
          </a:ln>
        </p:spPr>
        <p:txBody>
          <a:bodyPr lIns="0" tIns="0" rIns="0" bIns="0" anchor="t">
            <a:normAutofit fontScale="98993"/>
          </a:bodyPr>
          <a:lstStyle/>
          <a:p>
            <a:pPr algn="l">
              <a:lnSpc>
                <a:spcPct val="108000"/>
              </a:lnSpc>
              <a:buNone/>
              <a:defRPr sz="1238" b="0" i="0">
                <a:solidFill>
                  <a:srgbClr val="D9E2EC"/>
                </a:solidFill>
                <a:latin typeface="Arial"/>
                <a:ea typeface="Arial"/>
                <a:cs typeface="Arial"/>
              </a:defRPr>
            </a:pPr>
            <a:r>
              <a:rPr sz="1238" b="0" i="0">
                <a:solidFill>
                  <a:srgbClr val="D9E2EC"/>
                </a:solidFill>
                <a:latin typeface="Arial"/>
                <a:ea typeface="Arial"/>
                <a:cs typeface="Arial"/>
              </a:rPr>
              <a:t>Four shortened cohorts made each target, feature set and evaluation universe defensible.</a:t>
            </a:r>
          </a:p>
        </p:txBody>
      </p:sp>
      <p:sp>
        <p:nvSpPr>
          <p:cNvPr id="7" name="Straight Connector 6">
            <a:extLst>
              <a:ext uri="{FF2B5EF4-FFF2-40B4-BE49-F238E27FC236}">
                <a16:creationId xmlns:a16="http://schemas.microsoft.com/office/drawing/2014/main" id="{F5D31F9F-FCB4-4EA6-810E-00CAE763C666}"/>
              </a:ext>
            </a:extLst>
          </p:cNvPr>
          <p:cNvSpPr>
            <a:spLocks noGrp="1"/>
          </p:cNvSpPr>
          <p:nvPr/>
        </p:nvSpPr>
        <p:spPr>
          <a:xfrm>
            <a:off x="1314450" y="2524125"/>
            <a:ext cx="9772650" cy="0"/>
          </a:xfrm>
          <a:prstGeom prst="line">
            <a:avLst/>
          </a:prstGeom>
          <a:noFill/>
          <a:ln w="9525">
            <a:solidFill>
              <a:srgbClr val="41627F"/>
            </a:solidFill>
            <a:prstDash val="solid"/>
          </a:ln>
        </p:spPr>
      </p:sp>
      <p:sp>
        <p:nvSpPr>
          <p:cNvPr id="8" name="Rectangle 7">
            <a:extLst>
              <a:ext uri="{FF2B5EF4-FFF2-40B4-BE49-F238E27FC236}">
                <a16:creationId xmlns:a16="http://schemas.microsoft.com/office/drawing/2014/main" id="{C34E1814-53D9-47B5-B6E7-1B9C859471F1}"/>
              </a:ext>
            </a:extLst>
          </p:cNvPr>
          <p:cNvSpPr>
            <a:spLocks noGrp="1"/>
          </p:cNvSpPr>
          <p:nvPr/>
        </p:nvSpPr>
        <p:spPr>
          <a:xfrm>
            <a:off x="685800" y="2695575"/>
            <a:ext cx="400050" cy="285750"/>
          </a:xfrm>
          <a:prstGeom prst="rect">
            <a:avLst/>
          </a:prstGeom>
          <a:noFill/>
          <a:ln w="0">
            <a:noFill/>
          </a:ln>
        </p:spPr>
        <p:txBody>
          <a:bodyPr lIns="0" tIns="0" rIns="0" bIns="0" anchor="t">
            <a:normAutofit/>
          </a:bodyPr>
          <a:lstStyle/>
          <a:p>
            <a:pPr algn="ctr">
              <a:lnSpc>
                <a:spcPct val="108000"/>
              </a:lnSpc>
              <a:buNone/>
              <a:defRPr sz="1725" b="1" i="0">
                <a:solidFill>
                  <a:srgbClr val="8FE3D9"/>
                </a:solidFill>
                <a:latin typeface="Arial"/>
                <a:ea typeface="Arial"/>
                <a:cs typeface="Arial"/>
              </a:defRPr>
            </a:pPr>
            <a:r>
              <a:rPr sz="1725" b="1" i="0">
                <a:solidFill>
                  <a:srgbClr val="8FE3D9"/>
                </a:solidFill>
                <a:latin typeface="Arial"/>
                <a:ea typeface="Arial"/>
                <a:cs typeface="Arial"/>
              </a:rPr>
              <a:t>2</a:t>
            </a:r>
          </a:p>
        </p:txBody>
      </p:sp>
      <p:sp>
        <p:nvSpPr>
          <p:cNvPr id="9" name="Rectangle 8">
            <a:extLst>
              <a:ext uri="{FF2B5EF4-FFF2-40B4-BE49-F238E27FC236}">
                <a16:creationId xmlns:a16="http://schemas.microsoft.com/office/drawing/2014/main" id="{11F22306-5C45-4333-8655-8F889A1E59E8}"/>
              </a:ext>
            </a:extLst>
          </p:cNvPr>
          <p:cNvSpPr>
            <a:spLocks noGrp="1"/>
          </p:cNvSpPr>
          <p:nvPr/>
        </p:nvSpPr>
        <p:spPr>
          <a:xfrm>
            <a:off x="1314450" y="2695575"/>
            <a:ext cx="3381375" cy="238125"/>
          </a:xfrm>
          <a:prstGeom prst="rect">
            <a:avLst/>
          </a:prstGeom>
          <a:noFill/>
          <a:ln w="0">
            <a:noFill/>
          </a:ln>
        </p:spPr>
        <p:txBody>
          <a:bodyPr lIns="0" tIns="0" rIns="0" bIns="0" anchor="t">
            <a:normAutofit/>
          </a:bodyPr>
          <a:lstStyle/>
          <a:p>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The ceiling is informational.</a:t>
            </a:r>
          </a:p>
        </p:txBody>
      </p:sp>
      <p:sp>
        <p:nvSpPr>
          <p:cNvPr id="10" name="Rectangle 9">
            <a:extLst>
              <a:ext uri="{FF2B5EF4-FFF2-40B4-BE49-F238E27FC236}">
                <a16:creationId xmlns:a16="http://schemas.microsoft.com/office/drawing/2014/main" id="{78B6277A-369B-474A-9A5F-5F2693307D35}"/>
              </a:ext>
            </a:extLst>
          </p:cNvPr>
          <p:cNvSpPr>
            <a:spLocks noGrp="1"/>
          </p:cNvSpPr>
          <p:nvPr/>
        </p:nvSpPr>
        <p:spPr>
          <a:xfrm>
            <a:off x="4895850" y="2714625"/>
            <a:ext cx="6191250" cy="238125"/>
          </a:xfrm>
          <a:prstGeom prst="rect">
            <a:avLst/>
          </a:prstGeom>
          <a:noFill/>
          <a:ln w="0">
            <a:noFill/>
          </a:ln>
        </p:spPr>
        <p:txBody>
          <a:bodyPr lIns="0" tIns="0" rIns="0" bIns="0" anchor="t">
            <a:normAutofit fontScale="89785"/>
          </a:bodyPr>
          <a:lstStyle/>
          <a:p>
            <a:pPr algn="l">
              <a:lnSpc>
                <a:spcPct val="108000"/>
              </a:lnSpc>
              <a:buNone/>
              <a:defRPr sz="1238" b="0" i="0">
                <a:solidFill>
                  <a:srgbClr val="D9E2EC"/>
                </a:solidFill>
                <a:latin typeface="Arial"/>
                <a:ea typeface="Arial"/>
                <a:cs typeface="Arial"/>
              </a:defRPr>
            </a:pPr>
            <a:r>
              <a:rPr sz="1238" b="0" i="0">
                <a:solidFill>
                  <a:srgbClr val="D9E2EC"/>
                </a:solidFill>
                <a:latin typeface="Arial"/>
                <a:ea typeface="Arial"/>
                <a:cs typeface="Arial"/>
              </a:rPr>
              <a:t>Seven model families converged on moderate performance; architecture did not erase weak signal.</a:t>
            </a:r>
          </a:p>
        </p:txBody>
      </p:sp>
      <p:sp>
        <p:nvSpPr>
          <p:cNvPr id="11" name="Straight Connector 10">
            <a:extLst>
              <a:ext uri="{FF2B5EF4-FFF2-40B4-BE49-F238E27FC236}">
                <a16:creationId xmlns:a16="http://schemas.microsoft.com/office/drawing/2014/main" id="{65915E0F-3C07-44CB-BF93-1DBF9140BC93}"/>
              </a:ext>
            </a:extLst>
          </p:cNvPr>
          <p:cNvSpPr>
            <a:spLocks noGrp="1"/>
          </p:cNvSpPr>
          <p:nvPr/>
        </p:nvSpPr>
        <p:spPr>
          <a:xfrm>
            <a:off x="1314450" y="3124200"/>
            <a:ext cx="9772650" cy="0"/>
          </a:xfrm>
          <a:prstGeom prst="line">
            <a:avLst/>
          </a:prstGeom>
          <a:noFill/>
          <a:ln w="9525">
            <a:solidFill>
              <a:srgbClr val="41627F"/>
            </a:solidFill>
            <a:prstDash val="solid"/>
          </a:ln>
        </p:spPr>
      </p:sp>
      <p:sp>
        <p:nvSpPr>
          <p:cNvPr id="12" name="Rectangle 11">
            <a:extLst>
              <a:ext uri="{FF2B5EF4-FFF2-40B4-BE49-F238E27FC236}">
                <a16:creationId xmlns:a16="http://schemas.microsoft.com/office/drawing/2014/main" id="{0DB08D07-C04F-406B-B8C5-F40A4F5E3819}"/>
              </a:ext>
            </a:extLst>
          </p:cNvPr>
          <p:cNvSpPr>
            <a:spLocks noGrp="1"/>
          </p:cNvSpPr>
          <p:nvPr/>
        </p:nvSpPr>
        <p:spPr>
          <a:xfrm>
            <a:off x="685800" y="3295650"/>
            <a:ext cx="400050" cy="285750"/>
          </a:xfrm>
          <a:prstGeom prst="rect">
            <a:avLst/>
          </a:prstGeom>
          <a:noFill/>
          <a:ln w="0">
            <a:noFill/>
          </a:ln>
        </p:spPr>
        <p:txBody>
          <a:bodyPr lIns="0" tIns="0" rIns="0" bIns="0" anchor="t">
            <a:normAutofit/>
          </a:bodyPr>
          <a:lstStyle/>
          <a:p>
            <a:pPr algn="ctr">
              <a:lnSpc>
                <a:spcPct val="108000"/>
              </a:lnSpc>
              <a:buNone/>
              <a:defRPr sz="1725" b="1" i="0">
                <a:solidFill>
                  <a:srgbClr val="8FE3D9"/>
                </a:solidFill>
                <a:latin typeface="Arial"/>
                <a:ea typeface="Arial"/>
                <a:cs typeface="Arial"/>
              </a:defRPr>
            </a:pPr>
            <a:r>
              <a:rPr sz="1725" b="1" i="0">
                <a:solidFill>
                  <a:srgbClr val="8FE3D9"/>
                </a:solidFill>
                <a:latin typeface="Arial"/>
                <a:ea typeface="Arial"/>
                <a:cs typeface="Arial"/>
              </a:rPr>
              <a:t>3</a:t>
            </a:r>
          </a:p>
        </p:txBody>
      </p:sp>
      <p:sp>
        <p:nvSpPr>
          <p:cNvPr id="13" name="Rectangle 12">
            <a:extLst>
              <a:ext uri="{FF2B5EF4-FFF2-40B4-BE49-F238E27FC236}">
                <a16:creationId xmlns:a16="http://schemas.microsoft.com/office/drawing/2014/main" id="{CCFA4898-4FD2-4DC0-8C5C-01A965C1D18C}"/>
              </a:ext>
            </a:extLst>
          </p:cNvPr>
          <p:cNvSpPr>
            <a:spLocks noGrp="1"/>
          </p:cNvSpPr>
          <p:nvPr/>
        </p:nvSpPr>
        <p:spPr>
          <a:xfrm>
            <a:off x="1314450" y="3295650"/>
            <a:ext cx="3381375" cy="238125"/>
          </a:xfrm>
          <a:prstGeom prst="rect">
            <a:avLst/>
          </a:prstGeom>
          <a:noFill/>
          <a:ln w="0">
            <a:noFill/>
          </a:ln>
        </p:spPr>
        <p:txBody>
          <a:bodyPr lIns="0" tIns="0" rIns="0" bIns="0" anchor="t">
            <a:normAutofit/>
          </a:bodyPr>
          <a:lstStyle/>
          <a:p>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Reliability changes deployment.</a:t>
            </a:r>
          </a:p>
        </p:txBody>
      </p:sp>
      <p:sp>
        <p:nvSpPr>
          <p:cNvPr id="14" name="Rectangle 13">
            <a:extLst>
              <a:ext uri="{FF2B5EF4-FFF2-40B4-BE49-F238E27FC236}">
                <a16:creationId xmlns:a16="http://schemas.microsoft.com/office/drawing/2014/main" id="{9B3EBE40-A79C-47D5-90A3-6574862CB709}"/>
              </a:ext>
            </a:extLst>
          </p:cNvPr>
          <p:cNvSpPr>
            <a:spLocks noGrp="1"/>
          </p:cNvSpPr>
          <p:nvPr/>
        </p:nvSpPr>
        <p:spPr>
          <a:xfrm>
            <a:off x="4895850" y="3314700"/>
            <a:ext cx="6191250" cy="238125"/>
          </a:xfrm>
          <a:prstGeom prst="rect">
            <a:avLst/>
          </a:prstGeom>
          <a:noFill/>
          <a:ln w="0">
            <a:noFill/>
          </a:ln>
        </p:spPr>
        <p:txBody>
          <a:bodyPr lIns="0" tIns="0" rIns="0" bIns="0" anchor="t">
            <a:normAutofit fontScale="78747" lnSpcReduction="10000"/>
          </a:bodyPr>
          <a:lstStyle/>
          <a:p>
            <a:pPr algn="l">
              <a:lnSpc>
                <a:spcPct val="108000"/>
              </a:lnSpc>
              <a:buNone/>
              <a:defRPr sz="1238" b="0" i="0">
                <a:solidFill>
                  <a:srgbClr val="D9E2EC"/>
                </a:solidFill>
                <a:latin typeface="Arial"/>
                <a:ea typeface="Arial"/>
                <a:cs typeface="Arial"/>
              </a:defRPr>
            </a:pPr>
            <a:r>
              <a:rPr sz="1238" b="0" i="0">
                <a:solidFill>
                  <a:srgbClr val="D9E2EC"/>
                </a:solidFill>
                <a:latin typeface="Arial"/>
                <a:ea typeface="Arial"/>
                <a:cs typeface="Arial"/>
              </a:rPr>
              <a:t>Thresholds, calibration, bootstrap intervals, temporal drift and decision curves matter as much as AUC.</a:t>
            </a:r>
          </a:p>
        </p:txBody>
      </p:sp>
      <p:sp>
        <p:nvSpPr>
          <p:cNvPr id="15" name="Straight Connector 14">
            <a:extLst>
              <a:ext uri="{FF2B5EF4-FFF2-40B4-BE49-F238E27FC236}">
                <a16:creationId xmlns:a16="http://schemas.microsoft.com/office/drawing/2014/main" id="{214A7A9F-20C0-4548-8B59-189D9DA11EFF}"/>
              </a:ext>
            </a:extLst>
          </p:cNvPr>
          <p:cNvSpPr>
            <a:spLocks noGrp="1"/>
          </p:cNvSpPr>
          <p:nvPr/>
        </p:nvSpPr>
        <p:spPr>
          <a:xfrm>
            <a:off x="1314450" y="3724275"/>
            <a:ext cx="9772650" cy="0"/>
          </a:xfrm>
          <a:prstGeom prst="line">
            <a:avLst/>
          </a:prstGeom>
          <a:noFill/>
          <a:ln w="9525">
            <a:solidFill>
              <a:srgbClr val="41627F"/>
            </a:solidFill>
            <a:prstDash val="solid"/>
          </a:ln>
        </p:spPr>
      </p:sp>
      <p:sp>
        <p:nvSpPr>
          <p:cNvPr id="16" name="Rectangle 15">
            <a:extLst>
              <a:ext uri="{FF2B5EF4-FFF2-40B4-BE49-F238E27FC236}">
                <a16:creationId xmlns:a16="http://schemas.microsoft.com/office/drawing/2014/main" id="{7723C0BF-1712-42EC-8B07-C243AD178FDA}"/>
              </a:ext>
            </a:extLst>
          </p:cNvPr>
          <p:cNvSpPr>
            <a:spLocks noGrp="1"/>
          </p:cNvSpPr>
          <p:nvPr/>
        </p:nvSpPr>
        <p:spPr>
          <a:xfrm>
            <a:off x="685800" y="3895725"/>
            <a:ext cx="400050" cy="285750"/>
          </a:xfrm>
          <a:prstGeom prst="rect">
            <a:avLst/>
          </a:prstGeom>
          <a:noFill/>
          <a:ln w="0">
            <a:noFill/>
          </a:ln>
        </p:spPr>
        <p:txBody>
          <a:bodyPr lIns="0" tIns="0" rIns="0" bIns="0" anchor="t">
            <a:normAutofit/>
          </a:bodyPr>
          <a:lstStyle/>
          <a:p>
            <a:pPr algn="ctr">
              <a:lnSpc>
                <a:spcPct val="108000"/>
              </a:lnSpc>
              <a:buNone/>
              <a:defRPr sz="1725" b="1" i="0">
                <a:solidFill>
                  <a:srgbClr val="8FE3D9"/>
                </a:solidFill>
                <a:latin typeface="Arial"/>
                <a:ea typeface="Arial"/>
                <a:cs typeface="Arial"/>
              </a:defRPr>
            </a:pPr>
            <a:r>
              <a:rPr sz="1725" b="1" i="0">
                <a:solidFill>
                  <a:srgbClr val="8FE3D9"/>
                </a:solidFill>
                <a:latin typeface="Arial"/>
                <a:ea typeface="Arial"/>
                <a:cs typeface="Arial"/>
              </a:rPr>
              <a:t>4</a:t>
            </a:r>
          </a:p>
        </p:txBody>
      </p:sp>
      <p:sp>
        <p:nvSpPr>
          <p:cNvPr id="17" name="Rectangle 16">
            <a:extLst>
              <a:ext uri="{FF2B5EF4-FFF2-40B4-BE49-F238E27FC236}">
                <a16:creationId xmlns:a16="http://schemas.microsoft.com/office/drawing/2014/main" id="{D9B4E1B3-5642-43BC-B043-5F9A69A62AB4}"/>
              </a:ext>
            </a:extLst>
          </p:cNvPr>
          <p:cNvSpPr>
            <a:spLocks noGrp="1"/>
          </p:cNvSpPr>
          <p:nvPr/>
        </p:nvSpPr>
        <p:spPr>
          <a:xfrm>
            <a:off x="1314450" y="3895725"/>
            <a:ext cx="3381375" cy="238125"/>
          </a:xfrm>
          <a:prstGeom prst="rect">
            <a:avLst/>
          </a:prstGeom>
          <a:noFill/>
          <a:ln w="0">
            <a:noFill/>
          </a:ln>
        </p:spPr>
        <p:txBody>
          <a:bodyPr lIns="0" tIns="0" rIns="0" bIns="0" anchor="t">
            <a:normAutofit/>
          </a:bodyPr>
          <a:lstStyle/>
          <a:p>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Equity is operational.</a:t>
            </a:r>
          </a:p>
        </p:txBody>
      </p:sp>
      <p:sp>
        <p:nvSpPr>
          <p:cNvPr id="18" name="Rectangle 17">
            <a:extLst>
              <a:ext uri="{FF2B5EF4-FFF2-40B4-BE49-F238E27FC236}">
                <a16:creationId xmlns:a16="http://schemas.microsoft.com/office/drawing/2014/main" id="{30D1A90B-8DDE-41A3-998D-B2EA45E7ABDC}"/>
              </a:ext>
            </a:extLst>
          </p:cNvPr>
          <p:cNvSpPr>
            <a:spLocks noGrp="1"/>
          </p:cNvSpPr>
          <p:nvPr/>
        </p:nvSpPr>
        <p:spPr>
          <a:xfrm>
            <a:off x="4895850" y="3914775"/>
            <a:ext cx="6191250" cy="238125"/>
          </a:xfrm>
          <a:prstGeom prst="rect">
            <a:avLst/>
          </a:prstGeom>
          <a:noFill/>
          <a:ln w="0">
            <a:noFill/>
          </a:ln>
        </p:spPr>
        <p:txBody>
          <a:bodyPr lIns="0" tIns="0" rIns="0" bIns="0" anchor="t">
            <a:normAutofit fontScale="86041"/>
          </a:bodyPr>
          <a:lstStyle/>
          <a:p>
            <a:pPr algn="l">
              <a:lnSpc>
                <a:spcPct val="108000"/>
              </a:lnSpc>
              <a:buNone/>
              <a:defRPr sz="1238" b="0" i="0">
                <a:solidFill>
                  <a:srgbClr val="D9E2EC"/>
                </a:solidFill>
                <a:latin typeface="Arial"/>
                <a:ea typeface="Arial"/>
                <a:cs typeface="Arial"/>
              </a:defRPr>
            </a:pPr>
            <a:r>
              <a:rPr sz="1238" b="0" i="0">
                <a:solidFill>
                  <a:srgbClr val="D9E2EC"/>
                </a:solidFill>
                <a:latin typeface="Arial"/>
                <a:ea typeface="Arial"/>
                <a:cs typeface="Arial"/>
              </a:rPr>
              <a:t>A single global threshold can create large subgroup recall gaps, so reporting must be stratified.</a:t>
            </a:r>
          </a:p>
        </p:txBody>
      </p:sp>
      <p:sp>
        <p:nvSpPr>
          <p:cNvPr id="19" name="Straight Connector 18">
            <a:extLst>
              <a:ext uri="{FF2B5EF4-FFF2-40B4-BE49-F238E27FC236}">
                <a16:creationId xmlns:a16="http://schemas.microsoft.com/office/drawing/2014/main" id="{90287ACA-3F4D-4788-9A31-42887B38DACA}"/>
              </a:ext>
            </a:extLst>
          </p:cNvPr>
          <p:cNvSpPr>
            <a:spLocks noGrp="1"/>
          </p:cNvSpPr>
          <p:nvPr/>
        </p:nvSpPr>
        <p:spPr>
          <a:xfrm>
            <a:off x="1314450" y="4324350"/>
            <a:ext cx="9772650" cy="0"/>
          </a:xfrm>
          <a:prstGeom prst="line">
            <a:avLst/>
          </a:prstGeom>
          <a:noFill/>
          <a:ln w="9525">
            <a:solidFill>
              <a:srgbClr val="41627F"/>
            </a:solidFill>
            <a:prstDash val="solid"/>
          </a:ln>
        </p:spPr>
      </p:sp>
      <p:sp>
        <p:nvSpPr>
          <p:cNvPr id="20" name="Rectangle 19">
            <a:extLst>
              <a:ext uri="{FF2B5EF4-FFF2-40B4-BE49-F238E27FC236}">
                <a16:creationId xmlns:a16="http://schemas.microsoft.com/office/drawing/2014/main" id="{BF6FB37A-428A-4065-A025-72EDFC49A633}"/>
              </a:ext>
            </a:extLst>
          </p:cNvPr>
          <p:cNvSpPr>
            <a:spLocks noGrp="1"/>
          </p:cNvSpPr>
          <p:nvPr/>
        </p:nvSpPr>
        <p:spPr>
          <a:xfrm>
            <a:off x="685800" y="4495800"/>
            <a:ext cx="400050" cy="285750"/>
          </a:xfrm>
          <a:prstGeom prst="rect">
            <a:avLst/>
          </a:prstGeom>
          <a:noFill/>
          <a:ln w="0">
            <a:noFill/>
          </a:ln>
        </p:spPr>
        <p:txBody>
          <a:bodyPr lIns="0" tIns="0" rIns="0" bIns="0" anchor="t">
            <a:normAutofit/>
          </a:bodyPr>
          <a:lstStyle/>
          <a:p>
            <a:pPr algn="ctr">
              <a:lnSpc>
                <a:spcPct val="108000"/>
              </a:lnSpc>
              <a:buNone/>
              <a:defRPr sz="1725" b="1" i="0">
                <a:solidFill>
                  <a:srgbClr val="8FE3D9"/>
                </a:solidFill>
                <a:latin typeface="Arial"/>
                <a:ea typeface="Arial"/>
                <a:cs typeface="Arial"/>
              </a:defRPr>
            </a:pPr>
            <a:r>
              <a:rPr sz="1725" b="1" i="0">
                <a:solidFill>
                  <a:srgbClr val="8FE3D9"/>
                </a:solidFill>
                <a:latin typeface="Arial"/>
                <a:ea typeface="Arial"/>
                <a:cs typeface="Arial"/>
              </a:rPr>
              <a:t>5</a:t>
            </a:r>
          </a:p>
        </p:txBody>
      </p:sp>
      <p:sp>
        <p:nvSpPr>
          <p:cNvPr id="21" name="Rectangle 20">
            <a:extLst>
              <a:ext uri="{FF2B5EF4-FFF2-40B4-BE49-F238E27FC236}">
                <a16:creationId xmlns:a16="http://schemas.microsoft.com/office/drawing/2014/main" id="{C191547D-D0CB-49FA-8DCC-BD9214C8288A}"/>
              </a:ext>
            </a:extLst>
          </p:cNvPr>
          <p:cNvSpPr>
            <a:spLocks noGrp="1"/>
          </p:cNvSpPr>
          <p:nvPr/>
        </p:nvSpPr>
        <p:spPr>
          <a:xfrm>
            <a:off x="1314450" y="4495800"/>
            <a:ext cx="3381375" cy="238125"/>
          </a:xfrm>
          <a:prstGeom prst="rect">
            <a:avLst/>
          </a:prstGeom>
          <a:noFill/>
          <a:ln w="0">
            <a:noFill/>
          </a:ln>
        </p:spPr>
        <p:txBody>
          <a:bodyPr lIns="0" tIns="0" rIns="0" bIns="0" anchor="t">
            <a:normAutofit/>
          </a:bodyPr>
          <a:lstStyle/>
          <a:p>
            <a:pPr algn="l">
              <a:lnSpc>
                <a:spcPct val="108000"/>
              </a:lnSpc>
              <a:buNone/>
              <a:defRPr sz="1425" b="1" i="0">
                <a:solidFill>
                  <a:srgbClr val="FFFFFF"/>
                </a:solidFill>
                <a:latin typeface="Arial"/>
                <a:ea typeface="Arial"/>
                <a:cs typeface="Arial"/>
              </a:defRPr>
            </a:pPr>
            <a:r>
              <a:rPr sz="1425" b="1" i="0">
                <a:solidFill>
                  <a:srgbClr val="FFFFFF"/>
                </a:solidFill>
                <a:latin typeface="Arial"/>
                <a:ea typeface="Arial"/>
                <a:cs typeface="Arial"/>
              </a:rPr>
              <a:t>The cascade is a cautious interface.</a:t>
            </a:r>
          </a:p>
        </p:txBody>
      </p:sp>
      <p:sp>
        <p:nvSpPr>
          <p:cNvPr id="22" name="Rectangle 21">
            <a:extLst>
              <a:ext uri="{FF2B5EF4-FFF2-40B4-BE49-F238E27FC236}">
                <a16:creationId xmlns:a16="http://schemas.microsoft.com/office/drawing/2014/main" id="{756E0C8C-415C-491C-8E15-35E05296596E}"/>
              </a:ext>
            </a:extLst>
          </p:cNvPr>
          <p:cNvSpPr>
            <a:spLocks noGrp="1"/>
          </p:cNvSpPr>
          <p:nvPr/>
        </p:nvSpPr>
        <p:spPr>
          <a:xfrm>
            <a:off x="4895850" y="4514850"/>
            <a:ext cx="6191250" cy="238125"/>
          </a:xfrm>
          <a:prstGeom prst="rect">
            <a:avLst/>
          </a:prstGeom>
          <a:noFill/>
          <a:ln w="0">
            <a:noFill/>
          </a:ln>
        </p:spPr>
        <p:txBody>
          <a:bodyPr lIns="0" tIns="0" rIns="0" bIns="0" anchor="t">
            <a:normAutofit fontScale="78747" lnSpcReduction="10000"/>
          </a:bodyPr>
          <a:lstStyle/>
          <a:p>
            <a:pPr algn="l">
              <a:lnSpc>
                <a:spcPct val="108000"/>
              </a:lnSpc>
              <a:buNone/>
              <a:defRPr sz="1238" b="0" i="0">
                <a:solidFill>
                  <a:srgbClr val="D9E2EC"/>
                </a:solidFill>
                <a:latin typeface="Arial"/>
                <a:ea typeface="Arial"/>
                <a:cs typeface="Arial"/>
              </a:defRPr>
            </a:pPr>
            <a:r>
              <a:rPr sz="1238" b="0" i="0">
                <a:solidFill>
                  <a:srgbClr val="D9E2EC"/>
                </a:solidFill>
                <a:latin typeface="Arial"/>
                <a:ea typeface="Arial"/>
                <a:cs typeface="Arial"/>
              </a:rPr>
              <a:t>It exposes uncertainty, anomaly flags and drivers for human review rather than pretending to diagnose.</a:t>
            </a:r>
          </a:p>
        </p:txBody>
      </p:sp>
      <p:sp>
        <p:nvSpPr>
          <p:cNvPr id="23" name="Rectangle 22">
            <a:extLst>
              <a:ext uri="{FF2B5EF4-FFF2-40B4-BE49-F238E27FC236}">
                <a16:creationId xmlns:a16="http://schemas.microsoft.com/office/drawing/2014/main" id="{C8A9CE83-0D10-47EF-B098-0192E64EA61D}"/>
              </a:ext>
            </a:extLst>
          </p:cNvPr>
          <p:cNvSpPr>
            <a:spLocks noGrp="1"/>
          </p:cNvSpPr>
          <p:nvPr/>
        </p:nvSpPr>
        <p:spPr>
          <a:xfrm>
            <a:off x="685800" y="5391150"/>
            <a:ext cx="10820400" cy="19050"/>
          </a:xfrm>
          <a:prstGeom prst="rect">
            <a:avLst/>
          </a:prstGeom>
          <a:solidFill>
            <a:srgbClr val="0F766E"/>
          </a:solidFill>
          <a:ln w="0">
            <a:noFill/>
            <a:prstDash val="solid"/>
          </a:ln>
        </p:spPr>
      </p:sp>
      <p:sp>
        <p:nvSpPr>
          <p:cNvPr id="24" name="Rectangle 23">
            <a:extLst>
              <a:ext uri="{FF2B5EF4-FFF2-40B4-BE49-F238E27FC236}">
                <a16:creationId xmlns:a16="http://schemas.microsoft.com/office/drawing/2014/main" id="{66F87239-5CDB-4640-BE6F-C02B827A1ACC}"/>
              </a:ext>
            </a:extLst>
          </p:cNvPr>
          <p:cNvSpPr>
            <a:spLocks noGrp="1"/>
          </p:cNvSpPr>
          <p:nvPr/>
        </p:nvSpPr>
        <p:spPr>
          <a:xfrm>
            <a:off x="685800" y="5686425"/>
            <a:ext cx="2286000" cy="323850"/>
          </a:xfrm>
          <a:prstGeom prst="rect">
            <a:avLst/>
          </a:prstGeom>
          <a:noFill/>
          <a:ln w="0">
            <a:noFill/>
          </a:ln>
        </p:spPr>
        <p:txBody>
          <a:bodyPr lIns="0" tIns="0" rIns="0" bIns="0" anchor="t">
            <a:normAutofit/>
          </a:bodyPr>
          <a:lstStyle/>
          <a:p>
            <a:pPr algn="l">
              <a:lnSpc>
                <a:spcPct val="108000"/>
              </a:lnSpc>
              <a:buNone/>
              <a:defRPr sz="1725" b="1" i="0">
                <a:solidFill>
                  <a:srgbClr val="FFFFFF"/>
                </a:solidFill>
                <a:latin typeface="Arial"/>
                <a:ea typeface="Arial"/>
                <a:cs typeface="Arial"/>
              </a:defRPr>
            </a:pPr>
            <a:r>
              <a:rPr sz="1725" b="1" i="0">
                <a:solidFill>
                  <a:srgbClr val="FFFFFF"/>
                </a:solidFill>
                <a:latin typeface="Arial"/>
                <a:ea typeface="Arial"/>
                <a:cs typeface="Arial"/>
              </a:rPr>
              <a:t>Thank you</a:t>
            </a:r>
          </a:p>
        </p:txBody>
      </p:sp>
      <p:sp>
        <p:nvSpPr>
          <p:cNvPr id="25" name="Rectangle 24">
            <a:extLst>
              <a:ext uri="{FF2B5EF4-FFF2-40B4-BE49-F238E27FC236}">
                <a16:creationId xmlns:a16="http://schemas.microsoft.com/office/drawing/2014/main" id="{BEE72115-4CB1-48AD-9AEF-CD4062692291}"/>
              </a:ext>
            </a:extLst>
          </p:cNvPr>
          <p:cNvSpPr>
            <a:spLocks noGrp="1"/>
          </p:cNvSpPr>
          <p:nvPr/>
        </p:nvSpPr>
        <p:spPr>
          <a:xfrm>
            <a:off x="9525000" y="5686425"/>
            <a:ext cx="1981200" cy="323850"/>
          </a:xfrm>
          <a:prstGeom prst="rect">
            <a:avLst/>
          </a:prstGeom>
          <a:noFill/>
          <a:ln w="0">
            <a:noFill/>
          </a:ln>
        </p:spPr>
        <p:txBody>
          <a:bodyPr lIns="0" tIns="0" rIns="0" bIns="0" anchor="t">
            <a:normAutofit/>
          </a:bodyPr>
          <a:lstStyle/>
          <a:p>
            <a:pPr algn="r">
              <a:lnSpc>
                <a:spcPct val="108000"/>
              </a:lnSpc>
              <a:buNone/>
              <a:defRPr sz="1725" b="1" i="0">
                <a:solidFill>
                  <a:srgbClr val="8FE3D9"/>
                </a:solidFill>
                <a:latin typeface="Arial"/>
                <a:ea typeface="Arial"/>
                <a:cs typeface="Arial"/>
              </a:defRPr>
            </a:pPr>
            <a:r>
              <a:rPr sz="1725" b="1" i="0">
                <a:solidFill>
                  <a:srgbClr val="8FE3D9"/>
                </a:solidFill>
                <a:latin typeface="Arial"/>
                <a:ea typeface="Arial"/>
                <a:cs typeface="Arial"/>
              </a:rPr>
              <a:t>Questions?</a:t>
            </a:r>
          </a:p>
        </p:txBody>
      </p:sp>
      <p:sp>
        <p:nvSpPr>
          <p:cNvPr id="26" name="Rectangle 25">
            <a:extLst>
              <a:ext uri="{FF2B5EF4-FFF2-40B4-BE49-F238E27FC236}">
                <a16:creationId xmlns:a16="http://schemas.microsoft.com/office/drawing/2014/main" id="{DAA096C7-80F3-441D-9912-91530D9BD8B8}"/>
              </a:ext>
            </a:extLst>
          </p:cNvPr>
          <p:cNvSpPr>
            <a:spLocks noGrp="1"/>
          </p:cNvSpPr>
          <p:nvPr/>
        </p:nvSpPr>
        <p:spPr>
          <a:xfrm>
            <a:off x="685800" y="6143625"/>
            <a:ext cx="2857500" cy="190500"/>
          </a:xfrm>
          <a:prstGeom prst="rect">
            <a:avLst/>
          </a:prstGeom>
          <a:noFill/>
          <a:ln w="0">
            <a:noFill/>
          </a:ln>
        </p:spPr>
        <p:txBody>
          <a:bodyPr lIns="0" tIns="0" rIns="0" bIns="0" anchor="t">
            <a:normAutofit/>
          </a:bodyPr>
          <a:lstStyle/>
          <a:p>
            <a:pPr algn="l">
              <a:lnSpc>
                <a:spcPct val="108000"/>
              </a:lnSpc>
              <a:buNone/>
              <a:defRPr sz="975" b="0" i="0">
                <a:solidFill>
                  <a:srgbClr val="D9E2EC"/>
                </a:solidFill>
                <a:latin typeface="Arial"/>
                <a:ea typeface="Arial"/>
                <a:cs typeface="Arial"/>
              </a:defRPr>
            </a:pPr>
            <a:r>
              <a:rPr sz="975" b="0" i="0">
                <a:solidFill>
                  <a:srgbClr val="D9E2EC"/>
                </a:solidFill>
                <a:latin typeface="Arial"/>
                <a:ea typeface="Arial"/>
                <a:cs typeface="Arial"/>
              </a:rPr>
              <a:t>Farhan + Sakib</a:t>
            </a:r>
          </a:p>
        </p:txBody>
      </p:sp>
      <p:sp>
        <p:nvSpPr>
          <p:cNvPr id="27" name="Rectangle 26">
            <a:extLst>
              <a:ext uri="{FF2B5EF4-FFF2-40B4-BE49-F238E27FC236}">
                <a16:creationId xmlns:a16="http://schemas.microsoft.com/office/drawing/2014/main" id="{BD7E6FB5-9D6D-4FD6-B6F7-C54E868D220B}"/>
              </a:ext>
            </a:extLst>
          </p:cNvPr>
          <p:cNvSpPr>
            <a:spLocks noGrp="1"/>
          </p:cNvSpPr>
          <p:nvPr/>
        </p:nvSpPr>
        <p:spPr>
          <a:xfrm>
            <a:off x="10953750" y="342900"/>
            <a:ext cx="552450" cy="304800"/>
          </a:xfrm>
          <a:prstGeom prst="rect">
            <a:avLst/>
          </a:prstGeom>
          <a:noFill/>
          <a:ln w="0">
            <a:noFill/>
          </a:ln>
        </p:spPr>
        <p:txBody>
          <a:bodyPr lIns="0" tIns="0" rIns="0" bIns="0" anchor="t">
            <a:normAutofit/>
          </a:bodyPr>
          <a:lstStyle/>
          <a:p>
            <a:pPr algn="r">
              <a:lnSpc>
                <a:spcPct val="108000"/>
              </a:lnSpc>
              <a:buNone/>
              <a:defRPr sz="1200" b="1" i="0">
                <a:solidFill>
                  <a:srgbClr val="D9F0ED"/>
                </a:solidFill>
                <a:latin typeface="Arial"/>
                <a:ea typeface="Arial"/>
                <a:cs typeface="Arial"/>
              </a:defRPr>
            </a:pPr>
            <a:r>
              <a:rPr sz="1200" b="1" i="0">
                <a:solidFill>
                  <a:srgbClr val="D9F0ED"/>
                </a:solidFill>
                <a:latin typeface="Arial"/>
                <a:ea typeface="Arial"/>
                <a:cs typeface="Arial"/>
              </a:rPr>
              <a:t>20</a:t>
            </a:r>
          </a:p>
        </p:txBody>
      </p:sp>
    </p:spTree>
    <p:extLst>
      <p:ext uri="{BB962C8B-B14F-4D97-AF65-F5344CB8AC3E}">
        <p14:creationId xmlns:p14="http://schemas.microsoft.com/office/powerpoint/2010/main" val="40940704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4299</Words>
  <Application>Microsoft Office PowerPoint</Application>
  <DocSecurity>0</DocSecurity>
  <PresentationFormat>Widescreen</PresentationFormat>
  <Paragraphs>441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Bahnschrift</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Farhan</cp:lastModifiedBy>
  <cp:revision>7</cp:revision>
  <dcterms:created xsi:type="dcterms:W3CDTF">2026-09-05T14:03:33Z</dcterms:created>
  <dcterms:modified xsi:type="dcterms:W3CDTF">2026-09-05T15:23:20Z</dcterms:modified>
</cp:coreProperties>
</file>